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Lane-following baseline</c:v>
                </c:pt>
              </c:strCache>
            </c:strRef>
          </c:tx>
          <c:spPr>
            <a:solidFill>
              <a:srgbClr val="C2C7D0"/>
            </a:solidFill>
          </c:spPr>
          <c:cat>
            <c:strRef>
              <c:f>Sheet1!$A$2:$A$11</c:f>
              <c:strCache>
                <c:ptCount val="10"/>
                <c:pt idx="0">
                  <c:v>Village road</c:v>
                </c:pt>
                <c:pt idx="1">
                  <c:v>Unsignalled junction</c:v>
                </c:pt>
                <c:pt idx="2">
                  <c:v>School zone</c:v>
                </c:pt>
                <c:pt idx="3">
                  <c:v>Night, wrong-way</c:v>
                </c:pt>
                <c:pt idx="4">
                  <c:v>Narrow bridge</c:v>
                </c:pt>
                <c:pt idx="5">
                  <c:v>Dense market</c:v>
                </c:pt>
                <c:pt idx="6">
                  <c:v>Highway merge</c:v>
                </c:pt>
                <c:pt idx="7">
                  <c:v>Construction diversion</c:v>
                </c:pt>
                <c:pt idx="8">
                  <c:v>Cattle crossing</c:v>
                </c:pt>
                <c:pt idx="9">
                  <c:v>Bus stop overtake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30.42462885501141</c:v>
                </c:pt>
                <c:pt idx="1">
                  <c:v>41.03232336563147</c:v>
                </c:pt>
                <c:pt idx="2">
                  <c:v>27.32256551568924</c:v>
                </c:pt>
                <c:pt idx="3">
                  <c:v>51.64849766455851</c:v>
                </c:pt>
                <c:pt idx="4">
                  <c:v>61.08139844879897</c:v>
                </c:pt>
                <c:pt idx="5">
                  <c:v>12.956202031244807</c:v>
                </c:pt>
                <c:pt idx="6">
                  <c:v>32.982298094619054</c:v>
                </c:pt>
                <c:pt idx="7">
                  <c:v>21.550718027492987</c:v>
                </c:pt>
                <c:pt idx="8">
                  <c:v>46.66617812158735</c:v>
                </c:pt>
                <c:pt idx="9">
                  <c:v>36.77745889791015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SARATHI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Sheet1!$A$2:$A$11</c:f>
              <c:strCache>
                <c:ptCount val="10"/>
                <c:pt idx="0">
                  <c:v>Village road</c:v>
                </c:pt>
                <c:pt idx="1">
                  <c:v>Unsignalled junction</c:v>
                </c:pt>
                <c:pt idx="2">
                  <c:v>School zone</c:v>
                </c:pt>
                <c:pt idx="3">
                  <c:v>Night, wrong-way</c:v>
                </c:pt>
                <c:pt idx="4">
                  <c:v>Narrow bridge</c:v>
                </c:pt>
                <c:pt idx="5">
                  <c:v>Dense market</c:v>
                </c:pt>
                <c:pt idx="6">
                  <c:v>Highway merge</c:v>
                </c:pt>
                <c:pt idx="7">
                  <c:v>Construction diversion</c:v>
                </c:pt>
                <c:pt idx="8">
                  <c:v>Cattle crossing</c:v>
                </c:pt>
                <c:pt idx="9">
                  <c:v>Bus stop overtake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47.584246031856715</c:v>
                </c:pt>
                <c:pt idx="1">
                  <c:v>48.303544023388774</c:v>
                </c:pt>
                <c:pt idx="2">
                  <c:v>61.87819555755768</c:v>
                </c:pt>
                <c:pt idx="3">
                  <c:v>40.19564522784891</c:v>
                </c:pt>
                <c:pt idx="4">
                  <c:v>61.18398217802038</c:v>
                </c:pt>
                <c:pt idx="5">
                  <c:v>22.13778756800414</c:v>
                </c:pt>
                <c:pt idx="6">
                  <c:v>40.31519492378357</c:v>
                </c:pt>
                <c:pt idx="7">
                  <c:v>27.41344423393301</c:v>
                </c:pt>
                <c:pt idx="8">
                  <c:v>49.80022635486679</c:v>
                </c:pt>
                <c:pt idx="9">
                  <c:v>34.62641939797193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800">
                  <a:solidFill>
                    <a:srgbClr val="5A5A5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262626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>
          <c:spPr>
            <a:ln>
              <a:solidFill>
                <a:srgbClr val="E2E2E2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5A5A5A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SARATHI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0500" indent="-190500" algn="l">
              <a:spcAft>
                <a:spcPts val="400"/>
              </a:spcAft>
            </a:pPr>
            <a:r>
              <a:rPr sz="1700" b="1" i="0">
                <a:solidFill>
                  <a:srgbClr val="B03A2B"/>
                </a:solidFill>
                <a:latin typeface="Arial"/>
              </a:rPr>
              <a:t>Problem Statement ID – SIH26037</a:t>
            </a:r>
            <a:endParaRPr lang="en-US" dirty="0"/>
          </a:p>
          <a:p>
            <a:pPr marL="0" indent="0" algn="l">
              <a:spcAft>
                <a:spcPts val="400"/>
              </a:spcAft>
            </a:pPr>
            <a:r>
              <a:rPr sz="1700" b="0" i="0">
                <a:solidFill>
                  <a:srgbClr val="262626"/>
                </a:solidFill>
                <a:latin typeface="Arial"/>
              </a:rPr>
              <a:t>Problem Statement Title – Adaptive Path Planning and Collision Avoidance for Autonomous Vehicles on Unstructured Indian Roads</a:t>
            </a:r>
          </a:p>
          <a:p>
            <a:pPr marL="0" indent="0" algn="l">
              <a:spcAft>
                <a:spcPts val="400"/>
              </a:spcAft>
            </a:pPr>
            <a:r>
              <a:rPr sz="1700" b="0" i="0">
                <a:solidFill>
                  <a:srgbClr val="262626"/>
                </a:solidFill>
                <a:latin typeface="Arial"/>
              </a:rPr>
              <a:t>Theme – Robotics and Drones</a:t>
            </a:r>
          </a:p>
          <a:p>
            <a:pPr marL="0" indent="0" algn="l">
              <a:spcAft>
                <a:spcPts val="400"/>
              </a:spcAft>
            </a:pPr>
            <a:r>
              <a:rPr sz="1700" b="0" i="0">
                <a:solidFill>
                  <a:srgbClr val="262626"/>
                </a:solidFill>
                <a:latin typeface="Arial"/>
              </a:rPr>
              <a:t>PS Category – Software</a:t>
            </a:r>
          </a:p>
          <a:p>
            <a:pPr marL="0" indent="0" algn="l">
              <a:spcAft>
                <a:spcPts val="400"/>
              </a:spcAft>
            </a:pPr>
            <a:r>
              <a:rPr sz="1700" b="0" i="0">
                <a:solidFill>
                  <a:srgbClr val="262626"/>
                </a:solidFill>
                <a:latin typeface="Arial"/>
              </a:rPr>
              <a:t>Team ID – «TEAM ID»</a:t>
            </a:r>
          </a:p>
          <a:p>
            <a:pPr marL="0" indent="0" algn="l">
              <a:spcAft>
                <a:spcPts val="400"/>
              </a:spcAft>
            </a:pPr>
            <a:r>
              <a:rPr sz="1700" b="0" i="0">
                <a:solidFill>
                  <a:srgbClr val="262626"/>
                </a:solidFill>
                <a:latin typeface="Arial"/>
              </a:rPr>
              <a:t>Team Name (Registered on portal) – «TEAM NAME»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8" name="Picture 37" descr="fig-console-be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103120"/>
            <a:ext cx="4721723" cy="278892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446520" y="5074920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spcAft>
                <a:spcPts val="400"/>
              </a:spcAft>
            </a:pPr>
            <a:r>
              <a:rPr sz="1050" b="0" i="1">
                <a:solidFill>
                  <a:srgbClr val="5A5A5A"/>
                </a:solidFill>
                <a:latin typeface="Arial"/>
              </a:rPr>
              <a:t>The planner's own view: drivable corridor, risk field, and the trajectory it chose — computed live, twenty times a second.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r>
              <a:rPr lang="en-US" sz="29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SARATHI — PLANNING WITHOUT LANES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«TEAM NAME»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384048" y="1115568"/>
            <a:ext cx="56235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1F3864"/>
                </a:solidFill>
                <a:latin typeface="Arial"/>
              </a:rPr>
              <a:t>Proposed Solution</a:t>
            </a:r>
          </a:p>
          <a:p>
            <a:pPr marL="0" indent="0" algn="l">
              <a:spcAft>
                <a:spcPts val="400"/>
              </a:spcAft>
            </a:pPr>
            <a:r>
              <a:rPr sz="1250" b="0" i="0">
                <a:solidFill>
                  <a:srgbClr val="262626"/>
                </a:solidFill>
                <a:latin typeface="Arial"/>
              </a:rPr>
              <a:t>An Indian road has no lanes to follow — only free space that is negotiated, and that changes every second.</a:t>
            </a:r>
          </a:p>
          <a:p>
            <a:pPr marL="190500" indent="-190500" algn="l">
              <a:spcAft>
                <a:spcPts val="400"/>
              </a:spcAft>
            </a:pPr>
            <a:r>
              <a:rPr sz="1250" b="0" i="0">
                <a:solidFill>
                  <a:srgbClr val="262626"/>
                </a:solidFill>
                <a:latin typeface="Arial"/>
              </a:rPr>
              <a:t>• Lane centreline → drivable corridor, re-solved 20 times a second by a dynamic program through the free space ahead</a:t>
            </a:r>
          </a:p>
          <a:p>
            <a:pPr marL="190500" indent="-190500" algn="l">
              <a:spcAft>
                <a:spcPts val="400"/>
              </a:spcAft>
            </a:pPr>
            <a:r>
              <a:rPr sz="1250" b="0" i="0">
                <a:solidFill>
                  <a:srgbClr val="262626"/>
                </a:solidFill>
                <a:latin typeface="Arial"/>
              </a:rPr>
              <a:t>• Occupancy grid → Indian Driving Risk Field: continuous, class-conditioned, harm-weighted, indexed by time</a:t>
            </a:r>
          </a:p>
          <a:p>
            <a:pPr marL="190500" indent="-190500" algn="l">
              <a:spcAft>
                <a:spcPts val="400"/>
              </a:spcAft>
            </a:pPr>
            <a:r>
              <a:rPr sz="1250" b="0" i="0">
                <a:solidFill>
                  <a:srgbClr val="262626"/>
                </a:solidFill>
                <a:latin typeface="Arial"/>
              </a:rPr>
              <a:t>• Behaviour picked by an 8-state machine; the path itself by a jerk-minimal Frenet lattice scored in space and time</a:t>
            </a:r>
          </a:p>
          <a:p>
            <a:pPr marL="0" indent="0" algn="l">
              <a:spcBef>
                <a:spcPts val="900"/>
              </a:spcBef>
              <a:spcAft>
                <a:spcPts val="300"/>
              </a:spcAft>
            </a:pPr>
            <a:r>
              <a:rPr sz="1450" b="1" i="0">
                <a:solidFill>
                  <a:srgbClr val="1F3864"/>
                </a:solidFill>
                <a:latin typeface="Arial"/>
              </a:rPr>
              <a:t>How it addresses the problem</a:t>
            </a:r>
          </a:p>
          <a:p>
            <a:pPr marL="190500" indent="-190500" algn="l">
              <a:spcAft>
                <a:spcPts val="400"/>
              </a:spcAft>
            </a:pPr>
            <a:r>
              <a:rPr sz="1250" b="0" i="0">
                <a:solidFill>
                  <a:srgbClr val="262626"/>
                </a:solidFill>
                <a:latin typeface="Arial"/>
              </a:rPr>
              <a:t>• Lane markings are never read, so faded, absent or wrong markings need no special case and no mode switch</a:t>
            </a:r>
          </a:p>
          <a:p>
            <a:pPr marL="190500" indent="-190500" algn="l">
              <a:spcAft>
                <a:spcPts val="400"/>
              </a:spcAft>
            </a:pPr>
            <a:r>
              <a:rPr sz="1250" b="0" i="0">
                <a:solidFill>
                  <a:srgbClr val="262626"/>
                </a:solidFill>
                <a:latin typeface="Arial"/>
              </a:rPr>
              <a:t>• A pothole is a cost bowl, not a wall; the verge is drivable; a cow is a high-variance hazard rather than a box</a:t>
            </a:r>
          </a:p>
          <a:p>
            <a:pPr marL="0" indent="0" algn="l">
              <a:spcBef>
                <a:spcPts val="900"/>
              </a:spcBef>
              <a:spcAft>
                <a:spcPts val="300"/>
              </a:spcAft>
            </a:pPr>
            <a:r>
              <a:rPr sz="1450" b="1" i="0">
                <a:solidFill>
                  <a:srgbClr val="1F3864"/>
                </a:solidFill>
                <a:latin typeface="Arial"/>
              </a:rPr>
              <a:t>Innovation</a:t>
            </a:r>
          </a:p>
          <a:p>
            <a:pPr marL="190500" indent="-190500" algn="l">
              <a:spcAft>
                <a:spcPts val="400"/>
              </a:spcAft>
            </a:pPr>
            <a:r>
              <a:rPr sz="1250" b="0" i="0">
                <a:solidFill>
                  <a:srgbClr val="262626"/>
                </a:solidFill>
                <a:latin typeface="Arial"/>
              </a:rPr>
              <a:t>• Multi-modal intent per road user — cut in, filter, dart, ride the wrong way — each with covariance that grows with time</a:t>
            </a:r>
          </a:p>
          <a:p>
            <a:pPr marL="190500" indent="-190500" algn="l">
              <a:spcAft>
                <a:spcPts val="400"/>
              </a:spcAft>
            </a:pPr>
            <a:r>
              <a:rPr sz="1250" b="0" i="0">
                <a:solidFill>
                  <a:srgbClr val="262626"/>
                </a:solidFill>
                <a:latin typeface="Arial"/>
              </a:rPr>
              <a:t>• An RSS safety supervisor recalibrated to Indian gap acceptance; it is monotone by construction, so it can only ever slow us down</a:t>
            </a:r>
          </a:p>
        </p:txBody>
      </p:sp>
      <p:pic>
        <p:nvPicPr>
          <p:cNvPr id="15363" name="Picture 15362" descr="fig-night-be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188720"/>
            <a:ext cx="5433956" cy="2468880"/>
          </a:xfrm>
          <a:prstGeom prst="rect">
            <a:avLst/>
          </a:prstGeom>
        </p:spPr>
      </p:pic>
      <p:sp>
        <p:nvSpPr>
          <p:cNvPr id="15364" name="TextBox 15363"/>
          <p:cNvSpPr txBox="1"/>
          <p:nvPr/>
        </p:nvSpPr>
        <p:spPr>
          <a:xfrm>
            <a:off x="6263640" y="3767328"/>
            <a:ext cx="5532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spcAft>
                <a:spcPts val="400"/>
              </a:spcAft>
            </a:pPr>
            <a:r>
              <a:rPr sz="1050" b="0" i="1">
                <a:solidFill>
                  <a:srgbClr val="5A5A5A"/>
                </a:solidFill>
                <a:latin typeface="Arial"/>
              </a:rPr>
              <a:t>Night, degraded sensing, a rider coming the wrong way: risk field in red, its predicted path in blue, our chosen line in amber.</a:t>
            </a:r>
          </a:p>
        </p:txBody>
      </p:sp>
      <p:graphicFrame>
        <p:nvGraphicFramePr>
          <p:cNvPr id="15365" name="Table 15364"/>
          <p:cNvGraphicFramePr>
            <a:graphicFrameLocks noGrp="1"/>
          </p:cNvGraphicFramePr>
          <p:nvPr/>
        </p:nvGraphicFramePr>
        <p:xfrm>
          <a:off x="6263640" y="4224528"/>
          <a:ext cx="5532119" cy="19202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44775"/>
                <a:gridCol w="2987344"/>
              </a:tblGrid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A conventional stack uses</a:t>
                      </a:r>
                    </a:p>
                  </a:txBody>
                  <a:tcPr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SARATHI uses instead</a:t>
                      </a:r>
                    </a:p>
                  </a:txBody>
                  <a:tcPr marL="73152" marR="73152" marT="27432" marB="27432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5A5A5A"/>
                          </a:solidFill>
                          <a:latin typeface="Arial"/>
                        </a:rPr>
                        <a:t>Lane centreline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3864"/>
                          </a:solidFill>
                          <a:latin typeface="Arial"/>
                        </a:rPr>
                        <a:t>Drivable corridor, re-solved each tick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5A5A5A"/>
                          </a:solidFill>
                          <a:latin typeface="Arial"/>
                        </a:rPr>
                        <a:t>Occupancy grid</a:t>
                      </a:r>
                    </a:p>
                  </a:txBody>
                  <a:tcPr marL="73152" marR="73152" marT="27432" marB="27432">
                    <a:solidFill>
                      <a:srgbClr val="ECEF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3864"/>
                          </a:solidFill>
                          <a:latin typeface="Arial"/>
                        </a:rPr>
                        <a:t>Class- and harm-weighted risk field</a:t>
                      </a:r>
                    </a:p>
                  </a:txBody>
                  <a:tcPr marL="73152" marR="73152" marT="27432" marB="27432">
                    <a:solidFill>
                      <a:srgbClr val="ECEF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5A5A5A"/>
                          </a:solidFill>
                          <a:latin typeface="Arial"/>
                        </a:rPr>
                        <a:t>One predicted path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3864"/>
                          </a:solidFill>
                          <a:latin typeface="Arial"/>
                        </a:rPr>
                        <a:t>Multi-modal intent per road user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5A5A5A"/>
                          </a:solidFill>
                          <a:latin typeface="Arial"/>
                        </a:rPr>
                        <a:t>Lane-change logic</a:t>
                      </a:r>
                    </a:p>
                  </a:txBody>
                  <a:tcPr marL="73152" marR="73152" marT="27432" marB="27432">
                    <a:solidFill>
                      <a:srgbClr val="ECEF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3864"/>
                          </a:solidFill>
                          <a:latin typeface="Arial"/>
                        </a:rPr>
                        <a:t>8 behaviours, wrong-way evade included</a:t>
                      </a:r>
                    </a:p>
                  </a:txBody>
                  <a:tcPr marL="73152" marR="73152" marT="27432" marB="27432">
                    <a:solidFill>
                      <a:srgbClr val="ECEF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«TEAM NAME»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Chevron 17409"/>
          <p:cNvSpPr/>
          <p:nvPr/>
        </p:nvSpPr>
        <p:spPr>
          <a:xfrm>
            <a:off x="384048" y="1042415"/>
            <a:ext cx="1508417" cy="420624"/>
          </a:xfrm>
          <a:prstGeom prst="chevron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SENSE</a:t>
            </a:r>
          </a:p>
        </p:txBody>
      </p:sp>
      <p:sp>
        <p:nvSpPr>
          <p:cNvPr id="17411" name="Chevron 17410"/>
          <p:cNvSpPr/>
          <p:nvPr/>
        </p:nvSpPr>
        <p:spPr>
          <a:xfrm>
            <a:off x="1807082" y="1042415"/>
            <a:ext cx="1508417" cy="420624"/>
          </a:xfrm>
          <a:prstGeom prst="chevron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FUSE</a:t>
            </a:r>
          </a:p>
        </p:txBody>
      </p:sp>
      <p:sp>
        <p:nvSpPr>
          <p:cNvPr id="17412" name="Chevron 17411"/>
          <p:cNvSpPr/>
          <p:nvPr/>
        </p:nvSpPr>
        <p:spPr>
          <a:xfrm>
            <a:off x="3230118" y="1042415"/>
            <a:ext cx="1508417" cy="420624"/>
          </a:xfrm>
          <a:prstGeom prst="chevron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PREDICT</a:t>
            </a:r>
          </a:p>
        </p:txBody>
      </p:sp>
      <p:sp>
        <p:nvSpPr>
          <p:cNvPr id="17413" name="Chevron 17412"/>
          <p:cNvSpPr/>
          <p:nvPr/>
        </p:nvSpPr>
        <p:spPr>
          <a:xfrm>
            <a:off x="4653152" y="1042415"/>
            <a:ext cx="1508417" cy="420624"/>
          </a:xfrm>
          <a:prstGeom prst="chevron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RISK FIELD</a:t>
            </a:r>
          </a:p>
        </p:txBody>
      </p:sp>
      <p:sp>
        <p:nvSpPr>
          <p:cNvPr id="17414" name="Chevron 17413"/>
          <p:cNvSpPr/>
          <p:nvPr/>
        </p:nvSpPr>
        <p:spPr>
          <a:xfrm>
            <a:off x="6076188" y="1042415"/>
            <a:ext cx="1508417" cy="420624"/>
          </a:xfrm>
          <a:prstGeom prst="chevron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CORRIDOR</a:t>
            </a:r>
          </a:p>
        </p:txBody>
      </p:sp>
      <p:sp>
        <p:nvSpPr>
          <p:cNvPr id="17415" name="Chevron 17414"/>
          <p:cNvSpPr/>
          <p:nvPr/>
        </p:nvSpPr>
        <p:spPr>
          <a:xfrm>
            <a:off x="7499223" y="1042415"/>
            <a:ext cx="1508417" cy="420624"/>
          </a:xfrm>
          <a:prstGeom prst="chevron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BEHAVIOUR</a:t>
            </a:r>
          </a:p>
        </p:txBody>
      </p:sp>
      <p:sp>
        <p:nvSpPr>
          <p:cNvPr id="17416" name="Chevron 17415"/>
          <p:cNvSpPr/>
          <p:nvPr/>
        </p:nvSpPr>
        <p:spPr>
          <a:xfrm>
            <a:off x="8922257" y="1042415"/>
            <a:ext cx="1508417" cy="420624"/>
          </a:xfrm>
          <a:prstGeom prst="chevron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LATTICE</a:t>
            </a:r>
          </a:p>
        </p:txBody>
      </p:sp>
      <p:sp>
        <p:nvSpPr>
          <p:cNvPr id="17417" name="Chevron 17416"/>
          <p:cNvSpPr/>
          <p:nvPr/>
        </p:nvSpPr>
        <p:spPr>
          <a:xfrm>
            <a:off x="10345292" y="1042415"/>
            <a:ext cx="1508417" cy="420624"/>
          </a:xfrm>
          <a:prstGeom prst="chevron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RSS + CBF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384048" y="1645920"/>
            <a:ext cx="55321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F3864"/>
                </a:solidFill>
                <a:latin typeface="Arial"/>
              </a:rPr>
              <a:t>Technologies</a:t>
            </a:r>
          </a:p>
          <a:p>
            <a:pPr marL="190500" indent="-190500" algn="l"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Arial"/>
              </a:rPr>
              <a:t>• MATLAB, Simulink, Stateflow — the behaviour machine maps 1:1 onto Stateflow states</a:t>
            </a:r>
          </a:p>
          <a:p>
            <a:pPr marL="190500" indent="-190500" algn="l"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Arial"/>
              </a:rPr>
              <a:t>• Automated Driving Toolbox, Navigation Toolbox and RoadRunner where licensed; the stack runs without them</a:t>
            </a:r>
          </a:p>
          <a:p>
            <a:pPr marL="190500" indent="-190500" algn="l"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Arial"/>
              </a:rPr>
              <a:t>• Python 3.11, NumPy, SciPy — reference implementation and live demo</a:t>
            </a:r>
          </a:p>
          <a:p>
            <a:pPr marL="190500" indent="-190500" algn="l"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Arial"/>
              </a:rPr>
              <a:t>• India Driving Dataset (IIIT Hyderabad) for the class taxonomy</a:t>
            </a:r>
          </a:p>
          <a:p>
            <a:pPr marL="0" indent="0" algn="l">
              <a:spcBef>
                <a:spcPts val="900"/>
              </a:spcBef>
              <a:spcAft>
                <a:spcPts val="300"/>
              </a:spcAft>
            </a:pPr>
            <a:r>
              <a:rPr sz="1400" b="1" i="0">
                <a:solidFill>
                  <a:srgbClr val="1F3864"/>
                </a:solidFill>
                <a:latin typeface="Arial"/>
              </a:rPr>
              <a:t>Methodology</a:t>
            </a:r>
          </a:p>
          <a:p>
            <a:pPr marL="190500" indent="-190500" algn="l"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Arial"/>
              </a:rPr>
              <a:t>• Sense — camera, LiDAR and radar with occlusion, dropout and class confusion. The planner never sees ground truth.</a:t>
            </a:r>
          </a:p>
          <a:p>
            <a:pPr marL="190500" indent="-190500" algn="l"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Arial"/>
              </a:rPr>
              <a:t>• Fuse — constant-velocity Kalman tracks; class fused in log-odds</a:t>
            </a:r>
          </a:p>
          <a:p>
            <a:pPr marL="190500" indent="-190500" algn="l"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Arial"/>
              </a:rPr>
              <a:t>• Predict — a manoeuvre distribution per agent, conditioned on class</a:t>
            </a:r>
          </a:p>
          <a:p>
            <a:pPr marL="190500" indent="-190500" algn="l"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Arial"/>
              </a:rPr>
              <a:t>• Risk field — anisotropic kernels sized by footprint and uncertainty</a:t>
            </a:r>
          </a:p>
          <a:p>
            <a:pPr marL="190500" indent="-190500" algn="l"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Arial"/>
              </a:rPr>
              <a:t>• Plan — corridor DP, then behaviour, then a jerk-minimal lattice</a:t>
            </a:r>
          </a:p>
          <a:p>
            <a:pPr marL="190500" indent="-190500" algn="l"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Arial"/>
              </a:rPr>
              <a:t>• Assure — RSS-India inverted in closed form, plus a barrier speed cap</a:t>
            </a:r>
          </a:p>
          <a:p>
            <a:pPr marL="190500" indent="-190500" algn="l">
              <a:spcAft>
                <a:spcPts val="400"/>
              </a:spcAft>
            </a:pPr>
            <a:r>
              <a:rPr sz="1200" b="1" i="0">
                <a:solidFill>
                  <a:srgbClr val="B03A2B"/>
                </a:solidFill>
                <a:latin typeface="Arial"/>
              </a:rPr>
              <a:t>One scenario file drives both the Python and the MATLAB runtime</a:t>
            </a:r>
          </a:p>
        </p:txBody>
      </p:sp>
      <p:pic>
        <p:nvPicPr>
          <p:cNvPr id="17419" name="Picture 17418" descr="fig-conso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1645920"/>
            <a:ext cx="5296204" cy="3310128"/>
          </a:xfrm>
          <a:prstGeom prst="rect">
            <a:avLst/>
          </a:prstGeom>
        </p:spPr>
      </p:pic>
      <p:sp>
        <p:nvSpPr>
          <p:cNvPr id="17420" name="TextBox 17419"/>
          <p:cNvSpPr txBox="1"/>
          <p:nvPr/>
        </p:nvSpPr>
        <p:spPr>
          <a:xfrm>
            <a:off x="6144768" y="5047488"/>
            <a:ext cx="5623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spcAft>
                <a:spcPts val="400"/>
              </a:spcAft>
            </a:pPr>
            <a:r>
              <a:rPr sz="1050" b="0" i="1">
                <a:solidFill>
                  <a:srgbClr val="5A5A5A"/>
                </a:solidFill>
                <a:latin typeface="Arial"/>
              </a:rPr>
              <a:t>Mission Control — every value on screen is computed live, not replayed.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6144768" y="5440680"/>
            <a:ext cx="1773936" cy="713232"/>
          </a:xfrm>
          <a:prstGeom prst="roundRect">
            <a:avLst>
              <a:gd name="adj" fmla="val 10000"/>
            </a:avLst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2600" b="1">
                <a:solidFill>
                  <a:srgbClr val="1F3864"/>
                </a:solidFill>
                <a:latin typeface="Arial"/>
              </a:rPr>
              <a:t>20 Hz</a:t>
            </a:r>
          </a:p>
          <a:p>
            <a:pPr algn="ctr">
              <a:spcBef>
                <a:spcPts val="100"/>
              </a:spcBef>
            </a:pPr>
            <a:r>
              <a:rPr sz="1050">
                <a:solidFill>
                  <a:srgbClr val="5A5A5A"/>
                </a:solidFill>
                <a:latin typeface="Arial"/>
              </a:rPr>
              <a:t>closed loop, no GPU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8074152" y="5440680"/>
            <a:ext cx="1773936" cy="713232"/>
          </a:xfrm>
          <a:prstGeom prst="roundRect">
            <a:avLst>
              <a:gd name="adj" fmla="val 10000"/>
            </a:avLst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2600" b="1">
                <a:solidFill>
                  <a:srgbClr val="1F3864"/>
                </a:solidFill>
                <a:latin typeface="Arial"/>
              </a:rPr>
              <a:t>46 ms</a:t>
            </a:r>
          </a:p>
          <a:p>
            <a:pPr algn="ctr">
              <a:spcBef>
                <a:spcPts val="100"/>
              </a:spcBef>
            </a:pPr>
            <a:r>
              <a:rPr sz="1050">
                <a:solidFill>
                  <a:srgbClr val="5A5A5A"/>
                </a:solidFill>
                <a:latin typeface="Arial"/>
              </a:rPr>
              <a:t>median 95th %ile replan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9994392" y="5440680"/>
            <a:ext cx="1773936" cy="713232"/>
          </a:xfrm>
          <a:prstGeom prst="roundRect">
            <a:avLst>
              <a:gd name="adj" fmla="val 10000"/>
            </a:avLst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2600" b="1">
                <a:solidFill>
                  <a:srgbClr val="1F3864"/>
                </a:solidFill>
                <a:latin typeface="Arial"/>
              </a:rPr>
              <a:t>12</a:t>
            </a:r>
          </a:p>
          <a:p>
            <a:pPr algn="ctr">
              <a:spcBef>
                <a:spcPts val="100"/>
              </a:spcBef>
            </a:pPr>
            <a:r>
              <a:rPr sz="1050">
                <a:solidFill>
                  <a:srgbClr val="5A5A5A"/>
                </a:solidFill>
                <a:latin typeface="Arial"/>
              </a:rPr>
              <a:t>road-user classes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«TEAM NAME»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84048" y="1078992"/>
            <a:ext cx="50749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F3864"/>
                </a:solidFill>
                <a:latin typeface="Arial"/>
              </a:rPr>
              <a:t>Feasibility — it already runs</a:t>
            </a:r>
          </a:p>
          <a:p>
            <a:pPr marL="190500" indent="-190500" algn="l"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Arial"/>
              </a:rPr>
              <a:t>• One command from a clean clone: uv run sarathi serve</a:t>
            </a:r>
          </a:p>
          <a:p>
            <a:pPr marL="190500" indent="-190500" algn="l"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Arial"/>
              </a:rPr>
              <a:t>• 10 scenarios — the five the problem statement names, plus five harder ones we added</a:t>
            </a:r>
          </a:p>
          <a:p>
            <a:pPr marL="190500" indent="-190500" algn="l"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Arial"/>
              </a:rPr>
              <a:t>• Automated tests, including behavioural regressions, run in CI</a:t>
            </a:r>
          </a:p>
          <a:p>
            <a:pPr marL="190500" indent="-190500" algn="l"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Arial"/>
              </a:rPr>
              <a:t>• 20 Hz closed loop on an ordinary laptop; no GPU, no cloud</a:t>
            </a:r>
          </a:p>
          <a:p>
            <a:pPr marL="0" indent="0" algn="l">
              <a:spcBef>
                <a:spcPts val="900"/>
              </a:spcBef>
              <a:spcAft>
                <a:spcPts val="300"/>
              </a:spcAft>
            </a:pPr>
            <a:r>
              <a:rPr sz="1400" b="1" i="0">
                <a:solidFill>
                  <a:srgbClr val="1F3864"/>
                </a:solidFill>
                <a:latin typeface="Arial"/>
              </a:rPr>
              <a:t>Viability</a:t>
            </a:r>
          </a:p>
          <a:p>
            <a:pPr marL="190500" indent="-190500" algn="l"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Arial"/>
              </a:rPr>
              <a:t>• Built on the sponsor's own toolchain, and reproducible: every number on this slide comes out of a committed script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84048" y="4041648"/>
            <a:ext cx="5074920" cy="2176272"/>
          </a:xfrm>
          <a:prstGeom prst="roundRect">
            <a:avLst>
              <a:gd name="adj" fmla="val 6000"/>
            </a:avLst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 marL="0" indent="0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F3864"/>
                </a:solidFill>
                <a:latin typeface="Arial"/>
              </a:rPr>
              <a:t>What is still wrong</a:t>
            </a:r>
          </a:p>
          <a:p>
            <a:pPr marL="0" indent="0" algn="l">
              <a:spcAft>
                <a:spcPts val="400"/>
              </a:spcAft>
            </a:pPr>
            <a:r>
              <a:rPr sz="1150" b="0" i="0">
                <a:solidFill>
                  <a:srgbClr val="262626"/>
                </a:solidFill>
                <a:latin typeface="Arial"/>
              </a:rPr>
              <a:t>5 of 30 runs end in contact; in 3 of those we were stationary and were struck. The rest are ours to fix.</a:t>
            </a:r>
          </a:p>
          <a:p>
            <a:pPr marL="0" indent="0" algn="l">
              <a:spcBef>
                <a:spcPts val="900"/>
              </a:spcBef>
              <a:spcAft>
                <a:spcPts val="300"/>
              </a:spcAft>
            </a:pPr>
            <a:r>
              <a:rPr sz="1350" b="1" i="0">
                <a:solidFill>
                  <a:srgbClr val="1F3864"/>
                </a:solidFill>
                <a:latin typeface="Arial"/>
              </a:rPr>
              <a:t>Challenges, and what we do about them</a:t>
            </a:r>
          </a:p>
          <a:p>
            <a:pPr marL="466725" indent="-190500" algn="l">
              <a:spcAft>
                <a:spcPts val="200"/>
              </a:spcAft>
            </a:pPr>
            <a:r>
              <a:rPr sz="1150" b="0" i="0">
                <a:solidFill>
                  <a:srgbClr val="262626"/>
                </a:solidFill>
                <a:latin typeface="Arial"/>
              </a:rPr>
              <a:t>— Caution in dense traffic — measured every run, and every threshold is exposed live so behaviour can be tuned and defended</a:t>
            </a:r>
          </a:p>
          <a:p>
            <a:pPr marL="466725" indent="-190500" algn="l">
              <a:spcAft>
                <a:spcPts val="200"/>
              </a:spcAft>
            </a:pPr>
            <a:r>
              <a:rPr sz="1150" b="0" i="0">
                <a:solidFill>
                  <a:srgbClr val="262626"/>
                </a:solidFill>
                <a:latin typeface="Arial"/>
              </a:rPr>
              <a:t>— Real-world perception — grounded in IDD rather than assumed</a:t>
            </a:r>
          </a:p>
          <a:p>
            <a:pPr marL="466725" indent="-190500" algn="l">
              <a:spcAft>
                <a:spcPts val="200"/>
              </a:spcAft>
            </a:pPr>
            <a:r>
              <a:rPr sz="1150" b="0" i="0">
                <a:solidFill>
                  <a:srgbClr val="262626"/>
                </a:solidFill>
                <a:latin typeface="Arial"/>
              </a:rPr>
              <a:t>— RoadRunner licensing — a two-tier MATLAB design, so the deliverable is never blocked on a licence</a:t>
            </a:r>
          </a:p>
        </p:txBody>
      </p:sp>
      <p:graphicFrame>
        <p:nvGraphicFramePr>
          <p:cNvPr id="17412" name="Chart 17411"/>
          <p:cNvGraphicFramePr>
            <a:graphicFrameLocks noGrp="1"/>
          </p:cNvGraphicFramePr>
          <p:nvPr/>
        </p:nvGraphicFramePr>
        <p:xfrm>
          <a:off x="5623560" y="1042415"/>
          <a:ext cx="6172200" cy="41605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413" name="TextBox 17412"/>
          <p:cNvSpPr txBox="1"/>
          <p:nvPr/>
        </p:nvSpPr>
        <p:spPr>
          <a:xfrm>
            <a:off x="5669280" y="5230368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spcAft>
                <a:spcPts val="400"/>
              </a:spcAft>
            </a:pPr>
            <a:r>
              <a:rPr sz="1050" b="0" i="1">
                <a:solidFill>
                  <a:srgbClr val="5A5A5A"/>
                </a:solidFill>
                <a:latin typeface="Arial"/>
              </a:rPr>
              <a:t>Mean route progress. 3 seeds × 10 scenarios per controller, identical seeds and identical sensor noise.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623560" y="5504688"/>
            <a:ext cx="1965960" cy="749808"/>
          </a:xfrm>
          <a:prstGeom prst="roundRect">
            <a:avLst>
              <a:gd name="adj" fmla="val 10000"/>
            </a:avLst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2400" b="1">
                <a:solidFill>
                  <a:srgbClr val="1F3864"/>
                </a:solidFill>
                <a:latin typeface="Arial"/>
              </a:rPr>
              <a:t>25/30</a:t>
            </a:r>
          </a:p>
          <a:p>
            <a:pPr algn="ctr">
              <a:spcBef>
                <a:spcPts val="100"/>
              </a:spcBef>
            </a:pPr>
            <a:r>
              <a:rPr sz="1050">
                <a:solidFill>
                  <a:srgbClr val="5A5A5A"/>
                </a:solidFill>
                <a:latin typeface="Arial"/>
              </a:rPr>
              <a:t>runs collision-free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7726679" y="5504688"/>
            <a:ext cx="1965960" cy="749808"/>
          </a:xfrm>
          <a:prstGeom prst="roundRect">
            <a:avLst>
              <a:gd name="adj" fmla="val 10000"/>
            </a:avLst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2400" b="1">
                <a:solidFill>
                  <a:srgbClr val="1F3864"/>
                </a:solidFill>
                <a:latin typeface="Arial"/>
              </a:rPr>
              <a:t>43%</a:t>
            </a:r>
          </a:p>
          <a:p>
            <a:pPr algn="ctr">
              <a:spcBef>
                <a:spcPts val="100"/>
              </a:spcBef>
            </a:pPr>
            <a:r>
              <a:rPr sz="1050">
                <a:solidFill>
                  <a:srgbClr val="5A5A5A"/>
                </a:solidFill>
                <a:latin typeface="Arial"/>
              </a:rPr>
              <a:t>route progress; baseline 36%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9829800" y="5504688"/>
            <a:ext cx="1965960" cy="749808"/>
          </a:xfrm>
          <a:prstGeom prst="roundRect">
            <a:avLst>
              <a:gd name="adj" fmla="val 10000"/>
            </a:avLst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2400" b="1">
                <a:solidFill>
                  <a:srgbClr val="1F3864"/>
                </a:solidFill>
                <a:latin typeface="Arial"/>
              </a:rPr>
              <a:t>46 ms</a:t>
            </a:r>
          </a:p>
          <a:p>
            <a:pPr algn="ctr">
              <a:spcBef>
                <a:spcPts val="100"/>
              </a:spcBef>
            </a:pPr>
            <a:r>
              <a:rPr sz="1050">
                <a:solidFill>
                  <a:srgbClr val="5A5A5A"/>
                </a:solidFill>
                <a:latin typeface="Arial"/>
              </a:rPr>
              <a:t>median replan; 8/10 under 50 ms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«TEAM NAME»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84048" y="1051560"/>
            <a:ext cx="5532120" cy="960120"/>
          </a:xfrm>
          <a:prstGeom prst="roundRect">
            <a:avLst>
              <a:gd name="adj" fmla="val 10000"/>
            </a:avLst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3400" b="1">
                <a:solidFill>
                  <a:srgbClr val="1F3864"/>
                </a:solidFill>
                <a:latin typeface="Arial"/>
              </a:rPr>
              <a:t>1,77,175</a:t>
            </a:r>
          </a:p>
          <a:p>
            <a:pPr algn="ctr">
              <a:spcBef>
                <a:spcPts val="100"/>
              </a:spcBef>
            </a:pPr>
            <a:r>
              <a:rPr sz="1100">
                <a:solidFill>
                  <a:srgbClr val="5A5A5A"/>
                </a:solidFill>
                <a:latin typeface="Arial"/>
              </a:rPr>
              <a:t>road deaths in India in 2024 — about 485 every day (MoRTH)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384048" y="2148840"/>
            <a:ext cx="55321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F3864"/>
                </a:solidFill>
                <a:latin typeface="Arial"/>
              </a:rPr>
              <a:t>Potential impact</a:t>
            </a:r>
          </a:p>
          <a:p>
            <a:pPr marL="190500" indent="-190500" algn="l"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Arial"/>
              </a:rPr>
              <a:t>• Most of that toll falls on two-wheeler riders and pedestrians — exactly the road users this planner treats as first-class</a:t>
            </a:r>
          </a:p>
          <a:p>
            <a:pPr marL="190500" indent="-190500" algn="l"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Arial"/>
              </a:rPr>
              <a:t>• Autonomy built on Western assumptions does not transfer. A planner that needs lane markings cannot even be validated here.</a:t>
            </a:r>
          </a:p>
          <a:p>
            <a:pPr marL="0" indent="0" algn="l">
              <a:spcBef>
                <a:spcPts val="900"/>
              </a:spcBef>
              <a:spcAft>
                <a:spcPts val="300"/>
              </a:spcAft>
            </a:pPr>
            <a:r>
              <a:rPr sz="1400" b="1" i="0">
                <a:solidFill>
                  <a:srgbClr val="1F3864"/>
                </a:solidFill>
                <a:latin typeface="Arial"/>
              </a:rPr>
              <a:t>Who benefits</a:t>
            </a:r>
          </a:p>
          <a:p>
            <a:pPr marL="190500" indent="-190500" algn="l"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Arial"/>
              </a:rPr>
              <a:t>• Researchers — an Indian-conditions scenario library, and a traffic model that reproduces filtering, wrong-way riding and cattle</a:t>
            </a:r>
          </a:p>
          <a:p>
            <a:pPr marL="190500" indent="-190500" algn="l"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Arial"/>
              </a:rPr>
              <a:t>• Industry — a planner that degrades gracefully instead of disengaging when the road stops being tidy</a:t>
            </a:r>
          </a:p>
          <a:p>
            <a:pPr marL="190500" indent="-190500" algn="l"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Arial"/>
              </a:rPr>
              <a:t>• Regulators and cities — safety margins that are measurable, reproducible and arguable, not a vendor's assertion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84048" y="4572000"/>
            <a:ext cx="5532120" cy="1600200"/>
          </a:xfrm>
          <a:prstGeom prst="roundRect">
            <a:avLst>
              <a:gd name="adj" fmla="val 6000"/>
            </a:avLst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 marL="0" indent="0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What we can claim today, and no more</a:t>
            </a:r>
          </a:p>
          <a:p>
            <a:pPr marL="0" indent="0" algn="l">
              <a:spcAft>
                <a:spcPts val="400"/>
              </a:spcAft>
            </a:pPr>
            <a:r>
              <a:rPr sz="1100" b="0" i="0">
                <a:solidFill>
                  <a:srgbClr val="262626"/>
                </a:solidFill>
                <a:latin typeface="Arial"/>
              </a:rPr>
              <a:t>On identical seeds the vehicle covers 43% of the route where a lane-following planner covers 36%, and it does so without lane markings at all.</a:t>
            </a:r>
          </a:p>
          <a:p>
            <a:pPr marL="0" indent="0" algn="l">
              <a:spcAft>
                <a:spcPts val="400"/>
              </a:spcAft>
            </a:pPr>
            <a:r>
              <a:rPr sz="1100" b="0" i="0">
                <a:solidFill>
                  <a:srgbClr val="262626"/>
                </a:solidFill>
                <a:latin typeface="Arial"/>
              </a:rPr>
              <a:t>The scenario library and the measurements are as much of the contribution as the planner: anyone can re-run them.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6172200" y="1051560"/>
            <a:ext cx="56235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F3864"/>
                </a:solidFill>
                <a:latin typeface="Arial"/>
              </a:rPr>
              <a:t>Benefits of the solution</a:t>
            </a:r>
          </a:p>
          <a:p>
            <a:pPr marL="190500" indent="-190500" algn="l"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Arial"/>
              </a:rPr>
              <a:t>• Social — the risk field is explicitly harm-weighted, so a pedestrian costs the planner more than sheet metal does</a:t>
            </a:r>
          </a:p>
          <a:p>
            <a:pPr marL="190500" indent="-190500" algn="l"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Arial"/>
              </a:rPr>
              <a:t>• Economic — validation in simulation instead of on public roads; the whole stack runs on a laptop</a:t>
            </a:r>
          </a:p>
          <a:p>
            <a:pPr marL="190500" indent="-190500" algn="l"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Arial"/>
              </a:rPr>
              <a:t>• Environmental — smoother speed profiles and fewer emergency stops than the lane-based baseline on the same scenarios</a:t>
            </a:r>
          </a:p>
          <a:p>
            <a:pPr marL="190500" indent="-190500" algn="l"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Arial"/>
              </a:rPr>
              <a:t>• Educational — every threshold is exposed and adjustable, so the system can be interrogated rather than trusted</a:t>
            </a:r>
          </a:p>
        </p:txBody>
      </p:sp>
      <p:pic>
        <p:nvPicPr>
          <p:cNvPr id="17414" name="Picture 17413" descr="fig-be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383280"/>
            <a:ext cx="5623560" cy="2010037"/>
          </a:xfrm>
          <a:prstGeom prst="rect">
            <a:avLst/>
          </a:prstGeom>
        </p:spPr>
      </p:pic>
      <p:sp>
        <p:nvSpPr>
          <p:cNvPr id="17415" name="TextBox 17414"/>
          <p:cNvSpPr txBox="1"/>
          <p:nvPr/>
        </p:nvSpPr>
        <p:spPr>
          <a:xfrm>
            <a:off x="6172200" y="5532120"/>
            <a:ext cx="5623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spcAft>
                <a:spcPts val="400"/>
              </a:spcAft>
            </a:pPr>
            <a:r>
              <a:rPr sz="1050" b="0" i="1">
                <a:solidFill>
                  <a:srgbClr val="5A5A5A"/>
                </a:solidFill>
                <a:latin typeface="Arial"/>
              </a:rPr>
              <a:t>A judge drops a cow in front of the vehicle, mid-run. The planner has no foreknowledge of anything placed by hand.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«TEAM NAME»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84048" y="1078992"/>
            <a:ext cx="56235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F3864"/>
                </a:solidFill>
                <a:latin typeface="Arial"/>
              </a:rPr>
              <a:t>Grounding — data and the problem itself</a:t>
            </a:r>
          </a:p>
          <a:p>
            <a:pPr marL="190500" indent="-190500" algn="l"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Arial"/>
              </a:rPr>
              <a:t>• India Driving Dataset, IIIT Hyderabad — idd.insaan.iiit.ac.in</a:t>
            </a:r>
          </a:p>
          <a:p>
            <a:pPr marL="190500" indent="-190500" algn="l"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Arial"/>
              </a:rPr>
              <a:t>• MoRTH, Road Accidents in India 2024 — 1,77,175 fatalities</a:t>
            </a:r>
          </a:p>
          <a:p>
            <a:pPr marL="0" indent="0" algn="l">
              <a:spcBef>
                <a:spcPts val="900"/>
              </a:spcBef>
              <a:spcAft>
                <a:spcPts val="300"/>
              </a:spcAft>
            </a:pPr>
            <a:r>
              <a:rPr sz="1400" b="1" i="0">
                <a:solidFill>
                  <a:srgbClr val="1F3864"/>
                </a:solidFill>
                <a:latin typeface="Arial"/>
              </a:rPr>
              <a:t>Research the design rests on</a:t>
            </a:r>
          </a:p>
          <a:p>
            <a:pPr marL="190500" indent="-190500" algn="l"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Arial"/>
              </a:rPr>
              <a:t>• Werling et al., Optimal trajectory generation in a Frenet frame — the basis of our lattice (ICRA 2010)</a:t>
            </a:r>
          </a:p>
          <a:p>
            <a:pPr marL="190500" indent="-190500" algn="l"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Arial"/>
              </a:rPr>
              <a:t>• Shalev-Shwartz, Shammah, Shashua, Responsibility-Sensitive Safety — the formal model our supervisor recalibrates for Indian gaps</a:t>
            </a:r>
          </a:p>
          <a:p>
            <a:pPr marL="190500" indent="-190500" algn="l"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Arial"/>
              </a:rPr>
              <a:t>• Ames et al., Control barrier functions for safety-critical control</a:t>
            </a:r>
          </a:p>
          <a:p>
            <a:pPr marL="190500" indent="-190500" algn="l"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Arial"/>
              </a:rPr>
              <a:t>• Non-lane-based car following in heterogeneous, disordered traffic — the model our surrounding agents drive by</a:t>
            </a:r>
          </a:p>
          <a:p>
            <a:pPr marL="0" indent="0" algn="l">
              <a:spcBef>
                <a:spcPts val="900"/>
              </a:spcBef>
              <a:spcAft>
                <a:spcPts val="300"/>
              </a:spcAft>
            </a:pPr>
            <a:r>
              <a:rPr sz="1400" b="1" i="0">
                <a:solidFill>
                  <a:srgbClr val="1F3864"/>
                </a:solidFill>
                <a:latin typeface="Arial"/>
              </a:rPr>
              <a:t>MathWorks references</a:t>
            </a:r>
          </a:p>
          <a:p>
            <a:pPr marL="190500" indent="-190500" algn="l"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Arial"/>
              </a:rPr>
              <a:t>• Highway trajectory planning using a Frenet reference path</a:t>
            </a:r>
          </a:p>
          <a:p>
            <a:pPr marL="190500" indent="-190500" algn="l"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Arial"/>
              </a:rPr>
              <a:t>• Motion planning in urban environments with a dynamic occupancy grid</a:t>
            </a:r>
          </a:p>
          <a:p>
            <a:pPr marL="190500" indent="-190500" algn="l"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Arial"/>
              </a:rPr>
              <a:t>• RoadRunner scene and scenario authoring documentation</a:t>
            </a:r>
          </a:p>
          <a:p>
            <a:pPr marL="0" indent="0" algn="l">
              <a:spcBef>
                <a:spcPts val="900"/>
              </a:spcBef>
              <a:spcAft>
                <a:spcPts val="300"/>
              </a:spcAft>
            </a:pPr>
            <a:r>
              <a:rPr sz="1400" b="1" i="0">
                <a:solidFill>
                  <a:srgbClr val="1F3864"/>
                </a:solidFill>
                <a:latin typeface="Arial"/>
              </a:rPr>
              <a:t>What the research says we should do next</a:t>
            </a:r>
          </a:p>
          <a:p>
            <a:pPr marL="190500" indent="-190500" algn="l"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Arial"/>
              </a:rPr>
              <a:t>• Fit the prediction priors to IDD trajectories instead of building them by hand, and put the closed loop in Simulink end to end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172200" y="1078992"/>
            <a:ext cx="5623560" cy="1481328"/>
          </a:xfrm>
          <a:prstGeom prst="roundRect">
            <a:avLst>
              <a:gd name="adj" fmla="val 6000"/>
            </a:avLst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 marL="0" indent="0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1F3864"/>
                </a:solidFill>
                <a:latin typeface="Arial"/>
              </a:rPr>
              <a:t>Try it yourself — nothing here is scripted</a:t>
            </a:r>
          </a:p>
          <a:p>
            <a:pPr marL="190500" indent="-190500" algn="l">
              <a:spcAft>
                <a:spcPts val="400"/>
              </a:spcAft>
            </a:pPr>
            <a:r>
              <a:rPr sz="1250" b="1" i="0">
                <a:solidFill>
                  <a:srgbClr val="B03A2B"/>
                </a:solidFill>
                <a:latin typeface="Arial"/>
              </a:rPr>
              <a:t>github.com/Paragraph1148/automated-driving</a:t>
            </a:r>
          </a:p>
          <a:p>
            <a:pPr marL="190500" indent="-190500" algn="l">
              <a:spcAft>
                <a:spcPts val="400"/>
              </a:spcAft>
            </a:pPr>
            <a:r>
              <a:rPr sz="1250" b="1" i="0">
                <a:solidFill>
                  <a:srgbClr val="B03A2B"/>
                </a:solidFill>
                <a:latin typeface="Arial"/>
              </a:rPr>
              <a:t>uv run sarathi serve</a:t>
            </a:r>
          </a:p>
        </p:txBody>
      </p:sp>
      <p:pic>
        <p:nvPicPr>
          <p:cNvPr id="17412" name="Picture 17411" descr="fig-threshol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788920"/>
            <a:ext cx="1874519" cy="2499359"/>
          </a:xfrm>
          <a:prstGeom prst="rect">
            <a:avLst/>
          </a:prstGeom>
        </p:spPr>
      </p:pic>
      <p:sp>
        <p:nvSpPr>
          <p:cNvPr id="17413" name="TextBox 17412"/>
          <p:cNvSpPr txBox="1"/>
          <p:nvPr/>
        </p:nvSpPr>
        <p:spPr>
          <a:xfrm>
            <a:off x="8412480" y="2743200"/>
            <a:ext cx="3383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What a judge can change, live</a:t>
            </a:r>
          </a:p>
          <a:p>
            <a:pPr marL="190500" indent="-190500" algn="l">
              <a:spcAft>
                <a:spcPts val="400"/>
              </a:spcAft>
            </a:pPr>
            <a:r>
              <a:rPr sz="1100" b="0" i="0">
                <a:solidFill>
                  <a:srgbClr val="262626"/>
                </a:solidFill>
                <a:latin typeface="Arial"/>
              </a:rPr>
              <a:t>• Thirty-one thresholds, grouped: driving, caution, planner, safety</a:t>
            </a:r>
          </a:p>
          <a:p>
            <a:pPr marL="190500" indent="-190500" algn="l">
              <a:spcAft>
                <a:spcPts val="400"/>
              </a:spcAft>
            </a:pPr>
            <a:r>
              <a:rPr sz="1100" b="0" i="0">
                <a:solidFill>
                  <a:srgbClr val="262626"/>
                </a:solidFill>
                <a:latin typeface="Arial"/>
              </a:rPr>
              <a:t>• Every one adjustable while the vehicle drives — no restart</a:t>
            </a:r>
          </a:p>
          <a:p>
            <a:pPr marL="190500" indent="-190500" algn="l">
              <a:spcAft>
                <a:spcPts val="400"/>
              </a:spcAft>
            </a:pPr>
            <a:r>
              <a:rPr sz="1100" b="0" i="0">
                <a:solidFill>
                  <a:srgbClr val="262626"/>
                </a:solidFill>
                <a:latin typeface="Arial"/>
              </a:rPr>
              <a:t>• Ablations switch the risk field, the prediction or RSS off, so the contribution of each is visible rather than asserted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6263640" y="5394960"/>
            <a:ext cx="5532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spcAft>
                <a:spcPts val="400"/>
              </a:spcAft>
            </a:pPr>
            <a:r>
              <a:rPr sz="1050" b="0" i="1">
                <a:solidFill>
                  <a:srgbClr val="5A5A5A"/>
                </a:solidFill>
                <a:latin typeface="Arial"/>
              </a:rPr>
              <a:t>The thresholds panel, exactly as it appears in the running demo.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