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EAEA"/>
    <a:srgbClr val="FFFFCC"/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10/15/2025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10/15/2025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10/15/2025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10/15/2025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jpeg"/><Relationship Id="rId18" Type="http://schemas.openxmlformats.org/officeDocument/2006/relationships/image" Target="../media/image18.png"/><Relationship Id="rId3" Type="http://schemas.openxmlformats.org/officeDocument/2006/relationships/image" Target="../media/image2.png"/><Relationship Id="rId7" Type="http://schemas.openxmlformats.org/officeDocument/2006/relationships/image" Target="../media/image7.jpe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jpe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jpg"/><Relationship Id="rId4" Type="http://schemas.openxmlformats.org/officeDocument/2006/relationships/image" Target="../media/image21.png"/><Relationship Id="rId9" Type="http://schemas.openxmlformats.org/officeDocument/2006/relationships/image" Target="../media/image2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-onmanorama-com.translate.goog/news/kerala/2025/04/28/cvc-forwards-complaint-against-ias-officers-jayathilak-gopalakrishnan-to-kerala-cs-on-alleged-fund-fraud.html?_x_tr_sl=en&amp;_x_tr_tl=hi&amp;_x_tr_hl=hi&amp;_x_tr_pto=tc" TargetMode="External"/><Relationship Id="rId5" Type="http://schemas.openxmlformats.org/officeDocument/2006/relationships/hyperlink" Target="https://www.pib.gov.in/PressReleasePage.aspx?PRID=2117272&amp;utm_source=chatgpt.com" TargetMode="External"/><Relationship Id="rId10" Type="http://schemas.openxmlformats.org/officeDocument/2006/relationships/image" Target="../media/image31.svg"/><Relationship Id="rId4" Type="http://schemas.openxmlformats.org/officeDocument/2006/relationships/hyperlink" Target="https://pmajay.dosje.gov.in/?utm_source=chatgpt.com" TargetMode="External"/><Relationship Id="rId9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19200" y="323850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AJAYSETU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04800" y="-470494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ubtitle 3">
            <a:extLst>
              <a:ext uri="{FF2B5EF4-FFF2-40B4-BE49-F238E27FC236}">
                <a16:creationId xmlns:a16="http://schemas.microsoft.com/office/drawing/2014/main" id="{E94DA43C-59C2-7CB2-8887-890FC168630E}"/>
              </a:ext>
            </a:extLst>
          </p:cNvPr>
          <p:cNvSpPr txBox="1">
            <a:spLocks/>
          </p:cNvSpPr>
          <p:nvPr/>
        </p:nvSpPr>
        <p:spPr bwMode="auto">
          <a:xfrm>
            <a:off x="230005" y="1898317"/>
            <a:ext cx="6537119" cy="45177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marL="4572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2pPr>
            <a:lvl3pPr marL="9144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3pPr>
            <a:lvl4pPr marL="13716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4pPr>
            <a:lvl5pPr marL="18288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b="1" dirty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Problem Statement ID </a:t>
            </a:r>
            <a:r>
              <a:rPr lang="en-US" sz="2400" b="1" dirty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- </a:t>
            </a:r>
            <a:r>
              <a:rPr lang="en-US" sz="2200" b="1" dirty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25153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b="1" dirty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Problem Statement Title </a:t>
            </a:r>
            <a:r>
              <a:rPr lang="en-US" sz="2400" b="1" dirty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- </a:t>
            </a:r>
            <a:r>
              <a:rPr lang="en-US" sz="2200" b="1" dirty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Mapping of Implementing and Executing Agencies across PM-AJAY Components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b="1" dirty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Theme </a:t>
            </a:r>
            <a:r>
              <a:rPr lang="en-US" sz="2400" b="1" dirty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- </a:t>
            </a:r>
            <a:r>
              <a:rPr lang="en-US" sz="2200" b="1" dirty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Smart Automation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b="1" dirty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Team ID </a:t>
            </a:r>
            <a:r>
              <a:rPr lang="en-IN" sz="2400" b="1" dirty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- </a:t>
            </a:r>
            <a:r>
              <a:rPr lang="en-IN" sz="2200" b="1" dirty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69295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b="1" dirty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Team Name(Registered on Portal) </a:t>
            </a:r>
            <a:r>
              <a:rPr lang="en-IN" sz="2400" b="1" dirty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- </a:t>
            </a:r>
            <a:r>
              <a:rPr lang="en-IN" sz="2200" b="1" dirty="0" err="1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ByteForge</a:t>
            </a:r>
            <a:endParaRPr lang="en-IN" sz="2400" b="1" dirty="0">
              <a:solidFill>
                <a:schemeClr val="tx1"/>
              </a:solidFill>
              <a:latin typeface="+mj-lt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+mj-lt"/>
                <a:ea typeface="ＭＳ Ｐゴシック" pitchFamily="1" charset="-128"/>
                <a:cs typeface="Times New Roman" panose="02020603050405020304" pitchFamily="18" charset="0"/>
              </a:rPr>
              <a:t>AJAYSETU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1" y="1106640"/>
            <a:ext cx="7177548" cy="52937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</a:t>
            </a:r>
            <a:endParaRPr lang="en-US" sz="24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b="1" dirty="0"/>
              <a:t>Real-Time PFMS Integration</a:t>
            </a:r>
            <a:r>
              <a:rPr lang="en-US" sz="1600" dirty="0"/>
              <a:t>: Implement end-to-end fund traceability and auto-track utilization by integrating the system with PFMS.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600" b="1" dirty="0"/>
              <a:t>Unified Agency Repository (UAR): </a:t>
            </a:r>
            <a:r>
              <a:rPr lang="en-US" sz="1600" dirty="0"/>
              <a:t>Create a centralized repository with Unique Agency Codes, geo-tagged offices, and roles for clear accountability.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b="1" dirty="0"/>
              <a:t>Geo-Tagged Progress Verification</a:t>
            </a:r>
            <a:r>
              <a:rPr lang="en-US" sz="1600" dirty="0"/>
              <a:t>: Mandate geo-tagged photos/videos and AI checks to digitally confirm physical project completion before payment.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b="1" dirty="0"/>
              <a:t>Blockchain-Secured Transaction Ledger: </a:t>
            </a:r>
            <a:r>
              <a:rPr lang="en-US" sz="1600" dirty="0"/>
              <a:t>Store all fund releases, approvals, and utilization records on an immutable blockchain ledger for tamper-proof auditing.</a:t>
            </a:r>
            <a:endParaRPr lang="en-US" sz="1600" b="1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b="1" dirty="0"/>
              <a:t>Anomaly Detection Engine</a:t>
            </a:r>
            <a:r>
              <a:rPr lang="en-US" dirty="0"/>
              <a:t>:</a:t>
            </a:r>
            <a:r>
              <a:rPr lang="en-US" sz="1600" dirty="0"/>
              <a:t> Employ AI/ML models to automatically detect suspicious transaction patterns, duplicate claims, and potential fund fraud.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b="1" dirty="0"/>
              <a:t>Public Audit Portal: </a:t>
            </a:r>
            <a:r>
              <a:rPr lang="en-US" sz="1600" dirty="0"/>
              <a:t>Establish a public transparency portal for social verification, grievance submission, and open visibility of project status and funds.</a:t>
            </a:r>
            <a:endParaRPr lang="en-US" sz="1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82998" y="153504"/>
            <a:ext cx="1587517" cy="671986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ByteForge</a:t>
            </a:r>
            <a:endParaRPr lang="en-IN" dirty="0"/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02FAABE0-8E1A-BC93-0311-A0781F0537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6038" y="1376516"/>
            <a:ext cx="4784447" cy="501680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4775" y="909353"/>
            <a:ext cx="7405616" cy="4585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Technology Stack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Frontend</a:t>
            </a:r>
            <a:r>
              <a:rPr lang="en-US" sz="1600" dirty="0"/>
              <a:t>: Bootstrap, Tailwind CSS, SASS, LESS, React, Angular, Vue.js, Svelte, jQuery, Next.js, Nuxt.js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b="1" dirty="0"/>
              <a:t>Backend: </a:t>
            </a:r>
            <a:r>
              <a:rPr lang="en-US" sz="1600" dirty="0"/>
              <a:t>Python, JavaScript (Node.js), Java, PHP, Go (Golang), C#, Django, Express.js, Spring Boot, Laravel, </a:t>
            </a:r>
            <a:r>
              <a:rPr lang="en-US" sz="1600" dirty="0" err="1"/>
              <a:t>FastAPI</a:t>
            </a:r>
            <a:r>
              <a:rPr lang="en-US" sz="1600" dirty="0"/>
              <a:t>, </a:t>
            </a:r>
            <a:r>
              <a:rPr lang="en-US" sz="1600" dirty="0" err="1"/>
              <a:t>NestJS</a:t>
            </a:r>
            <a:r>
              <a:rPr lang="en-US" sz="1600" dirty="0"/>
              <a:t>, SQL, REST APIs, </a:t>
            </a:r>
            <a:r>
              <a:rPr lang="en-US" sz="1600" dirty="0" err="1"/>
              <a:t>GraphQL</a:t>
            </a:r>
            <a:endParaRPr lang="en-US" sz="16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b="1" dirty="0"/>
              <a:t>AI&amp;ML</a:t>
            </a:r>
            <a:r>
              <a:rPr lang="en-US" sz="1600" dirty="0"/>
              <a:t>: </a:t>
            </a:r>
            <a:r>
              <a:rPr lang="en-US" sz="1600" dirty="0" err="1"/>
              <a:t>LangChain</a:t>
            </a:r>
            <a:r>
              <a:rPr lang="en-US" sz="1600" dirty="0"/>
              <a:t>, OpenAI APIs, </a:t>
            </a:r>
            <a:r>
              <a:rPr lang="en-US" sz="1600" dirty="0" err="1"/>
              <a:t>PyTorch</a:t>
            </a:r>
            <a:r>
              <a:rPr lang="en-US" sz="1600" dirty="0"/>
              <a:t> Lightning, Hugging Face Transformers, </a:t>
            </a:r>
            <a:r>
              <a:rPr lang="en-US" sz="1600" dirty="0" err="1"/>
              <a:t>TimeGPT</a:t>
            </a:r>
            <a:r>
              <a:rPr lang="en-US" sz="1600" dirty="0"/>
              <a:t> (</a:t>
            </a:r>
            <a:r>
              <a:rPr lang="en-US" sz="1600" dirty="0" err="1"/>
              <a:t>Nixtla</a:t>
            </a:r>
            <a:r>
              <a:rPr lang="en-US" sz="1600" dirty="0"/>
              <a:t>), OpenCV, TensorFlow, </a:t>
            </a:r>
            <a:r>
              <a:rPr lang="en-US" sz="1600" dirty="0" err="1"/>
              <a:t>Keras</a:t>
            </a:r>
            <a:r>
              <a:rPr lang="en-US" sz="1600" dirty="0"/>
              <a:t>, Scikit-learn, </a:t>
            </a:r>
            <a:r>
              <a:rPr lang="en-US" sz="1600" dirty="0" err="1"/>
              <a:t>MLflow</a:t>
            </a:r>
            <a:r>
              <a:rPr lang="en-US" sz="1600" dirty="0"/>
              <a:t>, </a:t>
            </a:r>
            <a:r>
              <a:rPr lang="en-US" sz="1600" dirty="0" err="1"/>
              <a:t>Streamlit</a:t>
            </a:r>
            <a:endParaRPr lang="en-US" sz="16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b="1" dirty="0"/>
              <a:t>Deployment &amp; Infrastructure</a:t>
            </a:r>
            <a:r>
              <a:rPr lang="en-US" sz="1600" dirty="0"/>
              <a:t>: Docker, Kubernetes, AWS Lambda, GCP Cloud Functions, </a:t>
            </a:r>
            <a:r>
              <a:rPr lang="en-US" sz="1600" dirty="0" err="1"/>
              <a:t>Supabase</a:t>
            </a:r>
            <a:r>
              <a:rPr lang="en-US" sz="1600" dirty="0"/>
              <a:t>, </a:t>
            </a:r>
            <a:r>
              <a:rPr lang="en-US" sz="1600" dirty="0" err="1"/>
              <a:t>Vercel</a:t>
            </a:r>
            <a:endParaRPr lang="en-US" sz="1600" dirty="0"/>
          </a:p>
          <a:p>
            <a:pPr algn="just"/>
            <a:endParaRPr lang="en-US" sz="16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b="1" dirty="0"/>
              <a:t>Security &amp; Authentication: </a:t>
            </a:r>
            <a:r>
              <a:rPr lang="en-US" sz="1600" dirty="0" err="1"/>
              <a:t>Clerk.dev</a:t>
            </a:r>
            <a:r>
              <a:rPr lang="en-US" sz="1600" dirty="0"/>
              <a:t>, OAuth 2.0, JWT, Zero Trust, </a:t>
            </a:r>
            <a:r>
              <a:rPr lang="en-US" sz="1600" dirty="0" err="1"/>
              <a:t>HashiCorp</a:t>
            </a:r>
            <a:r>
              <a:rPr lang="en-US" sz="1600" dirty="0"/>
              <a:t> Vault, SAML, OpenID Connect, Web Application Firewalls, OWASP ZAP, Burp Suite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b="1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Oval 7" descr="Your startup LOGO">
            <a:extLst>
              <a:ext uri="{FF2B5EF4-FFF2-40B4-BE49-F238E27FC236}">
                <a16:creationId xmlns:a16="http://schemas.microsoft.com/office/drawing/2014/main" id="{0A40361C-D701-9C97-80F8-8D5A5C09A02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82998" y="153504"/>
            <a:ext cx="1587517" cy="671986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ByteForge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FC2830-F7B3-D8CE-59E0-026976DF8DF2}"/>
              </a:ext>
            </a:extLst>
          </p:cNvPr>
          <p:cNvSpPr txBox="1"/>
          <p:nvPr/>
        </p:nvSpPr>
        <p:spPr>
          <a:xfrm>
            <a:off x="8466886" y="1089167"/>
            <a:ext cx="28448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Python JavaScript (Nod</a:t>
            </a:r>
            <a:r>
              <a:rPr lang="en-US" sz="1200" dirty="0"/>
              <a:t> , </a:t>
            </a:r>
            <a:r>
              <a:rPr lang="en-US" sz="1200" dirty="0" err="1">
                <a:solidFill>
                  <a:schemeClr val="bg1"/>
                </a:solidFill>
              </a:rPr>
              <a:t>Gatsb</a:t>
            </a:r>
            <a:r>
              <a:rPr lang="en-US" sz="1200" dirty="0"/>
              <a:t> </a:t>
            </a:r>
            <a:r>
              <a:rPr lang="en-US" sz="1200" dirty="0">
                <a:solidFill>
                  <a:schemeClr val="bg1"/>
                </a:solidFill>
              </a:rPr>
              <a:t>AWS, Azure, Google Cloud Platform, Terraform, </a:t>
            </a:r>
            <a:r>
              <a:rPr lang="en-US" sz="1200" dirty="0" err="1">
                <a:solidFill>
                  <a:schemeClr val="bg1"/>
                </a:solidFill>
              </a:rPr>
              <a:t>Pulumi</a:t>
            </a:r>
            <a:r>
              <a:rPr lang="en-US" sz="1200" dirty="0">
                <a:solidFill>
                  <a:schemeClr val="bg1"/>
                </a:solidFill>
              </a:rPr>
              <a:t>, y, Alpine.js, Material-U , MySQL, MongoDB, Redis, Cassandra, DynamoDB, </a:t>
            </a:r>
            <a:r>
              <a:rPr lang="en-US" sz="1200" dirty="0" err="1">
                <a:solidFill>
                  <a:schemeClr val="bg1"/>
                </a:solidFill>
              </a:rPr>
              <a:t>ElasticSearch</a:t>
            </a:r>
            <a:r>
              <a:rPr lang="en-US" sz="1200" dirty="0">
                <a:solidFill>
                  <a:schemeClr val="bg1"/>
                </a:solidFill>
              </a:rPr>
              <a:t>, RabbitMQ, Kafka I, Chakra UI, Ant Design, Three.js, D3.js, Webpack, Vite, Parcel, Tailwind UI, Headless UI e.js) Java PHP Ruby , Firebase, </a:t>
            </a:r>
            <a:r>
              <a:rPr lang="en-US" sz="1200" dirty="0" err="1">
                <a:solidFill>
                  <a:schemeClr val="bg1"/>
                </a:solidFill>
              </a:rPr>
              <a:t>Firestore</a:t>
            </a:r>
            <a:r>
              <a:rPr lang="en-US" sz="1200" dirty="0">
                <a:solidFill>
                  <a:schemeClr val="bg1"/>
                </a:solidFill>
              </a:rPr>
              <a:t>, Docker, Kubernetes, , ASP.NET Core, Ruby on Rails</a:t>
            </a:r>
            <a:r>
              <a:rPr lang="en-US" sz="1200" dirty="0"/>
              <a:t> </a:t>
            </a:r>
            <a:r>
              <a:rPr lang="en-US" sz="1200" dirty="0">
                <a:solidFill>
                  <a:schemeClr val="bg1"/>
                </a:solidFill>
              </a:rPr>
              <a:t>Rasa X, Ansible,</a:t>
            </a:r>
            <a:r>
              <a:rPr lang="en-US" sz="1200" dirty="0"/>
              <a:t> </a:t>
            </a:r>
            <a:r>
              <a:rPr lang="en-US" sz="1200" dirty="0">
                <a:solidFill>
                  <a:schemeClr val="bg1"/>
                </a:solidFill>
              </a:rPr>
              <a:t>W </a:t>
            </a:r>
            <a:r>
              <a:rPr lang="en-US" sz="1200" dirty="0" err="1">
                <a:solidFill>
                  <a:schemeClr val="bg1"/>
                </a:solidFill>
              </a:rPr>
              <a:t>Gradio</a:t>
            </a:r>
            <a:r>
              <a:rPr lang="en-US" sz="1200" dirty="0">
                <a:solidFill>
                  <a:schemeClr val="bg1"/>
                </a:solidFill>
              </a:rPr>
              <a:t> eights &amp; Biases, Prometheus, Grafana Go (Golang) , Grafana, Loki, Tempo, Terraform, </a:t>
            </a:r>
            <a:r>
              <a:rPr lang="en-US" sz="1200" dirty="0" err="1">
                <a:solidFill>
                  <a:schemeClr val="bg1"/>
                </a:solidFill>
              </a:rPr>
              <a:t>Pulumi</a:t>
            </a:r>
            <a:r>
              <a:rPr lang="en-US" sz="1200" dirty="0">
                <a:solidFill>
                  <a:schemeClr val="bg1"/>
                </a:solidFill>
              </a:rPr>
              <a:t>, Ansible, Chef, Puppet, Prometheus, Grafana, Cloudflare, Fastly C# C++ Kotlin Rust Scala Perl Elixir Swift SQL PostgreSQL MySQL MongoDB Redis Django Flask Express.js Ruby on Rails Laravel ASP.NET Core Spring Boot </a:t>
            </a:r>
            <a:r>
              <a:rPr lang="en-US" sz="1200" dirty="0" err="1">
                <a:solidFill>
                  <a:schemeClr val="bg1"/>
                </a:solidFill>
              </a:rPr>
              <a:t>NestJS</a:t>
            </a:r>
            <a:r>
              <a:rPr lang="en-US" sz="1200" dirty="0">
                <a:solidFill>
                  <a:schemeClr val="bg1"/>
                </a:solidFill>
              </a:rPr>
              <a:t> Koa.js Gin Phoenix </a:t>
            </a:r>
            <a:r>
              <a:rPr lang="en-US" sz="1200" dirty="0" err="1">
                <a:solidFill>
                  <a:schemeClr val="bg1"/>
                </a:solidFill>
              </a:rPr>
              <a:t>CakePHP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FastAPI</a:t>
            </a:r>
            <a:r>
              <a:rPr lang="en-US" sz="1200" dirty="0">
                <a:solidFill>
                  <a:schemeClr val="bg1"/>
                </a:solidFill>
              </a:rPr>
              <a:t> Apache Nginx Microsoft IIS Docker Kubernetes AWS Azure Google Cloud Platform Firebase </a:t>
            </a:r>
            <a:r>
              <a:rPr lang="en-US" sz="1200" dirty="0" err="1">
                <a:solidFill>
                  <a:schemeClr val="bg1"/>
                </a:solidFill>
              </a:rPr>
              <a:t>GraphQL</a:t>
            </a:r>
            <a:r>
              <a:rPr lang="en-US" sz="1200" dirty="0">
                <a:solidFill>
                  <a:schemeClr val="bg1"/>
                </a:solidFill>
              </a:rPr>
              <a:t> RES</a:t>
            </a:r>
          </a:p>
          <a:p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2050" name="Picture 2" descr="GitHub Logos and Usage · GitHub">
            <a:extLst>
              <a:ext uri="{FF2B5EF4-FFF2-40B4-BE49-F238E27FC236}">
                <a16:creationId xmlns:a16="http://schemas.microsoft.com/office/drawing/2014/main" id="{84F54C8B-C006-1D78-5C7F-F607D0382F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655" y="5177583"/>
            <a:ext cx="621890" cy="621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Node.js SVG and transparent PNG icons | TechIcons">
            <a:extLst>
              <a:ext uri="{FF2B5EF4-FFF2-40B4-BE49-F238E27FC236}">
                <a16:creationId xmlns:a16="http://schemas.microsoft.com/office/drawing/2014/main" id="{C6609D2D-2EB0-7FD8-8DDA-545C654526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6756" y="5210867"/>
            <a:ext cx="621890" cy="621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>
            <a:extLst>
              <a:ext uri="{FF2B5EF4-FFF2-40B4-BE49-F238E27FC236}">
                <a16:creationId xmlns:a16="http://schemas.microsoft.com/office/drawing/2014/main" id="{E68931E0-08CF-841C-4410-57B13A32A2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0515" y="5210867"/>
            <a:ext cx="555322" cy="555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Python logo - Accredian Blog">
            <a:extLst>
              <a:ext uri="{FF2B5EF4-FFF2-40B4-BE49-F238E27FC236}">
                <a16:creationId xmlns:a16="http://schemas.microsoft.com/office/drawing/2014/main" id="{50E7ED21-5A09-BC6F-E259-7C110827E0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6020" y="5210867"/>
            <a:ext cx="621890" cy="555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4" name="Picture 16">
            <a:extLst>
              <a:ext uri="{FF2B5EF4-FFF2-40B4-BE49-F238E27FC236}">
                <a16:creationId xmlns:a16="http://schemas.microsoft.com/office/drawing/2014/main" id="{9EB15FF3-A8D9-D146-722A-9D4AB44DC9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70" y="5909471"/>
            <a:ext cx="873286" cy="873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6" name="Picture 18">
            <a:extLst>
              <a:ext uri="{FF2B5EF4-FFF2-40B4-BE49-F238E27FC236}">
                <a16:creationId xmlns:a16="http://schemas.microsoft.com/office/drawing/2014/main" id="{68FF230A-3FC0-2252-BF64-2425F3CF1B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8093" y="5177583"/>
            <a:ext cx="732492" cy="621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8" name="Picture 20">
            <a:extLst>
              <a:ext uri="{FF2B5EF4-FFF2-40B4-BE49-F238E27FC236}">
                <a16:creationId xmlns:a16="http://schemas.microsoft.com/office/drawing/2014/main" id="{DDD76DE4-4240-3C78-E7C8-AEF2D3D1B7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8843" y="5177584"/>
            <a:ext cx="969239" cy="621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utoShape 22" descr="Fastapi Vector Logo - Download Free SVG Icon | Worldvectorlogo">
            <a:extLst>
              <a:ext uri="{FF2B5EF4-FFF2-40B4-BE49-F238E27FC236}">
                <a16:creationId xmlns:a16="http://schemas.microsoft.com/office/drawing/2014/main" id="{DB919D94-86A6-345E-7B08-10F3CBF44E9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74" name="Picture 26" descr="Getting Started with Python FastAPI: A Comprehensive Guide">
            <a:extLst>
              <a:ext uri="{FF2B5EF4-FFF2-40B4-BE49-F238E27FC236}">
                <a16:creationId xmlns:a16="http://schemas.microsoft.com/office/drawing/2014/main" id="{300CE4F6-A1A5-9F24-7812-13550A1F24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545" y="5909471"/>
            <a:ext cx="1207792" cy="873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6" name="Picture 28" descr="Solana (blockchain platform) - Wikipedia">
            <a:extLst>
              <a:ext uri="{FF2B5EF4-FFF2-40B4-BE49-F238E27FC236}">
                <a16:creationId xmlns:a16="http://schemas.microsoft.com/office/drawing/2014/main" id="{F86405A5-BA92-0E56-5419-D6930A67F4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0698" y="6103068"/>
            <a:ext cx="555322" cy="555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8" name="Picture 30" descr="SQL Database (generic) | Microsoft Azure Color">
            <a:extLst>
              <a:ext uri="{FF2B5EF4-FFF2-40B4-BE49-F238E27FC236}">
                <a16:creationId xmlns:a16="http://schemas.microsoft.com/office/drawing/2014/main" id="{9D6476F9-3121-0744-C6BD-3901644AF6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8698" y="6026587"/>
            <a:ext cx="659532" cy="659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80" name="Picture 32" descr="LangChain Logo Free Download SVG, PN... · LobeHub">
            <a:extLst>
              <a:ext uri="{FF2B5EF4-FFF2-40B4-BE49-F238E27FC236}">
                <a16:creationId xmlns:a16="http://schemas.microsoft.com/office/drawing/2014/main" id="{0ADFF469-4BAF-7881-5B8E-20088C0614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3291" y="5909471"/>
            <a:ext cx="919715" cy="919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88" name="Picture 40" descr="Django Badge - Just Stickers : Just Stickers">
            <a:extLst>
              <a:ext uri="{FF2B5EF4-FFF2-40B4-BE49-F238E27FC236}">
                <a16:creationId xmlns:a16="http://schemas.microsoft.com/office/drawing/2014/main" id="{A16844A9-19C6-D89A-902F-542370386D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9665" y="5185942"/>
            <a:ext cx="737776" cy="737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92" name="Picture 44" descr="AWS Lambda - Wikipedia">
            <a:extLst>
              <a:ext uri="{FF2B5EF4-FFF2-40B4-BE49-F238E27FC236}">
                <a16:creationId xmlns:a16="http://schemas.microsoft.com/office/drawing/2014/main" id="{C1C62DBF-C3BA-174C-F7BB-63A9520104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8067" y="6075190"/>
            <a:ext cx="597310" cy="597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94" name="Picture 46" descr="The Go Programming Language">
            <a:extLst>
              <a:ext uri="{FF2B5EF4-FFF2-40B4-BE49-F238E27FC236}">
                <a16:creationId xmlns:a16="http://schemas.microsoft.com/office/drawing/2014/main" id="{E5D750DC-5A68-57B9-3357-B515D055D7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0274" y="4988702"/>
            <a:ext cx="1145770" cy="1013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96" name="Picture 48">
            <a:extLst>
              <a:ext uri="{FF2B5EF4-FFF2-40B4-BE49-F238E27FC236}">
                <a16:creationId xmlns:a16="http://schemas.microsoft.com/office/drawing/2014/main" id="{21E6F7E3-F727-7A8D-1F92-A2CBE81E30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4651" y="6232109"/>
            <a:ext cx="1322698" cy="326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00" name="Picture 52">
            <a:extLst>
              <a:ext uri="{FF2B5EF4-FFF2-40B4-BE49-F238E27FC236}">
                <a16:creationId xmlns:a16="http://schemas.microsoft.com/office/drawing/2014/main" id="{01FEBD17-8FA9-EC5F-FE2D-B32F781991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5567" y="5659965"/>
            <a:ext cx="1731319" cy="1013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D137EEF-B534-A0D4-6152-8591CAB5E752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99230" y="1160542"/>
            <a:ext cx="3618583" cy="5512466"/>
          </a:xfrm>
          <a:prstGeom prst="rect">
            <a:avLst/>
          </a:prstGeom>
        </p:spPr>
      </p:pic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CFCF909-6323-CB74-12EE-AA8B4FF22FAA}"/>
              </a:ext>
            </a:extLst>
          </p:cNvPr>
          <p:cNvSpPr/>
          <p:nvPr/>
        </p:nvSpPr>
        <p:spPr>
          <a:xfrm>
            <a:off x="10542886" y="3593765"/>
            <a:ext cx="1035376" cy="72512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Blockchain Ledger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9C403E9-5518-DC51-FB2F-722EBA1F4456}"/>
              </a:ext>
            </a:extLst>
          </p:cNvPr>
          <p:cNvSpPr/>
          <p:nvPr/>
        </p:nvSpPr>
        <p:spPr>
          <a:xfrm>
            <a:off x="10534610" y="4476626"/>
            <a:ext cx="1039514" cy="42653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I</a:t>
            </a:r>
            <a:r>
              <a:rPr lang="en-US" sz="1200" dirty="0" err="1">
                <a:solidFill>
                  <a:schemeClr val="tx1"/>
                </a:solidFill>
              </a:rPr>
              <a:t>Integration</a:t>
            </a:r>
            <a:r>
              <a:rPr lang="en-US" sz="1200" dirty="0">
                <a:solidFill>
                  <a:schemeClr val="tx1"/>
                </a:solidFill>
              </a:rPr>
              <a:t> Layer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367628" y="1113096"/>
            <a:ext cx="5770703" cy="13542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      Feasibility :</a:t>
            </a:r>
          </a:p>
          <a:p>
            <a:pPr marL="342900" lvl="0" indent="-342900" algn="just">
              <a:buFont typeface="+mj-lt"/>
              <a:buAutoNum type="arabicPeriod"/>
              <a:defRPr/>
            </a:pPr>
            <a:r>
              <a:rPr lang="en-US" sz="1600" b="1" dirty="0"/>
              <a:t>Technical: </a:t>
            </a:r>
            <a:r>
              <a:rPr lang="en-US" sz="1600" dirty="0"/>
              <a:t>Compatible with </a:t>
            </a:r>
            <a:r>
              <a:rPr lang="en-US" sz="1600" b="1" dirty="0"/>
              <a:t>PFMS</a:t>
            </a:r>
            <a:r>
              <a:rPr lang="en-US" sz="1600" dirty="0"/>
              <a:t> and </a:t>
            </a:r>
            <a:r>
              <a:rPr lang="en-US" sz="1600" b="1" dirty="0"/>
              <a:t>GIS</a:t>
            </a:r>
            <a:r>
              <a:rPr lang="en-US" sz="1600" dirty="0"/>
              <a:t> system.</a:t>
            </a:r>
          </a:p>
          <a:p>
            <a:pPr marL="342900" lvl="0" indent="-342900" algn="just">
              <a:buFont typeface="+mj-lt"/>
              <a:buAutoNum type="arabicPeriod"/>
              <a:defRPr/>
            </a:pPr>
            <a:r>
              <a:rPr lang="en-US" sz="1600" b="1" dirty="0"/>
              <a:t>Modularization: </a:t>
            </a:r>
            <a:r>
              <a:rPr lang="en-US" sz="1600" dirty="0"/>
              <a:t>Easy to scale and integrate modules.</a:t>
            </a:r>
            <a:endParaRPr lang="en-US" sz="1600" b="1" dirty="0"/>
          </a:p>
          <a:p>
            <a:pPr marL="342900" lvl="0" indent="-342900" algn="just">
              <a:buFont typeface="+mj-lt"/>
              <a:buAutoNum type="arabicPeriod"/>
              <a:defRPr/>
            </a:pPr>
            <a:r>
              <a:rPr lang="en-US" sz="1600" b="1" dirty="0"/>
              <a:t>Market: </a:t>
            </a:r>
            <a:r>
              <a:rPr lang="en-US" sz="1600" dirty="0"/>
              <a:t>Strong demand for </a:t>
            </a:r>
            <a:r>
              <a:rPr lang="en-US" sz="1600" b="1" dirty="0"/>
              <a:t>transparency </a:t>
            </a:r>
            <a:r>
              <a:rPr lang="en-US" sz="1600" dirty="0"/>
              <a:t>solutions.</a:t>
            </a:r>
          </a:p>
          <a:p>
            <a:pPr marL="342900" lvl="0" indent="-342900" algn="just">
              <a:buFont typeface="+mj-lt"/>
              <a:buAutoNum type="arabicPeriod"/>
              <a:defRPr/>
            </a:pPr>
            <a:r>
              <a:rPr lang="en-US" sz="1600" b="1" dirty="0"/>
              <a:t>Economic: </a:t>
            </a:r>
            <a:r>
              <a:rPr lang="en-US" sz="1600" dirty="0"/>
              <a:t>Affordable deployment with phased rollout.</a:t>
            </a:r>
            <a:endParaRPr lang="en-US" sz="16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val 1" descr="Your startup LOGO">
            <a:extLst>
              <a:ext uri="{FF2B5EF4-FFF2-40B4-BE49-F238E27FC236}">
                <a16:creationId xmlns:a16="http://schemas.microsoft.com/office/drawing/2014/main" id="{21328F52-CD6A-A4E3-6419-D42AB90B217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82998" y="153504"/>
            <a:ext cx="1587517" cy="671986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ByteForge</a:t>
            </a:r>
            <a:endParaRPr lang="en-IN" dirty="0"/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DC6ADC07-A1D4-CF5C-112C-7D8BEAF38E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497" y="2913213"/>
            <a:ext cx="5770703" cy="1600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      Viability:</a:t>
            </a:r>
          </a:p>
          <a:p>
            <a:pPr marL="342900" lvl="0" indent="-342900" algn="just">
              <a:buFont typeface="+mj-lt"/>
              <a:buAutoNum type="arabicPeriod"/>
              <a:defRPr/>
            </a:pPr>
            <a:r>
              <a:rPr lang="en-US" sz="1600" b="1" dirty="0"/>
              <a:t>Technical: </a:t>
            </a:r>
            <a:r>
              <a:rPr lang="en-US" sz="1600" dirty="0"/>
              <a:t>Fully implementable with existing government tech.</a:t>
            </a:r>
          </a:p>
          <a:p>
            <a:pPr marL="342900" lvl="0" indent="-342900" algn="just">
              <a:buFont typeface="+mj-lt"/>
              <a:buAutoNum type="arabicPeriod"/>
              <a:defRPr/>
            </a:pPr>
            <a:r>
              <a:rPr lang="en-US" sz="1600" b="1" dirty="0"/>
              <a:t>Modularization: </a:t>
            </a:r>
            <a:r>
              <a:rPr lang="en-US" sz="1600" dirty="0"/>
              <a:t>Clearly </a:t>
            </a:r>
            <a:r>
              <a:rPr lang="en-US" sz="1600" dirty="0" err="1"/>
              <a:t>seperable</a:t>
            </a:r>
            <a:r>
              <a:rPr lang="en-US" sz="1600" dirty="0"/>
              <a:t> components with APIs.</a:t>
            </a:r>
          </a:p>
          <a:p>
            <a:pPr marL="342900" lvl="0" indent="-342900" algn="just">
              <a:buFont typeface="+mj-lt"/>
              <a:buAutoNum type="arabicPeriod"/>
              <a:defRPr/>
            </a:pPr>
            <a:r>
              <a:rPr lang="en-US" sz="1600" b="1" dirty="0"/>
              <a:t>Market: </a:t>
            </a:r>
            <a:r>
              <a:rPr lang="en-US" sz="1600" dirty="0"/>
              <a:t>High </a:t>
            </a:r>
            <a:r>
              <a:rPr lang="en-US" sz="1600" b="1" dirty="0"/>
              <a:t>adoption potential </a:t>
            </a:r>
            <a:r>
              <a:rPr lang="en-US" sz="1600" dirty="0"/>
              <a:t>in e-governance.</a:t>
            </a:r>
          </a:p>
          <a:p>
            <a:pPr marL="342900" lvl="0" indent="-342900" algn="just">
              <a:buFont typeface="+mj-lt"/>
              <a:buAutoNum type="arabicPeriod"/>
              <a:defRPr/>
            </a:pPr>
            <a:r>
              <a:rPr lang="en-US" sz="1600" b="1" dirty="0"/>
              <a:t>Economic: </a:t>
            </a:r>
            <a:r>
              <a:rPr lang="en-US" sz="1600" dirty="0"/>
              <a:t>Cost-effective with strong </a:t>
            </a:r>
            <a:r>
              <a:rPr lang="en-US" sz="1600" b="1" dirty="0"/>
              <a:t>ROI potential</a:t>
            </a:r>
            <a:r>
              <a:rPr lang="en-US" sz="1600" dirty="0"/>
              <a:t>.</a:t>
            </a:r>
            <a:endParaRPr lang="en-US" sz="1600" b="1" dirty="0"/>
          </a:p>
          <a:p>
            <a:pPr marL="342900" lvl="0" indent="-342900" algn="just">
              <a:buFont typeface="+mj-lt"/>
              <a:buAutoNum type="arabicPeriod"/>
              <a:defRPr/>
            </a:pPr>
            <a:endParaRPr lang="en-US" sz="16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AFEDBE20-6F52-B95B-4A86-875B90433B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6736" y="4677458"/>
            <a:ext cx="5770703" cy="1600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      Challenges:</a:t>
            </a:r>
          </a:p>
          <a:p>
            <a:pPr marL="342900" lvl="0" indent="-342900" algn="just">
              <a:buFont typeface="+mj-lt"/>
              <a:buAutoNum type="arabicPeriod"/>
              <a:defRPr/>
            </a:pPr>
            <a:r>
              <a:rPr lang="en-US" sz="1600" b="1" dirty="0"/>
              <a:t>Technical: </a:t>
            </a:r>
            <a:r>
              <a:rPr lang="en-US" sz="1600" dirty="0"/>
              <a:t>Integration with legacy government database.</a:t>
            </a:r>
          </a:p>
          <a:p>
            <a:pPr marL="342900" lvl="0" indent="-342900" algn="just">
              <a:buFont typeface="+mj-lt"/>
              <a:buAutoNum type="arabicPeriod"/>
              <a:defRPr/>
            </a:pPr>
            <a:r>
              <a:rPr lang="en-US" sz="1600" b="1" dirty="0"/>
              <a:t>Modularization: </a:t>
            </a:r>
            <a:r>
              <a:rPr lang="en-US" sz="1600" dirty="0"/>
              <a:t>Ensuring </a:t>
            </a:r>
            <a:r>
              <a:rPr lang="en-US" sz="1600" b="1" dirty="0"/>
              <a:t>Seamless data Flow </a:t>
            </a:r>
            <a:r>
              <a:rPr lang="en-US" sz="1600" dirty="0"/>
              <a:t>across modules.</a:t>
            </a:r>
          </a:p>
          <a:p>
            <a:pPr marL="342900" lvl="0" indent="-342900" algn="just">
              <a:buFont typeface="+mj-lt"/>
              <a:buAutoNum type="arabicPeriod"/>
              <a:defRPr/>
            </a:pPr>
            <a:r>
              <a:rPr lang="en-US" sz="1600" b="1" dirty="0"/>
              <a:t>Market: </a:t>
            </a:r>
            <a:r>
              <a:rPr lang="en-US" sz="1600" dirty="0"/>
              <a:t>Resistance to </a:t>
            </a:r>
            <a:r>
              <a:rPr lang="en-US" sz="1600" b="1" dirty="0"/>
              <a:t>digital transition </a:t>
            </a:r>
            <a:r>
              <a:rPr lang="en-US" sz="1600" dirty="0"/>
              <a:t>by agencies.</a:t>
            </a:r>
          </a:p>
          <a:p>
            <a:pPr marL="342900" lvl="0" indent="-342900" algn="just">
              <a:buFont typeface="+mj-lt"/>
              <a:buAutoNum type="arabicPeriod"/>
              <a:defRPr/>
            </a:pPr>
            <a:r>
              <a:rPr lang="en-US" sz="1600" b="1" dirty="0"/>
              <a:t>Economic: </a:t>
            </a:r>
            <a:r>
              <a:rPr lang="en-US" sz="1600" dirty="0"/>
              <a:t>Initial setup and </a:t>
            </a:r>
            <a:r>
              <a:rPr lang="en-US" sz="1600" dirty="0" err="1"/>
              <a:t>maintainance</a:t>
            </a:r>
            <a:r>
              <a:rPr lang="en-US" sz="1600" dirty="0"/>
              <a:t> cost concerns.</a:t>
            </a:r>
            <a:endParaRPr lang="en-US" sz="1600" b="1" dirty="0"/>
          </a:p>
          <a:p>
            <a:pPr marL="342900" lvl="0" indent="-342900" algn="just">
              <a:buFont typeface="+mj-lt"/>
              <a:buAutoNum type="arabicPeriod"/>
              <a:defRPr/>
            </a:pPr>
            <a:endParaRPr lang="en-US" sz="16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28B9D35A-4FD5-EA41-0C09-26F480B2EF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1697" y="1093325"/>
            <a:ext cx="5770703" cy="1600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      Use Cases:</a:t>
            </a:r>
          </a:p>
          <a:p>
            <a:pPr marL="342900" lvl="0" indent="-342900" algn="just">
              <a:buFont typeface="+mj-lt"/>
              <a:buAutoNum type="arabicPeriod"/>
              <a:defRPr/>
            </a:pPr>
            <a:r>
              <a:rPr lang="en-US" sz="1600" b="1" dirty="0"/>
              <a:t>Technical: </a:t>
            </a:r>
            <a:r>
              <a:rPr lang="en-US" sz="1600" dirty="0"/>
              <a:t>Real-time </a:t>
            </a:r>
            <a:r>
              <a:rPr lang="en-US" sz="1600" b="1" dirty="0"/>
              <a:t>fund tracking </a:t>
            </a:r>
            <a:r>
              <a:rPr lang="en-US" sz="1600" dirty="0"/>
              <a:t>and validation.</a:t>
            </a:r>
          </a:p>
          <a:p>
            <a:pPr marL="342900" lvl="0" indent="-342900" algn="just">
              <a:buFont typeface="+mj-lt"/>
              <a:buAutoNum type="arabicPeriod"/>
              <a:defRPr/>
            </a:pPr>
            <a:r>
              <a:rPr lang="en-US" sz="1600" b="1" dirty="0"/>
              <a:t>Modularization: </a:t>
            </a:r>
            <a:r>
              <a:rPr lang="en-US" sz="1600" dirty="0"/>
              <a:t>Independent monitoring for each component.</a:t>
            </a:r>
          </a:p>
          <a:p>
            <a:pPr marL="342900" lvl="0" indent="-342900" algn="just">
              <a:buFont typeface="+mj-lt"/>
              <a:buAutoNum type="arabicPeriod"/>
              <a:defRPr/>
            </a:pPr>
            <a:r>
              <a:rPr lang="en-US" sz="1600" b="1" dirty="0"/>
              <a:t>Market: </a:t>
            </a:r>
            <a:r>
              <a:rPr lang="en-US" sz="1600" dirty="0"/>
              <a:t>Transparency </a:t>
            </a:r>
            <a:r>
              <a:rPr lang="en-US" sz="1600" b="1" dirty="0"/>
              <a:t>portal for citizens and media.</a:t>
            </a:r>
          </a:p>
          <a:p>
            <a:pPr marL="342900" lvl="0" indent="-342900" algn="just">
              <a:buFont typeface="+mj-lt"/>
              <a:buAutoNum type="arabicPeriod"/>
              <a:defRPr/>
            </a:pPr>
            <a:r>
              <a:rPr lang="en-US" sz="1600" b="1" dirty="0"/>
              <a:t>Economic: </a:t>
            </a:r>
            <a:r>
              <a:rPr lang="en-US" sz="1600" dirty="0"/>
              <a:t>Optimized fund utilization reducing project delays.</a:t>
            </a:r>
            <a:endParaRPr lang="en-US" sz="1600" b="1" dirty="0"/>
          </a:p>
          <a:p>
            <a:pPr marL="342900" lvl="0" indent="-342900" algn="just">
              <a:buFont typeface="+mj-lt"/>
              <a:buAutoNum type="arabicPeriod"/>
              <a:defRPr/>
            </a:pPr>
            <a:endParaRPr lang="en-US" sz="16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3B6B095-DDAE-5E47-7189-E6287386A76C}"/>
              </a:ext>
            </a:extLst>
          </p:cNvPr>
          <p:cNvSpPr/>
          <p:nvPr/>
        </p:nvSpPr>
        <p:spPr>
          <a:xfrm>
            <a:off x="6292870" y="2708156"/>
            <a:ext cx="5444069" cy="3656617"/>
          </a:xfrm>
          <a:prstGeom prst="roundRect">
            <a:avLst/>
          </a:prstGeom>
          <a:solidFill>
            <a:srgbClr val="EAEAE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 Supporting Facts for feasibility &amp; Viability:</a:t>
            </a:r>
          </a:p>
          <a:p>
            <a:pPr algn="ctr"/>
            <a:endParaRPr lang="en-US" b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endParaRPr lang="en-US" sz="16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US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  Huge hospital dues: In July 2025, the Indian Medical      Association (IMA) reported that the Kerala government owed hospitals over ₹400 crore in pending payments under the scheme.</a:t>
            </a:r>
          </a:p>
          <a:p>
            <a:endParaRPr lang="en-US" b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US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  </a:t>
            </a:r>
            <a:r>
              <a:rPr lang="en-US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The revelation: The CAG's 2023 report tabled in Parliament exposed that hospitals in Kerala illegally received ₹2.60 crore by making fraudulent claims for treatment provided to patients who were already deceased.</a:t>
            </a:r>
            <a:endParaRPr lang="en-US" b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2050" name="Picture 2" descr="Feasibility - Free miscellaneous icons">
            <a:extLst>
              <a:ext uri="{FF2B5EF4-FFF2-40B4-BE49-F238E27FC236}">
                <a16:creationId xmlns:a16="http://schemas.microsoft.com/office/drawing/2014/main" id="{AB39C30D-8E1C-DDB0-26AA-5E25E5375B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736" y="1071222"/>
            <a:ext cx="432065" cy="432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41F6908-80CE-C957-336E-305FAB9053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550" y="2753400"/>
            <a:ext cx="509474" cy="539009"/>
          </a:xfrm>
          <a:prstGeom prst="rect">
            <a:avLst/>
          </a:prstGeom>
        </p:spPr>
      </p:pic>
      <p:pic>
        <p:nvPicPr>
          <p:cNvPr id="2054" name="Picture 6" descr="Challenges - Free business and finance icons">
            <a:extLst>
              <a:ext uri="{FF2B5EF4-FFF2-40B4-BE49-F238E27FC236}">
                <a16:creationId xmlns:a16="http://schemas.microsoft.com/office/drawing/2014/main" id="{4A4632CF-3223-C3BA-DD29-7B98D61C22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737" y="4553602"/>
            <a:ext cx="463101" cy="463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Use case - Free files and folders icons">
            <a:extLst>
              <a:ext uri="{FF2B5EF4-FFF2-40B4-BE49-F238E27FC236}">
                <a16:creationId xmlns:a16="http://schemas.microsoft.com/office/drawing/2014/main" id="{59170C24-4E11-D16A-5CA4-94028B4F00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1390" y="1032679"/>
            <a:ext cx="411480" cy="411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Graphic 16" descr="Star with solid fill">
            <a:extLst>
              <a:ext uri="{FF2B5EF4-FFF2-40B4-BE49-F238E27FC236}">
                <a16:creationId xmlns:a16="http://schemas.microsoft.com/office/drawing/2014/main" id="{870033FD-3115-E4DC-D4BD-887D730BE60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15773" y="2815711"/>
            <a:ext cx="365126" cy="365126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9FA0B8B-BC49-5FFB-7108-0E8CC2F1DA77}"/>
              </a:ext>
            </a:extLst>
          </p:cNvPr>
          <p:cNvCxnSpPr/>
          <p:nvPr/>
        </p:nvCxnSpPr>
        <p:spPr>
          <a:xfrm>
            <a:off x="6415773" y="3805084"/>
            <a:ext cx="24580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5FD668C-033E-7738-046A-A2E4BA29E182}"/>
              </a:ext>
            </a:extLst>
          </p:cNvPr>
          <p:cNvCxnSpPr/>
          <p:nvPr/>
        </p:nvCxnSpPr>
        <p:spPr>
          <a:xfrm>
            <a:off x="6415773" y="5107858"/>
            <a:ext cx="24580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8">
            <a:extLst>
              <a:ext uri="{FF2B5EF4-FFF2-40B4-BE49-F238E27FC236}">
                <a16:creationId xmlns:a16="http://schemas.microsoft.com/office/drawing/2014/main" id="{1341762C-77E1-F099-76C5-B2813683D4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14051" y="1558160"/>
            <a:ext cx="5628434" cy="54168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Benefits of the Solution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200" b="1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US" b="1" dirty="0"/>
              <a:t>Social: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Improved Community safety and awareness.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Enhanced citizen engagement with authorities.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Reduced social conflicts and </a:t>
            </a:r>
            <a:r>
              <a:rPr lang="en-US" sz="1600" dirty="0" err="1"/>
              <a:t>misundestandings</a:t>
            </a:r>
            <a:r>
              <a:rPr lang="en-US" sz="1600" dirty="0"/>
              <a:t>.</a:t>
            </a:r>
          </a:p>
          <a:p>
            <a:pPr algn="just"/>
            <a:r>
              <a:rPr lang="en-US" b="1" dirty="0"/>
              <a:t>Educational: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Better access to learning resources.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Increased digital literacy among citizens.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Promotes skill development and training.</a:t>
            </a:r>
          </a:p>
          <a:p>
            <a:pPr algn="just"/>
            <a:r>
              <a:rPr lang="en-US" b="1" dirty="0"/>
              <a:t>Economical: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Boosts local business opportunities efficiently.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Reduces operational costs for agencies.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Encourages employment and entrepreneurship</a:t>
            </a:r>
            <a:r>
              <a:rPr lang="en-US" dirty="0"/>
              <a:t>.</a:t>
            </a:r>
          </a:p>
          <a:p>
            <a:pPr algn="just"/>
            <a:r>
              <a:rPr lang="en-US" b="1" dirty="0"/>
              <a:t>Operational: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Optimizes workflow and resource allocation</a:t>
            </a:r>
            <a:r>
              <a:rPr lang="en-US" dirty="0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Reduces redundancy in processes.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Improves project monitoring and tracking.</a:t>
            </a:r>
            <a:endParaRPr lang="en-US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b="1" dirty="0"/>
          </a:p>
        </p:txBody>
      </p:sp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AA072DCA-63D2-01D9-4F79-DC3CB52BB27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82998" y="153504"/>
            <a:ext cx="1587517" cy="671986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ByteForge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8C49D6F-27C1-9937-6405-5D637E7FD5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Fund Utilisation Optimisation: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Smart Contracts ensure zero fund idling and efficient budget use.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B6BF0315-371A-61B9-B1B4-117F83DA71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997" y="4602027"/>
            <a:ext cx="6552099" cy="1754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Potential impact on </a:t>
            </a:r>
            <a:r>
              <a:rPr lang="en-US" sz="2200" b="1" u="sng" dirty="0" err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civillians</a:t>
            </a:r>
            <a:r>
              <a:rPr lang="en-US" sz="2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: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200" b="1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/>
              <a:t>Transparency in Fund Utilization:</a:t>
            </a:r>
            <a:r>
              <a:rPr lang="en-US" sz="1600" dirty="0"/>
              <a:t> Open Books on Funds.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/>
              <a:t>Community Empowerment:</a:t>
            </a:r>
            <a:r>
              <a:rPr lang="en-US" sz="1600" dirty="0"/>
              <a:t> Locals gain Oversight.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/>
              <a:t>Reduced Confusion:</a:t>
            </a:r>
            <a:r>
              <a:rPr lang="en-US" sz="1600" dirty="0"/>
              <a:t> Clear Roles end Confusion.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/>
              <a:t>Trust in Governance: </a:t>
            </a:r>
            <a:r>
              <a:rPr lang="en-US" sz="1600" dirty="0"/>
              <a:t>Builds Trust, fights Graft</a:t>
            </a:r>
            <a:endParaRPr lang="en-US" sz="1600" b="1" dirty="0"/>
          </a:p>
        </p:txBody>
      </p:sp>
      <p:pic>
        <p:nvPicPr>
          <p:cNvPr id="1038" name="Picture 14">
            <a:extLst>
              <a:ext uri="{FF2B5EF4-FFF2-40B4-BE49-F238E27FC236}">
                <a16:creationId xmlns:a16="http://schemas.microsoft.com/office/drawing/2014/main" id="{4487F53C-747E-D73C-DA14-10967502E8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64038"/>
            <a:ext cx="6950983" cy="3257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2CE21898-97AD-A3A8-1F2D-FD111BB60A6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82998" y="153504"/>
            <a:ext cx="1587517" cy="671986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ByteForge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8BB08F-E886-858C-FDB2-32CBBCB3CBAC}"/>
              </a:ext>
            </a:extLst>
          </p:cNvPr>
          <p:cNvSpPr txBox="1"/>
          <p:nvPr/>
        </p:nvSpPr>
        <p:spPr>
          <a:xfrm>
            <a:off x="457200" y="1546297"/>
            <a:ext cx="6096000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References: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800" b="1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US" sz="2000" b="1" dirty="0"/>
              <a:t>Official Release:</a:t>
            </a:r>
          </a:p>
          <a:p>
            <a:pPr algn="just"/>
            <a:r>
              <a:rPr lang="en-US" sz="2000" b="1" dirty="0">
                <a:solidFill>
                  <a:schemeClr val="accent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PM-AJAY</a:t>
            </a:r>
            <a:endParaRPr lang="en-US" sz="2000" b="1" dirty="0">
              <a:solidFill>
                <a:schemeClr val="accent1"/>
              </a:solidFill>
            </a:endParaRPr>
          </a:p>
          <a:p>
            <a:pPr algn="just"/>
            <a:r>
              <a:rPr lang="en-US" sz="2000" b="1" dirty="0">
                <a:solidFill>
                  <a:schemeClr val="accent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Official Release By Govt. Of India</a:t>
            </a:r>
            <a:endParaRPr lang="en-US" sz="2000" b="1" dirty="0">
              <a:solidFill>
                <a:schemeClr val="accent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CE2C598-85E6-60B1-2E09-34BF02FA8E13}"/>
              </a:ext>
            </a:extLst>
          </p:cNvPr>
          <p:cNvSpPr txBox="1"/>
          <p:nvPr/>
        </p:nvSpPr>
        <p:spPr>
          <a:xfrm>
            <a:off x="432619" y="3676174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1" dirty="0"/>
              <a:t>Supporting Facts</a:t>
            </a:r>
            <a:r>
              <a:rPr lang="en-US" sz="1800" b="1" dirty="0"/>
              <a:t>:</a:t>
            </a:r>
          </a:p>
          <a:p>
            <a:pPr algn="just"/>
            <a:r>
              <a:rPr lang="en-US" sz="2000" b="1" dirty="0">
                <a:solidFill>
                  <a:schemeClr val="accent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SCAMS</a:t>
            </a:r>
            <a:endParaRPr lang="en-US" sz="2000" b="1" dirty="0">
              <a:solidFill>
                <a:schemeClr val="accent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CCE067-AE17-ACEE-8CB9-495A83410F86}"/>
              </a:ext>
            </a:extLst>
          </p:cNvPr>
          <p:cNvSpPr txBox="1"/>
          <p:nvPr/>
        </p:nvSpPr>
        <p:spPr>
          <a:xfrm>
            <a:off x="5256733" y="1126669"/>
            <a:ext cx="670912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endParaRPr lang="en-US" sz="2400" b="1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u="sng" dirty="0" err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Comparision</a:t>
            </a:r>
            <a:r>
              <a:rPr lang="en-US" sz="24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with existing system:</a:t>
            </a: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2B285394-EE63-1C76-631C-1D366F4704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8329895"/>
              </p:ext>
            </p:extLst>
          </p:nvPr>
        </p:nvGraphicFramePr>
        <p:xfrm>
          <a:off x="5456381" y="2233076"/>
          <a:ext cx="6199761" cy="424638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2066587">
                  <a:extLst>
                    <a:ext uri="{9D8B030D-6E8A-4147-A177-3AD203B41FA5}">
                      <a16:colId xmlns:a16="http://schemas.microsoft.com/office/drawing/2014/main" val="2880376633"/>
                    </a:ext>
                  </a:extLst>
                </a:gridCol>
                <a:gridCol w="2066587">
                  <a:extLst>
                    <a:ext uri="{9D8B030D-6E8A-4147-A177-3AD203B41FA5}">
                      <a16:colId xmlns:a16="http://schemas.microsoft.com/office/drawing/2014/main" val="3623740901"/>
                    </a:ext>
                  </a:extLst>
                </a:gridCol>
                <a:gridCol w="2066587">
                  <a:extLst>
                    <a:ext uri="{9D8B030D-6E8A-4147-A177-3AD203B41FA5}">
                      <a16:colId xmlns:a16="http://schemas.microsoft.com/office/drawing/2014/main" val="3297916375"/>
                    </a:ext>
                  </a:extLst>
                </a:gridCol>
              </a:tblGrid>
              <a:tr h="69851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PM-AJAY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AJAYSETU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3605532"/>
                  </a:ext>
                </a:extLst>
              </a:tr>
              <a:tr h="726164">
                <a:tc>
                  <a:txBody>
                    <a:bodyPr/>
                    <a:lstStyle/>
                    <a:p>
                      <a:r>
                        <a:rPr lang="en-US" dirty="0"/>
                        <a:t>Digital Data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7013094"/>
                  </a:ext>
                </a:extLst>
              </a:tr>
              <a:tr h="698513">
                <a:tc>
                  <a:txBody>
                    <a:bodyPr/>
                    <a:lstStyle/>
                    <a:p>
                      <a:r>
                        <a:rPr lang="en-US" dirty="0"/>
                        <a:t>Geographic Mapping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1605534"/>
                  </a:ext>
                </a:extLst>
              </a:tr>
              <a:tr h="726164">
                <a:tc>
                  <a:txBody>
                    <a:bodyPr/>
                    <a:lstStyle/>
                    <a:p>
                      <a:r>
                        <a:rPr lang="en-US" dirty="0"/>
                        <a:t>Unified Multi-Agency Mapping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1446811"/>
                  </a:ext>
                </a:extLst>
              </a:tr>
              <a:tr h="698513">
                <a:tc>
                  <a:txBody>
                    <a:bodyPr/>
                    <a:lstStyle/>
                    <a:p>
                      <a:r>
                        <a:rPr lang="en-US" dirty="0"/>
                        <a:t>AI-Driven Insights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7293485"/>
                  </a:ext>
                </a:extLst>
              </a:tr>
              <a:tr h="698513">
                <a:tc>
                  <a:txBody>
                    <a:bodyPr/>
                    <a:lstStyle/>
                    <a:p>
                      <a:r>
                        <a:rPr lang="en-US" dirty="0"/>
                        <a:t>Public Portal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2834665"/>
                  </a:ext>
                </a:extLst>
              </a:tr>
            </a:tbl>
          </a:graphicData>
        </a:graphic>
      </p:graphicFrame>
      <p:pic>
        <p:nvPicPr>
          <p:cNvPr id="26" name="Graphic 25" descr="Checkmark with solid fill">
            <a:extLst>
              <a:ext uri="{FF2B5EF4-FFF2-40B4-BE49-F238E27FC236}">
                <a16:creationId xmlns:a16="http://schemas.microsoft.com/office/drawing/2014/main" id="{CEE30A2E-7FD8-0BDD-45D8-00E941AFFBB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160377" y="3090176"/>
            <a:ext cx="462467" cy="462467"/>
          </a:xfrm>
          <a:prstGeom prst="rect">
            <a:avLst/>
          </a:prstGeom>
        </p:spPr>
      </p:pic>
      <p:pic>
        <p:nvPicPr>
          <p:cNvPr id="27" name="Graphic 26" descr="Checkmark with solid fill">
            <a:extLst>
              <a:ext uri="{FF2B5EF4-FFF2-40B4-BE49-F238E27FC236}">
                <a16:creationId xmlns:a16="http://schemas.microsoft.com/office/drawing/2014/main" id="{7729F471-5DE1-9E07-CB1D-70A84806A08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390591" y="3027238"/>
            <a:ext cx="462467" cy="462467"/>
          </a:xfrm>
          <a:prstGeom prst="rect">
            <a:avLst/>
          </a:prstGeom>
        </p:spPr>
      </p:pic>
      <p:pic>
        <p:nvPicPr>
          <p:cNvPr id="28" name="Graphic 27" descr="Checkmark with solid fill">
            <a:extLst>
              <a:ext uri="{FF2B5EF4-FFF2-40B4-BE49-F238E27FC236}">
                <a16:creationId xmlns:a16="http://schemas.microsoft.com/office/drawing/2014/main" id="{7AE31E94-9D3F-4B38-063B-D16F1793EAC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07720" y="3728933"/>
            <a:ext cx="462467" cy="462467"/>
          </a:xfrm>
          <a:prstGeom prst="rect">
            <a:avLst/>
          </a:prstGeom>
        </p:spPr>
      </p:pic>
      <p:pic>
        <p:nvPicPr>
          <p:cNvPr id="29" name="Graphic 28" descr="Checkmark with solid fill">
            <a:extLst>
              <a:ext uri="{FF2B5EF4-FFF2-40B4-BE49-F238E27FC236}">
                <a16:creationId xmlns:a16="http://schemas.microsoft.com/office/drawing/2014/main" id="{1F1F99B2-9C20-487F-3546-E5D4C94D5A4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390590" y="3701265"/>
            <a:ext cx="462467" cy="462467"/>
          </a:xfrm>
          <a:prstGeom prst="rect">
            <a:avLst/>
          </a:prstGeom>
        </p:spPr>
      </p:pic>
      <p:pic>
        <p:nvPicPr>
          <p:cNvPr id="30" name="Graphic 29" descr="Checkmark with solid fill">
            <a:extLst>
              <a:ext uri="{FF2B5EF4-FFF2-40B4-BE49-F238E27FC236}">
                <a16:creationId xmlns:a16="http://schemas.microsoft.com/office/drawing/2014/main" id="{19457FD4-6E22-E137-F00C-B60B1B9B3B4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398672" y="4415178"/>
            <a:ext cx="462467" cy="462467"/>
          </a:xfrm>
          <a:prstGeom prst="rect">
            <a:avLst/>
          </a:prstGeom>
        </p:spPr>
      </p:pic>
      <p:pic>
        <p:nvPicPr>
          <p:cNvPr id="31" name="Graphic 30" descr="Checkmark with solid fill">
            <a:extLst>
              <a:ext uri="{FF2B5EF4-FFF2-40B4-BE49-F238E27FC236}">
                <a16:creationId xmlns:a16="http://schemas.microsoft.com/office/drawing/2014/main" id="{D5149EFE-6A64-ED70-C25C-757F0A49F20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390589" y="5109399"/>
            <a:ext cx="462467" cy="462467"/>
          </a:xfrm>
          <a:prstGeom prst="rect">
            <a:avLst/>
          </a:prstGeom>
        </p:spPr>
      </p:pic>
      <p:pic>
        <p:nvPicPr>
          <p:cNvPr id="32" name="Graphic 31" descr="Checkmark with solid fill">
            <a:extLst>
              <a:ext uri="{FF2B5EF4-FFF2-40B4-BE49-F238E27FC236}">
                <a16:creationId xmlns:a16="http://schemas.microsoft.com/office/drawing/2014/main" id="{A9675705-859E-23FD-A86F-8B7421AB9F1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398672" y="5847276"/>
            <a:ext cx="462467" cy="462467"/>
          </a:xfrm>
          <a:prstGeom prst="rect">
            <a:avLst/>
          </a:prstGeom>
        </p:spPr>
      </p:pic>
      <p:pic>
        <p:nvPicPr>
          <p:cNvPr id="34" name="Graphic 33" descr="Close with solid fill">
            <a:extLst>
              <a:ext uri="{FF2B5EF4-FFF2-40B4-BE49-F238E27FC236}">
                <a16:creationId xmlns:a16="http://schemas.microsoft.com/office/drawing/2014/main" id="{8632F6EA-AC66-70A6-0763-D57E65C1803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160377" y="4515353"/>
            <a:ext cx="470505" cy="470505"/>
          </a:xfrm>
          <a:prstGeom prst="rect">
            <a:avLst/>
          </a:prstGeom>
        </p:spPr>
      </p:pic>
      <p:pic>
        <p:nvPicPr>
          <p:cNvPr id="35" name="Graphic 34" descr="Close with solid fill">
            <a:extLst>
              <a:ext uri="{FF2B5EF4-FFF2-40B4-BE49-F238E27FC236}">
                <a16:creationId xmlns:a16="http://schemas.microsoft.com/office/drawing/2014/main" id="{6BA10D12-28F1-3A5B-F72E-6E641312E22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207720" y="5178987"/>
            <a:ext cx="470505" cy="470505"/>
          </a:xfrm>
          <a:prstGeom prst="rect">
            <a:avLst/>
          </a:prstGeom>
        </p:spPr>
      </p:pic>
      <p:pic>
        <p:nvPicPr>
          <p:cNvPr id="36" name="Graphic 35" descr="Close with solid fill">
            <a:extLst>
              <a:ext uri="{FF2B5EF4-FFF2-40B4-BE49-F238E27FC236}">
                <a16:creationId xmlns:a16="http://schemas.microsoft.com/office/drawing/2014/main" id="{9CE5BF26-2DF4-6C02-CA70-2AC54D013BF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207720" y="5870263"/>
            <a:ext cx="470505" cy="470505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232B950B-6C09-87B0-69D9-114DE8794513}"/>
              </a:ext>
            </a:extLst>
          </p:cNvPr>
          <p:cNvSpPr txBox="1"/>
          <p:nvPr/>
        </p:nvSpPr>
        <p:spPr>
          <a:xfrm>
            <a:off x="447368" y="4821273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1" dirty="0"/>
              <a:t>Prototype</a:t>
            </a:r>
            <a:r>
              <a:rPr lang="en-US" sz="1800" b="1" dirty="0"/>
              <a:t>:</a:t>
            </a: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8620</TotalTime>
  <Words>970</Words>
  <Application>Microsoft Office PowerPoint</Application>
  <PresentationFormat>Widescreen</PresentationFormat>
  <Paragraphs>125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2025</vt:lpstr>
      <vt:lpstr>AJAYSETU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SUHANI KUMARI</cp:lastModifiedBy>
  <cp:revision>155</cp:revision>
  <dcterms:created xsi:type="dcterms:W3CDTF">2013-12-12T18:46:50Z</dcterms:created>
  <dcterms:modified xsi:type="dcterms:W3CDTF">2025-10-15T14:59:07Z</dcterms:modified>
  <cp:category/>
</cp:coreProperties>
</file>