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Lane-following baseline</c:v>
                </c:pt>
              </c:strCache>
            </c:strRef>
          </c:tx>
          <c:spPr>
            <a:solidFill>
              <a:srgbClr val="C2C7D0"/>
            </a:solidFill>
            <a:effectLst/>
          </c:spPr>
          <c:invertIfNegative val="0"/>
          <c:dLbls>
            <c:numFmt formatCode="0&quot;%&quot;" sourceLinked="0"/>
            <c:txPr>
              <a:bodyPr/>
              <a:lstStyle/>
              <a:p>
                <a:pPr>
                  <a:defRPr b="0" i="0" strike="noStrike" sz="800" u="none">
                    <a:solidFill>
                      <a:srgbClr val="6B7280"/>
                    </a:solidFill>
                    <a:latin typeface="Arial"/>
                  </a:defRPr>
                </a:pPr>
              </a:p>
            </c:txPr>
            <c:showLegendKey val="0"/>
            <c:showVal val="1"/>
            <c:showCatName val="0"/>
            <c:showSerName val="0"/>
            <c:showPercent val="0"/>
            <c:showBubbleSize val="0"/>
            <c:showLeaderLines val="0"/>
          </c:dLbls>
          <c:cat>
            <c:multiLvlStrRef>
              <c:f>Sheet1!$A$2:$A$11</c:f>
              <c:multiLvlStrCache>
                <c:ptCount val="10"/>
                <c:lvl>
                  <c:pt idx="0">
                    <c:v>Bus Stop Overtake</c:v>
                  </c:pt>
                  <c:pt idx="1">
                    <c:v>Cattle Crossing Sudden</c:v>
                  </c:pt>
                  <c:pt idx="2">
                    <c:v>Construction Diversion</c:v>
                  </c:pt>
                  <c:pt idx="3">
                    <c:v>Highway Merge Slow</c:v>
                  </c:pt>
                  <c:pt idx="4">
                    <c:v>Market Dense Mixed</c:v>
                  </c:pt>
                  <c:pt idx="5">
                    <c:v>Narrow Bridge Oncoming</c:v>
                  </c:pt>
                  <c:pt idx="6">
                    <c:v>Night Highway Wrongway</c:v>
                  </c:pt>
                  <c:pt idx="7">
                    <c:v>School Zone Pedestrians</c:v>
                  </c:pt>
                  <c:pt idx="8">
                    <c:v>Urban Intersection Unsignalled</c:v>
                  </c:pt>
                  <c:pt idx="9">
                    <c:v>Village Road Unmarked</c:v>
                  </c:pt>
                </c:lvl>
              </c:multiLvlStrCache>
            </c:multiLvlStrRef>
          </c:cat>
          <c:val>
            <c:numRef>
              <c:f>Sheet1!$B$2:$B$11</c:f>
              <c:numCache>
                <c:formatCode>General</c:formatCode>
                <c:ptCount val="10"/>
                <c:pt idx="0">
                  <c:v>36.8</c:v>
                </c:pt>
                <c:pt idx="1">
                  <c:v>46.7</c:v>
                </c:pt>
                <c:pt idx="2">
                  <c:v>21.6</c:v>
                </c:pt>
                <c:pt idx="3">
                  <c:v>33</c:v>
                </c:pt>
                <c:pt idx="4">
                  <c:v>13</c:v>
                </c:pt>
                <c:pt idx="5">
                  <c:v>61.1</c:v>
                </c:pt>
                <c:pt idx="6">
                  <c:v>51.6</c:v>
                </c:pt>
                <c:pt idx="7">
                  <c:v>27.3</c:v>
                </c:pt>
                <c:pt idx="8">
                  <c:v>41</c:v>
                </c:pt>
                <c:pt idx="9">
                  <c:v>30.4</c:v>
                </c:pt>
              </c:numCache>
            </c:numRef>
          </c:val>
        </c:ser>
        <c:ser>
          <c:idx val="1"/>
          <c:order val="1"/>
          <c:tx>
            <c:strRef>
              <c:f>Sheet1!$C$1</c:f>
              <c:strCache>
                <c:ptCount val="1"/>
                <c:pt idx="0">
                  <c:v>SARATHI</c:v>
                </c:pt>
              </c:strCache>
            </c:strRef>
          </c:tx>
          <c:spPr>
            <a:solidFill>
              <a:srgbClr val="1F3864"/>
            </a:solidFill>
            <a:effectLst/>
          </c:spPr>
          <c:invertIfNegative val="0"/>
          <c:dLbls>
            <c:numFmt formatCode="0&quot;%&quot;" sourceLinked="0"/>
            <c:txPr>
              <a:bodyPr/>
              <a:lstStyle/>
              <a:p>
                <a:pPr>
                  <a:defRPr b="0" i="0" strike="noStrike" sz="800" u="none">
                    <a:solidFill>
                      <a:srgbClr val="6B7280"/>
                    </a:solidFill>
                    <a:latin typeface="Arial"/>
                  </a:defRPr>
                </a:pPr>
              </a:p>
            </c:txPr>
            <c:showLegendKey val="0"/>
            <c:showVal val="1"/>
            <c:showCatName val="0"/>
            <c:showSerName val="0"/>
            <c:showPercent val="0"/>
            <c:showBubbleSize val="0"/>
            <c:showLeaderLines val="0"/>
          </c:dLbls>
          <c:cat>
            <c:multiLvlStrRef>
              <c:f>Sheet1!$A$2:$A$11</c:f>
              <c:multiLvlStrCache>
                <c:ptCount val="10"/>
                <c:lvl>
                  <c:pt idx="0">
                    <c:v>Bus Stop Overtake</c:v>
                  </c:pt>
                  <c:pt idx="1">
                    <c:v>Cattle Crossing Sudden</c:v>
                  </c:pt>
                  <c:pt idx="2">
                    <c:v>Construction Diversion</c:v>
                  </c:pt>
                  <c:pt idx="3">
                    <c:v>Highway Merge Slow</c:v>
                  </c:pt>
                  <c:pt idx="4">
                    <c:v>Market Dense Mixed</c:v>
                  </c:pt>
                  <c:pt idx="5">
                    <c:v>Narrow Bridge Oncoming</c:v>
                  </c:pt>
                  <c:pt idx="6">
                    <c:v>Night Highway Wrongway</c:v>
                  </c:pt>
                  <c:pt idx="7">
                    <c:v>School Zone Pedestrians</c:v>
                  </c:pt>
                  <c:pt idx="8">
                    <c:v>Urban Intersection Unsignalled</c:v>
                  </c:pt>
                  <c:pt idx="9">
                    <c:v>Village Road Unmarked</c:v>
                  </c:pt>
                </c:lvl>
              </c:multiLvlStrCache>
            </c:multiLvlStrRef>
          </c:cat>
          <c:val>
            <c:numRef>
              <c:f>Sheet1!$C$2:$C$11</c:f>
              <c:numCache>
                <c:formatCode>General</c:formatCode>
                <c:ptCount val="10"/>
                <c:pt idx="0">
                  <c:v>34.6</c:v>
                </c:pt>
                <c:pt idx="1">
                  <c:v>49.8</c:v>
                </c:pt>
                <c:pt idx="2">
                  <c:v>27.4</c:v>
                </c:pt>
                <c:pt idx="3">
                  <c:v>40.3</c:v>
                </c:pt>
                <c:pt idx="4">
                  <c:v>22.1</c:v>
                </c:pt>
                <c:pt idx="5">
                  <c:v>61.2</c:v>
                </c:pt>
                <c:pt idx="6">
                  <c:v>40.2</c:v>
                </c:pt>
                <c:pt idx="7">
                  <c:v>61.9</c:v>
                </c:pt>
                <c:pt idx="8">
                  <c:v>48.3</c:v>
                </c:pt>
                <c:pt idx="9">
                  <c:v>47.6</c:v>
                </c:pt>
              </c:numCache>
            </c:numRef>
          </c:val>
        </c:ser>
        <c:dLbls>
          <c:numFmt formatCode="0&quot;%&quot;" sourceLinked="0"/>
          <c:txPr>
            <a:bodyPr/>
            <a:lstStyle/>
            <a:p>
              <a:pPr>
                <a:defRPr b="0" i="0" strike="noStrike" sz="800" u="none">
                  <a:solidFill>
                    <a:srgbClr val="6B728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A1D23"/>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9E9E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this deck is for us, not the judges. The submission deck is the other file. Read this one end to end once, then drill slides 21-23.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anyone skip slide 21. The weakest thing we can do is be surprised in public by a limitation we already know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seconds. Time yourself. If you run long, cut point 3 to one sentence, never point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 someone names a hazard, you name the stage that handles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 in pairs. One reads the question, the other answers in one sentence with no filler. Anyone who needs two sentences has not learned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502920" y="1965960"/>
            <a:ext cx="7498080" cy="1005840"/>
          </a:xfrm>
          <a:prstGeom prst="rect">
            <a:avLst/>
          </a:prstGeom>
          <a:noFill/>
          <a:ln/>
        </p:spPr>
        <p:txBody>
          <a:bodyPr wrap="square" lIns="0" tIns="0" rIns="0" bIns="0" rtlCol="0" anchor="ctr"/>
          <a:lstStyle/>
          <a:p>
            <a:pPr indent="0" marL="0">
              <a:buNone/>
            </a:pPr>
            <a:r>
              <a:rPr lang="en-US" sz="6000" b="1" spc="200" kern="0" dirty="0">
                <a:solidFill>
                  <a:srgbClr val="FFFFFF"/>
                </a:solidFill>
                <a:latin typeface="Arial" pitchFamily="34" charset="0"/>
                <a:ea typeface="Arial" pitchFamily="34" charset="-122"/>
                <a:cs typeface="Arial" pitchFamily="34" charset="-120"/>
              </a:rPr>
              <a:t>SARATHI</a:t>
            </a:r>
            <a:endParaRPr lang="en-US" sz="6000" dirty="0"/>
          </a:p>
        </p:txBody>
      </p:sp>
      <p:sp>
        <p:nvSpPr>
          <p:cNvPr id="3" name="Text 1"/>
          <p:cNvSpPr txBox="1"/>
          <p:nvPr/>
        </p:nvSpPr>
        <p:spPr>
          <a:xfrm>
            <a:off x="502920" y="2971800"/>
            <a:ext cx="7863840" cy="457200"/>
          </a:xfrm>
          <a:prstGeom prst="rect">
            <a:avLst/>
          </a:prstGeom>
          <a:noFill/>
          <a:ln/>
        </p:spPr>
        <p:txBody>
          <a:bodyPr wrap="square" lIns="0" tIns="0" rIns="0" bIns="0" rtlCol="0" anchor="ctr"/>
          <a:lstStyle/>
          <a:p>
            <a:pPr indent="0" marL="0">
              <a:buNone/>
            </a:pPr>
            <a:r>
              <a:rPr lang="en-US" sz="1900" dirty="0">
                <a:solidFill>
                  <a:srgbClr val="E8A33D"/>
                </a:solidFill>
                <a:latin typeface="Arial" pitchFamily="34" charset="0"/>
                <a:ea typeface="Arial" pitchFamily="34" charset="-122"/>
                <a:cs typeface="Arial" pitchFamily="34" charset="-120"/>
              </a:rPr>
              <a:t>Internal briefing — the version with nothing hidden</a:t>
            </a:r>
            <a:endParaRPr lang="en-US" sz="1900" dirty="0"/>
          </a:p>
        </p:txBody>
      </p:sp>
      <p:sp>
        <p:nvSpPr>
          <p:cNvPr id="4" name="Text 2"/>
          <p:cNvSpPr txBox="1"/>
          <p:nvPr/>
        </p:nvSpPr>
        <p:spPr>
          <a:xfrm>
            <a:off x="502920" y="3520440"/>
            <a:ext cx="6949440" cy="731520"/>
          </a:xfrm>
          <a:prstGeom prst="rect">
            <a:avLst/>
          </a:prstGeom>
          <a:noFill/>
          <a:ln/>
        </p:spPr>
        <p:txBody>
          <a:bodyPr wrap="square" lIns="0" tIns="0" rIns="0" bIns="0" rtlCol="0" anchor="ctr"/>
          <a:lstStyle/>
          <a:p>
            <a:pPr indent="0" marL="0">
              <a:lnSpc>
                <a:spcPct val="120000"/>
              </a:lnSpc>
              <a:buNone/>
            </a:pPr>
            <a:r>
              <a:rPr lang="en-US" sz="1300" dirty="0">
                <a:solidFill>
                  <a:srgbClr val="AEB4BF"/>
                </a:solidFill>
                <a:latin typeface="Arial" pitchFamily="34" charset="0"/>
                <a:ea typeface="Arial" pitchFamily="34" charset="-122"/>
                <a:cs typeface="Arial" pitchFamily="34" charset="-120"/>
              </a:rPr>
              <a:t>Everything the six of us need to explain, demonstrate and defend our SIH26037 entry — including the parts that do not work yet.</a:t>
            </a:r>
            <a:endParaRPr lang="en-US" sz="1300" dirty="0"/>
          </a:p>
        </p:txBody>
      </p:sp>
      <p:sp>
        <p:nvSpPr>
          <p:cNvPr id="5" name="Text 3"/>
          <p:cNvSpPr txBox="1"/>
          <p:nvPr/>
        </p:nvSpPr>
        <p:spPr>
          <a:xfrm>
            <a:off x="502920" y="5943600"/>
            <a:ext cx="8686800" cy="36576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SIH26037 · MathWorks · Adaptive path planning on unstructured Indian roads</a:t>
            </a:r>
            <a:endParaRPr lang="en-US" sz="1100" dirty="0"/>
          </a:p>
        </p:txBody>
      </p:sp>
      <p:pic>
        <p:nvPicPr>
          <p:cNvPr id="6" name="Image 0" descr="/home/user/automated-driving/artifacts/fig-night-bev.png">    </p:cNvPr>
          <p:cNvPicPr>
            <a:picLocks noChangeAspect="1"/>
          </p:cNvPicPr>
          <p:nvPr/>
        </p:nvPicPr>
        <p:blipFill>
          <a:blip r:embed="rId1"/>
          <a:stretch>
            <a:fillRect/>
          </a:stretch>
        </p:blipFill>
        <p:spPr>
          <a:xfrm>
            <a:off x="7680960" y="1920240"/>
            <a:ext cx="4023360"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47472"/>
            <a:ext cx="11183112"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How to use this deck</a:t>
            </a:r>
            <a:endParaRPr lang="en-US" sz="2700" dirty="0"/>
          </a:p>
        </p:txBody>
      </p:sp>
      <p:sp>
        <p:nvSpPr>
          <p:cNvPr id="3" name="Text 1"/>
          <p:cNvSpPr txBox="1"/>
          <p:nvPr/>
        </p:nvSpPr>
        <p:spPr>
          <a:xfrm>
            <a:off x="502920" y="868680"/>
            <a:ext cx="11183112"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Twenty minutes end to end. Then everyone drills their own section.</a:t>
            </a:r>
            <a:endParaRPr lang="en-US" sz="1300" dirty="0"/>
          </a:p>
        </p:txBody>
      </p:sp>
      <p:sp>
        <p:nvSpPr>
          <p:cNvPr id="4" name="Shape 2"/>
          <p:cNvSpPr/>
          <p:nvPr/>
        </p:nvSpPr>
        <p:spPr>
          <a:xfrm>
            <a:off x="502920" y="1463040"/>
            <a:ext cx="3657600" cy="2011680"/>
          </a:xfrm>
          <a:prstGeom prst="roundRect">
            <a:avLst>
              <a:gd name="adj" fmla="val 2727"/>
            </a:avLst>
          </a:prstGeom>
          <a:solidFill>
            <a:srgbClr val="F2F4F7"/>
          </a:solidFill>
          <a:ln w="12700">
            <a:solidFill>
              <a:srgbClr val="F2F4F7"/>
            </a:solidFill>
            <a:prstDash val="solid"/>
          </a:ln>
        </p:spPr>
      </p:sp>
      <p:sp>
        <p:nvSpPr>
          <p:cNvPr id="5" name="Text 3"/>
          <p:cNvSpPr txBox="1"/>
          <p:nvPr/>
        </p:nvSpPr>
        <p:spPr>
          <a:xfrm>
            <a:off x="667512" y="1581912"/>
            <a:ext cx="3328416" cy="177393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12151B"/>
                </a:solidFill>
                <a:latin typeface="Arial" pitchFamily="34" charset="0"/>
                <a:ea typeface="Arial" pitchFamily="34" charset="-122"/>
                <a:cs typeface="Arial" pitchFamily="34" charset="-120"/>
              </a:rPr>
              <a:t>Presenting (O4, anyone)</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Slides 1–3 are the pitch, in order.</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Slide 1 is the only one you must know verbatim.</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Never present a number that is not on slide 17.</a:t>
            </a:r>
            <a:endParaRPr lang="en-US" sz="1300" dirty="0"/>
          </a:p>
        </p:txBody>
      </p:sp>
      <p:sp>
        <p:nvSpPr>
          <p:cNvPr id="6" name="Shape 4"/>
          <p:cNvSpPr/>
          <p:nvPr/>
        </p:nvSpPr>
        <p:spPr>
          <a:xfrm>
            <a:off x="4389120" y="1463040"/>
            <a:ext cx="3657600" cy="2011680"/>
          </a:xfrm>
          <a:prstGeom prst="roundRect">
            <a:avLst>
              <a:gd name="adj" fmla="val 2727"/>
            </a:avLst>
          </a:prstGeom>
          <a:solidFill>
            <a:srgbClr val="F2F4F7"/>
          </a:solidFill>
          <a:ln w="12700">
            <a:solidFill>
              <a:srgbClr val="F2F4F7"/>
            </a:solidFill>
            <a:prstDash val="solid"/>
          </a:ln>
        </p:spPr>
      </p:sp>
      <p:sp>
        <p:nvSpPr>
          <p:cNvPr id="7" name="Text 5"/>
          <p:cNvSpPr txBox="1"/>
          <p:nvPr/>
        </p:nvSpPr>
        <p:spPr>
          <a:xfrm>
            <a:off x="4553712" y="1581912"/>
            <a:ext cx="3328416" cy="177393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12151B"/>
                </a:solidFill>
                <a:latin typeface="Arial" pitchFamily="34" charset="0"/>
                <a:ea typeface="Arial" pitchFamily="34" charset="-122"/>
                <a:cs typeface="Arial" pitchFamily="34" charset="-120"/>
              </a:rPr>
              <a:t>Driving the demo (B1, B2)</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Slides 15–16: the console, then the runbook.</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Rehearse the failure path, not just the happy one.</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One person drives, one person narrates. Never both.</a:t>
            </a:r>
            <a:endParaRPr lang="en-US" sz="1300" dirty="0"/>
          </a:p>
        </p:txBody>
      </p:sp>
      <p:sp>
        <p:nvSpPr>
          <p:cNvPr id="8" name="Shape 6"/>
          <p:cNvSpPr/>
          <p:nvPr/>
        </p:nvSpPr>
        <p:spPr>
          <a:xfrm>
            <a:off x="8275320" y="1463040"/>
            <a:ext cx="3657600" cy="2011680"/>
          </a:xfrm>
          <a:prstGeom prst="roundRect">
            <a:avLst>
              <a:gd name="adj" fmla="val 2727"/>
            </a:avLst>
          </a:prstGeom>
          <a:solidFill>
            <a:srgbClr val="F2F4F7"/>
          </a:solidFill>
          <a:ln w="12700">
            <a:solidFill>
              <a:srgbClr val="F2F4F7"/>
            </a:solidFill>
            <a:prstDash val="solid"/>
          </a:ln>
        </p:spPr>
      </p:sp>
      <p:sp>
        <p:nvSpPr>
          <p:cNvPr id="9" name="Text 7"/>
          <p:cNvSpPr txBox="1"/>
          <p:nvPr/>
        </p:nvSpPr>
        <p:spPr>
          <a:xfrm>
            <a:off x="8439912" y="1581912"/>
            <a:ext cx="3328416" cy="177393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12151B"/>
                </a:solidFill>
                <a:latin typeface="Arial" pitchFamily="34" charset="0"/>
                <a:ea typeface="Arial" pitchFamily="34" charset="-122"/>
                <a:cs typeface="Arial" pitchFamily="34" charset="-120"/>
              </a:rPr>
              <a:t>Everyone, without exception</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Slides 18–19: the weaknesses and the Q&amp;A drill.</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If a judge asks and you do not know — say so, then say who does.</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A confident wrong answer loses more marks than a gap.</a:t>
            </a:r>
            <a:endParaRPr lang="en-US" sz="1300" dirty="0"/>
          </a:p>
        </p:txBody>
      </p:sp>
      <p:sp>
        <p:nvSpPr>
          <p:cNvPr id="10" name="Shape 8"/>
          <p:cNvSpPr/>
          <p:nvPr/>
        </p:nvSpPr>
        <p:spPr>
          <a:xfrm>
            <a:off x="502920" y="3749040"/>
            <a:ext cx="11183112" cy="2103120"/>
          </a:xfrm>
          <a:prstGeom prst="roundRect">
            <a:avLst>
              <a:gd name="adj" fmla="val 2609"/>
            </a:avLst>
          </a:prstGeom>
          <a:solidFill>
            <a:srgbClr val="12151B"/>
          </a:solidFill>
          <a:ln w="12700">
            <a:solidFill>
              <a:srgbClr val="12151B"/>
            </a:solidFill>
            <a:prstDash val="solid"/>
          </a:ln>
        </p:spPr>
      </p:sp>
      <p:sp>
        <p:nvSpPr>
          <p:cNvPr id="11" name="Text 9"/>
          <p:cNvSpPr txBox="1"/>
          <p:nvPr/>
        </p:nvSpPr>
        <p:spPr>
          <a:xfrm>
            <a:off x="667512" y="3867912"/>
            <a:ext cx="10853928" cy="1865376"/>
          </a:xfrm>
          <a:prstGeom prst="rect">
            <a:avLst/>
          </a:prstGeom>
          <a:noFill/>
          <a:ln/>
        </p:spPr>
        <p:txBody>
          <a:bodyPr wrap="square" lIns="0" tIns="0" rIns="0" bIns="0" rtlCol="0" anchor="t"/>
          <a:lstStyle/>
          <a:p>
            <a:pPr indent="0" marL="0">
              <a:lnSpc>
                <a:spcPct val="106000"/>
              </a:lnSpc>
              <a:spcAft>
                <a:spcPts val="400"/>
              </a:spcAft>
              <a:buNone/>
            </a:pPr>
            <a:r>
              <a:rPr lang="en-US" sz="1400" b="1" dirty="0">
                <a:solidFill>
                  <a:srgbClr val="E8A33D"/>
                </a:solidFill>
                <a:latin typeface="Arial" pitchFamily="34" charset="0"/>
                <a:ea typeface="Arial" pitchFamily="34" charset="-122"/>
                <a:cs typeface="Arial" pitchFamily="34" charset="-120"/>
              </a:rPr>
              <a:t>The one idea this whole project rests on</a:t>
            </a:r>
            <a:endParaRPr lang="en-US" sz="1400" dirty="0"/>
          </a:p>
          <a:p>
            <a:pPr indent="0" marL="0">
              <a:lnSpc>
                <a:spcPct val="106000"/>
              </a:lnSpc>
              <a:spcAft>
                <a:spcPts val="400"/>
              </a:spcAft>
              <a:buNone/>
            </a:pPr>
            <a:r>
              <a:rPr lang="en-US" sz="1500" dirty="0">
                <a:solidFill>
                  <a:srgbClr val="E6E8EC"/>
                </a:solidFill>
                <a:latin typeface="Arial" pitchFamily="34" charset="0"/>
                <a:ea typeface="Arial" pitchFamily="34" charset="-122"/>
                <a:cs typeface="Arial" pitchFamily="34" charset="-120"/>
              </a:rPr>
              <a:t>Every production self-driving stack plans inside a lane. An Indian road does not have lanes — it has free space that is negotiated, and that changes every second. So we removed the lane from the planner entirely: the reference line is computed from where the road is actually free, and the obstacle map is a continuous risk field that knows what each road user is and what it might do next.</a:t>
            </a:r>
            <a:endParaRPr lang="en-US" sz="1400" dirty="0"/>
          </a:p>
          <a:p>
            <a:pPr indent="0" marL="0">
              <a:lnSpc>
                <a:spcPct val="106000"/>
              </a:lnSpc>
              <a:spcAft>
                <a:spcPts val="400"/>
              </a:spcAft>
              <a:buNone/>
            </a:pPr>
            <a:r>
              <a:rPr lang="en-US" sz="1500" dirty="0">
                <a:solidFill>
                  <a:srgbClr val="E6E8EC"/>
                </a:solidFill>
                <a:latin typeface="Arial" pitchFamily="34" charset="0"/>
                <a:ea typeface="Arial" pitchFamily="34" charset="-122"/>
                <a:cs typeface="Arial" pitchFamily="34" charset="-120"/>
              </a:rPr>
              <a:t>If you can say that paragraph in your own words, you can hold a conversation with any judge.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1</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The 60-second pitch</a:t>
            </a:r>
            <a:endParaRPr lang="en-US" sz="2700" dirty="0"/>
          </a:p>
        </p:txBody>
      </p:sp>
      <p:sp>
        <p:nvSpPr>
          <p:cNvPr id="5" name="Text 3"/>
          <p:cNvSpPr txBox="1"/>
          <p:nvPr/>
        </p:nvSpPr>
        <p:spPr>
          <a:xfrm>
            <a:off x="1069848" y="868680"/>
            <a:ext cx="10616184"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Say it in this order. It works.</a:t>
            </a:r>
            <a:endParaRPr lang="en-US" sz="1300" dirty="0"/>
          </a:p>
        </p:txBody>
      </p:sp>
      <p:sp>
        <p:nvSpPr>
          <p:cNvPr id="6" name="Shape 4"/>
          <p:cNvSpPr/>
          <p:nvPr/>
        </p:nvSpPr>
        <p:spPr>
          <a:xfrm>
            <a:off x="502920" y="1472184"/>
            <a:ext cx="365760" cy="365760"/>
          </a:xfrm>
          <a:prstGeom prst="ellipse">
            <a:avLst/>
          </a:prstGeom>
          <a:solidFill>
            <a:srgbClr val="E8A33D"/>
          </a:solidFill>
          <a:ln/>
        </p:spPr>
      </p:sp>
      <p:sp>
        <p:nvSpPr>
          <p:cNvPr id="7" name="Text 5"/>
          <p:cNvSpPr txBox="1"/>
          <p:nvPr/>
        </p:nvSpPr>
        <p:spPr>
          <a:xfrm>
            <a:off x="502920" y="1472184"/>
            <a:ext cx="365760" cy="365760"/>
          </a:xfrm>
          <a:prstGeom prst="rect">
            <a:avLst/>
          </a:prstGeom>
          <a:noFill/>
          <a:ln/>
        </p:spPr>
        <p:txBody>
          <a:bodyPr wrap="square" lIns="0" tIns="0" rIns="0" bIns="0" rtlCol="0" anchor="ctr"/>
          <a:lstStyle/>
          <a:p>
            <a:pPr algn="ctr" indent="0" marL="0">
              <a:buNone/>
            </a:pPr>
            <a:r>
              <a:rPr lang="en-US" sz="1300" b="1" dirty="0">
                <a:solidFill>
                  <a:srgbClr val="12151B"/>
                </a:solidFill>
                <a:latin typeface="Arial" pitchFamily="34" charset="0"/>
                <a:ea typeface="Arial" pitchFamily="34" charset="-122"/>
                <a:cs typeface="Arial" pitchFamily="34" charset="-120"/>
              </a:rPr>
              <a:t>1</a:t>
            </a:r>
            <a:endParaRPr lang="en-US" sz="1300" dirty="0"/>
          </a:p>
        </p:txBody>
      </p:sp>
      <p:sp>
        <p:nvSpPr>
          <p:cNvPr id="8" name="Text 6"/>
          <p:cNvSpPr txBox="1"/>
          <p:nvPr/>
        </p:nvSpPr>
        <p:spPr>
          <a:xfrm>
            <a:off x="1051560" y="1417320"/>
            <a:ext cx="6949440" cy="1143000"/>
          </a:xfrm>
          <a:prstGeom prst="rect">
            <a:avLst/>
          </a:prstGeom>
          <a:noFill/>
          <a:ln/>
        </p:spPr>
        <p:txBody>
          <a:bodyPr wrap="square" lIns="0" tIns="0" rIns="0" bIns="0" rtlCol="0" anchor="t"/>
          <a:lstStyle/>
          <a:p>
            <a:pPr indent="0" marL="0">
              <a:lnSpc>
                <a:spcPct val="110000"/>
              </a:lnSpc>
              <a:buNone/>
            </a:pPr>
            <a:r>
              <a:rPr lang="en-US" sz="1500" b="1" dirty="0">
                <a:solidFill>
                  <a:srgbClr val="12151B"/>
                </a:solidFill>
                <a:latin typeface="Arial" pitchFamily="34" charset="0"/>
                <a:ea typeface="Arial" pitchFamily="34" charset="-122"/>
                <a:cs typeface="Arial" pitchFamily="34" charset="-120"/>
              </a:rPr>
              <a:t>The problem  </a:t>
            </a:r>
            <a:pPr indent="0" marL="0">
              <a:lnSpc>
                <a:spcPct val="110000"/>
              </a:lnSpc>
              <a:buNone/>
            </a:pPr>
            <a:r>
              <a:rPr lang="en-US" sz="1300" dirty="0">
                <a:solidFill>
                  <a:srgbClr val="1A1D23"/>
                </a:solidFill>
                <a:latin typeface="Arial" pitchFamily="34" charset="0"/>
                <a:ea typeface="Arial" pitchFamily="34" charset="-122"/>
                <a:cs typeface="Arial" pitchFamily="34" charset="-120"/>
              </a:rPr>
              <a:t>Indian roads have no usable lane markings, and traffic is mixed and non-lane-based. Every production planner assumes both. That is why autonomy stalls here.</a:t>
            </a:r>
            <a:endParaRPr lang="en-US" sz="1500" dirty="0"/>
          </a:p>
        </p:txBody>
      </p:sp>
      <p:sp>
        <p:nvSpPr>
          <p:cNvPr id="9" name="Shape 7"/>
          <p:cNvSpPr/>
          <p:nvPr/>
        </p:nvSpPr>
        <p:spPr>
          <a:xfrm>
            <a:off x="502920" y="2679192"/>
            <a:ext cx="365760" cy="365760"/>
          </a:xfrm>
          <a:prstGeom prst="ellipse">
            <a:avLst/>
          </a:prstGeom>
          <a:solidFill>
            <a:srgbClr val="E8A33D"/>
          </a:solidFill>
          <a:ln/>
        </p:spPr>
      </p:sp>
      <p:sp>
        <p:nvSpPr>
          <p:cNvPr id="10" name="Text 8"/>
          <p:cNvSpPr txBox="1"/>
          <p:nvPr/>
        </p:nvSpPr>
        <p:spPr>
          <a:xfrm>
            <a:off x="502920" y="2679192"/>
            <a:ext cx="365760" cy="365760"/>
          </a:xfrm>
          <a:prstGeom prst="rect">
            <a:avLst/>
          </a:prstGeom>
          <a:noFill/>
          <a:ln/>
        </p:spPr>
        <p:txBody>
          <a:bodyPr wrap="square" lIns="0" tIns="0" rIns="0" bIns="0" rtlCol="0" anchor="ctr"/>
          <a:lstStyle/>
          <a:p>
            <a:pPr algn="ctr" indent="0" marL="0">
              <a:buNone/>
            </a:pPr>
            <a:r>
              <a:rPr lang="en-US" sz="1300" b="1" dirty="0">
                <a:solidFill>
                  <a:srgbClr val="12151B"/>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1051560" y="2624328"/>
            <a:ext cx="6949440" cy="1143000"/>
          </a:xfrm>
          <a:prstGeom prst="rect">
            <a:avLst/>
          </a:prstGeom>
          <a:noFill/>
          <a:ln/>
        </p:spPr>
        <p:txBody>
          <a:bodyPr wrap="square" lIns="0" tIns="0" rIns="0" bIns="0" rtlCol="0" anchor="t"/>
          <a:lstStyle/>
          <a:p>
            <a:pPr indent="0" marL="0">
              <a:lnSpc>
                <a:spcPct val="110000"/>
              </a:lnSpc>
              <a:buNone/>
            </a:pPr>
            <a:r>
              <a:rPr lang="en-US" sz="1500" b="1" dirty="0">
                <a:solidFill>
                  <a:srgbClr val="12151B"/>
                </a:solidFill>
                <a:latin typeface="Arial" pitchFamily="34" charset="0"/>
                <a:ea typeface="Arial" pitchFamily="34" charset="-122"/>
                <a:cs typeface="Arial" pitchFamily="34" charset="-120"/>
              </a:rPr>
              <a:t>The idea  </a:t>
            </a:r>
            <a:pPr indent="0" marL="0">
              <a:lnSpc>
                <a:spcPct val="110000"/>
              </a:lnSpc>
              <a:buNone/>
            </a:pPr>
            <a:r>
              <a:rPr lang="en-US" sz="1300" dirty="0">
                <a:solidFill>
                  <a:srgbClr val="1A1D23"/>
                </a:solidFill>
                <a:latin typeface="Arial" pitchFamily="34" charset="0"/>
                <a:ea typeface="Arial" pitchFamily="34" charset="-122"/>
                <a:cs typeface="Arial" pitchFamily="34" charset="-120"/>
              </a:rPr>
              <a:t>Replace the two primitives that break. The lane centreline becomes a drivable corridor solved from free space. The occupancy grid becomes a risk field that is class-aware, harm-weighted and predicted forward in time.</a:t>
            </a:r>
            <a:endParaRPr lang="en-US" sz="1500" dirty="0"/>
          </a:p>
        </p:txBody>
      </p:sp>
      <p:sp>
        <p:nvSpPr>
          <p:cNvPr id="12" name="Shape 10"/>
          <p:cNvSpPr/>
          <p:nvPr/>
        </p:nvSpPr>
        <p:spPr>
          <a:xfrm>
            <a:off x="502920" y="3886200"/>
            <a:ext cx="365760" cy="365760"/>
          </a:xfrm>
          <a:prstGeom prst="ellipse">
            <a:avLst/>
          </a:prstGeom>
          <a:solidFill>
            <a:srgbClr val="E8A33D"/>
          </a:solidFill>
          <a:ln/>
        </p:spPr>
      </p:sp>
      <p:sp>
        <p:nvSpPr>
          <p:cNvPr id="13" name="Text 11"/>
          <p:cNvSpPr txBox="1"/>
          <p:nvPr/>
        </p:nvSpPr>
        <p:spPr>
          <a:xfrm>
            <a:off x="502920" y="3886200"/>
            <a:ext cx="365760" cy="365760"/>
          </a:xfrm>
          <a:prstGeom prst="rect">
            <a:avLst/>
          </a:prstGeom>
          <a:noFill/>
          <a:ln/>
        </p:spPr>
        <p:txBody>
          <a:bodyPr wrap="square" lIns="0" tIns="0" rIns="0" bIns="0" rtlCol="0" anchor="ctr"/>
          <a:lstStyle/>
          <a:p>
            <a:pPr algn="ctr" indent="0" marL="0">
              <a:buNone/>
            </a:pPr>
            <a:r>
              <a:rPr lang="en-US" sz="1300" b="1" dirty="0">
                <a:solidFill>
                  <a:srgbClr val="12151B"/>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1051560" y="3831336"/>
            <a:ext cx="6949440" cy="1143000"/>
          </a:xfrm>
          <a:prstGeom prst="rect">
            <a:avLst/>
          </a:prstGeom>
          <a:noFill/>
          <a:ln/>
        </p:spPr>
        <p:txBody>
          <a:bodyPr wrap="square" lIns="0" tIns="0" rIns="0" bIns="0" rtlCol="0" anchor="t"/>
          <a:lstStyle/>
          <a:p>
            <a:pPr indent="0" marL="0">
              <a:lnSpc>
                <a:spcPct val="110000"/>
              </a:lnSpc>
              <a:buNone/>
            </a:pPr>
            <a:r>
              <a:rPr lang="en-US" sz="1500" b="1" dirty="0">
                <a:solidFill>
                  <a:srgbClr val="12151B"/>
                </a:solidFill>
                <a:latin typeface="Arial" pitchFamily="34" charset="0"/>
                <a:ea typeface="Arial" pitchFamily="34" charset="-122"/>
                <a:cs typeface="Arial" pitchFamily="34" charset="-120"/>
              </a:rPr>
              <a:t>The proof  </a:t>
            </a:r>
            <a:pPr indent="0" marL="0">
              <a:lnSpc>
                <a:spcPct val="110000"/>
              </a:lnSpc>
              <a:buNone/>
            </a:pPr>
            <a:r>
              <a:rPr lang="en-US" sz="1300" dirty="0">
                <a:solidFill>
                  <a:srgbClr val="1A1D23"/>
                </a:solidFill>
                <a:latin typeface="Arial" pitchFamily="34" charset="0"/>
                <a:ea typeface="Arial" pitchFamily="34" charset="-122"/>
                <a:cs typeface="Arial" pitchFamily="34" charset="-120"/>
              </a:rPr>
              <a:t>Ten scenarios, 3 seeds each, against a conventional lane-following planner on identical seeds and identical sensor noise. We publish the losses as well as the wins.</a:t>
            </a:r>
            <a:endParaRPr lang="en-US" sz="1500" dirty="0"/>
          </a:p>
        </p:txBody>
      </p:sp>
      <p:sp>
        <p:nvSpPr>
          <p:cNvPr id="15" name="Shape 13"/>
          <p:cNvSpPr/>
          <p:nvPr/>
        </p:nvSpPr>
        <p:spPr>
          <a:xfrm>
            <a:off x="502920" y="5093208"/>
            <a:ext cx="365760" cy="365760"/>
          </a:xfrm>
          <a:prstGeom prst="ellipse">
            <a:avLst/>
          </a:prstGeom>
          <a:solidFill>
            <a:srgbClr val="E8A33D"/>
          </a:solidFill>
          <a:ln/>
        </p:spPr>
      </p:sp>
      <p:sp>
        <p:nvSpPr>
          <p:cNvPr id="16" name="Text 14"/>
          <p:cNvSpPr txBox="1"/>
          <p:nvPr/>
        </p:nvSpPr>
        <p:spPr>
          <a:xfrm>
            <a:off x="502920" y="5093208"/>
            <a:ext cx="365760" cy="365760"/>
          </a:xfrm>
          <a:prstGeom prst="rect">
            <a:avLst/>
          </a:prstGeom>
          <a:noFill/>
          <a:ln/>
        </p:spPr>
        <p:txBody>
          <a:bodyPr wrap="square" lIns="0" tIns="0" rIns="0" bIns="0" rtlCol="0" anchor="ctr"/>
          <a:lstStyle/>
          <a:p>
            <a:pPr algn="ctr" indent="0" marL="0">
              <a:buNone/>
            </a:pPr>
            <a:r>
              <a:rPr lang="en-US" sz="1300" b="1" dirty="0">
                <a:solidFill>
                  <a:srgbClr val="12151B"/>
                </a:solidFill>
                <a:latin typeface="Arial" pitchFamily="34" charset="0"/>
                <a:ea typeface="Arial" pitchFamily="34" charset="-122"/>
                <a:cs typeface="Arial" pitchFamily="34" charset="-120"/>
              </a:rPr>
              <a:t>4</a:t>
            </a:r>
            <a:endParaRPr lang="en-US" sz="1300" dirty="0"/>
          </a:p>
        </p:txBody>
      </p:sp>
      <p:sp>
        <p:nvSpPr>
          <p:cNvPr id="17" name="Text 15"/>
          <p:cNvSpPr txBox="1"/>
          <p:nvPr/>
        </p:nvSpPr>
        <p:spPr>
          <a:xfrm>
            <a:off x="1051560" y="5038344"/>
            <a:ext cx="6949440" cy="1143000"/>
          </a:xfrm>
          <a:prstGeom prst="rect">
            <a:avLst/>
          </a:prstGeom>
          <a:noFill/>
          <a:ln/>
        </p:spPr>
        <p:txBody>
          <a:bodyPr wrap="square" lIns="0" tIns="0" rIns="0" bIns="0" rtlCol="0" anchor="t"/>
          <a:lstStyle/>
          <a:p>
            <a:pPr indent="0" marL="0">
              <a:lnSpc>
                <a:spcPct val="110000"/>
              </a:lnSpc>
              <a:buNone/>
            </a:pPr>
            <a:r>
              <a:rPr lang="en-US" sz="1500" b="1" dirty="0">
                <a:solidFill>
                  <a:srgbClr val="12151B"/>
                </a:solidFill>
                <a:latin typeface="Arial" pitchFamily="34" charset="0"/>
                <a:ea typeface="Arial" pitchFamily="34" charset="-122"/>
                <a:cs typeface="Arial" pitchFamily="34" charset="-120"/>
              </a:rPr>
              <a:t>The demo  </a:t>
            </a:r>
            <a:pPr indent="0" marL="0">
              <a:lnSpc>
                <a:spcPct val="110000"/>
              </a:lnSpc>
              <a:buNone/>
            </a:pPr>
            <a:r>
              <a:rPr lang="en-US" sz="1300" dirty="0">
                <a:solidFill>
                  <a:srgbClr val="1A1D23"/>
                </a:solidFill>
                <a:latin typeface="Arial" pitchFamily="34" charset="0"/>
                <a:ea typeface="Arial" pitchFamily="34" charset="-122"/>
                <a:cs typeface="Arial" pitchFamily="34" charset="-120"/>
              </a:rPr>
              <a:t>It is live. Drag a cow into our path with the mouse and the planner has never seen it before. Every threshold is exposed on screen and can be changed while it drives.</a:t>
            </a:r>
            <a:endParaRPr lang="en-US" sz="1500" dirty="0"/>
          </a:p>
        </p:txBody>
      </p:sp>
      <p:sp>
        <p:nvSpPr>
          <p:cNvPr id="18" name="Shape 16"/>
          <p:cNvSpPr/>
          <p:nvPr/>
        </p:nvSpPr>
        <p:spPr>
          <a:xfrm>
            <a:off x="8138160" y="1417320"/>
            <a:ext cx="3547872" cy="2286000"/>
          </a:xfrm>
          <a:prstGeom prst="roundRect">
            <a:avLst>
              <a:gd name="adj" fmla="val 2400"/>
            </a:avLst>
          </a:prstGeom>
          <a:solidFill>
            <a:srgbClr val="F2F4F7"/>
          </a:solidFill>
          <a:ln w="12700">
            <a:solidFill>
              <a:srgbClr val="F2F4F7"/>
            </a:solidFill>
            <a:prstDash val="solid"/>
          </a:ln>
        </p:spPr>
      </p:sp>
      <p:sp>
        <p:nvSpPr>
          <p:cNvPr id="19" name="Text 17"/>
          <p:cNvSpPr txBox="1"/>
          <p:nvPr/>
        </p:nvSpPr>
        <p:spPr>
          <a:xfrm>
            <a:off x="8302752" y="1536192"/>
            <a:ext cx="3218688" cy="204825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12151B"/>
                </a:solidFill>
                <a:latin typeface="Arial" pitchFamily="34" charset="0"/>
                <a:ea typeface="Arial" pitchFamily="34" charset="-122"/>
                <a:cs typeface="Arial" pitchFamily="34" charset="-120"/>
              </a:rPr>
              <a:t>Phrases that lose the room</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“basically it's like a normal self-driving car, but…”</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“we used AI to detect obstacles”</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“it works most of the time”</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Any sentence with three clauses in it.</a:t>
            </a:r>
            <a:endParaRPr lang="en-US" sz="1300" dirty="0"/>
          </a:p>
        </p:txBody>
      </p:sp>
      <p:sp>
        <p:nvSpPr>
          <p:cNvPr id="20" name="Shape 18"/>
          <p:cNvSpPr/>
          <p:nvPr/>
        </p:nvSpPr>
        <p:spPr>
          <a:xfrm>
            <a:off x="8138160" y="3886200"/>
            <a:ext cx="3547872" cy="2331720"/>
          </a:xfrm>
          <a:prstGeom prst="roundRect">
            <a:avLst>
              <a:gd name="adj" fmla="val 2353"/>
            </a:avLst>
          </a:prstGeom>
          <a:solidFill>
            <a:srgbClr val="12151B"/>
          </a:solidFill>
          <a:ln w="12700">
            <a:solidFill>
              <a:srgbClr val="12151B"/>
            </a:solidFill>
            <a:prstDash val="solid"/>
          </a:ln>
        </p:spPr>
      </p:sp>
      <p:sp>
        <p:nvSpPr>
          <p:cNvPr id="21" name="Text 19"/>
          <p:cNvSpPr txBox="1"/>
          <p:nvPr/>
        </p:nvSpPr>
        <p:spPr>
          <a:xfrm>
            <a:off x="8302752" y="4005072"/>
            <a:ext cx="3218688" cy="209397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E8A33D"/>
                </a:solidFill>
                <a:latin typeface="Arial" pitchFamily="34" charset="0"/>
                <a:ea typeface="Arial" pitchFamily="34" charset="-122"/>
                <a:cs typeface="Arial" pitchFamily="34" charset="-120"/>
              </a:rPr>
              <a:t>Open with the road, not the algorithm</a:t>
            </a:r>
            <a:endParaRPr lang="en-US" sz="1300" dirty="0"/>
          </a:p>
          <a:p>
            <a:pPr indent="0" marL="0">
              <a:lnSpc>
                <a:spcPct val="106000"/>
              </a:lnSpc>
              <a:spcAft>
                <a:spcPts val="400"/>
              </a:spcAft>
              <a:buNone/>
            </a:pPr>
            <a:r>
              <a:rPr lang="en-US" sz="1150" dirty="0">
                <a:solidFill>
                  <a:srgbClr val="E6E8EC"/>
                </a:solidFill>
                <a:latin typeface="Arial" pitchFamily="34" charset="0"/>
                <a:ea typeface="Arial" pitchFamily="34" charset="-122"/>
                <a:cs typeface="Arial" pitchFamily="34" charset="-120"/>
              </a:rPr>
              <a:t>Start with the road every judge has actually driven on. The moment they picture a market street with a cow in it, the rest of the pitch has somewhere to land.</a:t>
            </a:r>
            <a:endParaRPr lang="en-US" sz="1300" dirty="0"/>
          </a:p>
          <a:p>
            <a:pPr indent="0" marL="0">
              <a:lnSpc>
                <a:spcPct val="106000"/>
              </a:lnSpc>
              <a:spcAft>
                <a:spcPts val="400"/>
              </a:spcAft>
              <a:buNone/>
            </a:pPr>
            <a:r>
              <a:rPr lang="en-US" sz="1150" dirty="0">
                <a:solidFill>
                  <a:srgbClr val="E6E8EC"/>
                </a:solidFill>
                <a:latin typeface="Arial" pitchFamily="34" charset="0"/>
                <a:ea typeface="Arial" pitchFamily="34" charset="-122"/>
                <a:cs typeface="Arial" pitchFamily="34" charset="-120"/>
              </a:rPr>
              <a:t>Then, and only then, say the words 'drivable corridor' and 'risk field'.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2</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What the problem statement actually asks for</a:t>
            </a:r>
            <a:endParaRPr lang="en-US" sz="2700" dirty="0"/>
          </a:p>
        </p:txBody>
      </p:sp>
      <p:sp>
        <p:nvSpPr>
          <p:cNvPr id="5" name="Text 3"/>
          <p:cNvSpPr txBox="1"/>
          <p:nvPr/>
        </p:nvSpPr>
        <p:spPr>
          <a:xfrm>
            <a:off x="1069848" y="868680"/>
            <a:ext cx="10616184"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MathWorks wrote this. Every phrase in it is a scoring line.</a:t>
            </a:r>
            <a:endParaRPr lang="en-US" sz="1300" dirty="0"/>
          </a:p>
        </p:txBody>
      </p:sp>
      <p:sp>
        <p:nvSpPr>
          <p:cNvPr id="6" name="Text 4"/>
          <p:cNvSpPr txBox="1"/>
          <p:nvPr/>
        </p:nvSpPr>
        <p:spPr>
          <a:xfrm>
            <a:off x="502920" y="1463040"/>
            <a:ext cx="5577840" cy="4389120"/>
          </a:xfrm>
          <a:prstGeom prst="rect">
            <a:avLst/>
          </a:prstGeom>
          <a:noFill/>
          <a:ln/>
        </p:spPr>
        <p:txBody>
          <a:bodyPr wrap="square" lIns="0" tIns="0" rIns="0" bIns="0" rtlCol="0" anchor="t"/>
          <a:lstStyle/>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Adaptive path planning </a:t>
            </a:r>
            <a:pPr indent="0" marL="0">
              <a:lnSpc>
                <a:spcPct val="108000"/>
              </a:lnSpc>
              <a:spcAft>
                <a:spcPts val="700"/>
              </a:spcAft>
              <a:buNone/>
            </a:pPr>
            <a:r>
              <a:rPr lang="en-US" sz="1300" dirty="0">
                <a:solidFill>
                  <a:srgbClr val="1A1D23"/>
                </a:solidFill>
                <a:latin typeface="Arial" pitchFamily="34" charset="0"/>
                <a:ea typeface="Arial" pitchFamily="34" charset="-122"/>
                <a:cs typeface="Arial" pitchFamily="34" charset="-120"/>
              </a:rPr>
              <a:t>— a path that changes as the scene changes, not a fixed route</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Collision avoidance </a:t>
            </a:r>
            <a:pPr indent="0" marL="0">
              <a:lnSpc>
                <a:spcPct val="108000"/>
              </a:lnSpc>
              <a:spcAft>
                <a:spcPts val="700"/>
              </a:spcAft>
              <a:buNone/>
            </a:pPr>
            <a:r>
              <a:rPr lang="en-US" sz="1300" dirty="0">
                <a:solidFill>
                  <a:srgbClr val="1A1D23"/>
                </a:solidFill>
                <a:latin typeface="Arial" pitchFamily="34" charset="0"/>
                <a:ea typeface="Arial" pitchFamily="34" charset="-122"/>
                <a:cs typeface="Arial" pitchFamily="34" charset="-120"/>
              </a:rPr>
              <a:t>— with dynamic, unpredictable obstacles</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Unstructured roads </a:t>
            </a:r>
            <a:pPr indent="0" marL="0">
              <a:lnSpc>
                <a:spcPct val="108000"/>
              </a:lnSpc>
              <a:spcAft>
                <a:spcPts val="700"/>
              </a:spcAft>
              <a:buNone/>
            </a:pPr>
            <a:r>
              <a:rPr lang="en-US" sz="1300" dirty="0">
                <a:solidFill>
                  <a:srgbClr val="1A1D23"/>
                </a:solidFill>
                <a:latin typeface="Arial" pitchFamily="34" charset="0"/>
                <a:ea typeface="Arial" pitchFamily="34" charset="-122"/>
                <a:cs typeface="Arial" pitchFamily="34" charset="-120"/>
              </a:rPr>
              <a:t>— missing or unreliable lane markings, mixed traffic, encroachment</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Replanning latency </a:t>
            </a:r>
            <a:pPr indent="0" marL="0">
              <a:lnSpc>
                <a:spcPct val="108000"/>
              </a:lnSpc>
              <a:spcAft>
                <a:spcPts val="700"/>
              </a:spcAft>
              <a:buNone/>
            </a:pPr>
            <a:r>
              <a:rPr lang="en-US" sz="1300" dirty="0">
                <a:solidFill>
                  <a:srgbClr val="1A1D23"/>
                </a:solidFill>
                <a:latin typeface="Arial" pitchFamily="34" charset="0"/>
                <a:ea typeface="Arial" pitchFamily="34" charset="-122"/>
                <a:cs typeface="Arial" pitchFamily="34" charset="-120"/>
              </a:rPr>
              <a:t>— they will ask how fast the loop is, and want a number</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Path smoothness </a:t>
            </a:r>
            <a:pPr indent="0" marL="0">
              <a:lnSpc>
                <a:spcPct val="108000"/>
              </a:lnSpc>
              <a:spcAft>
                <a:spcPts val="700"/>
              </a:spcAft>
              <a:buNone/>
            </a:pPr>
            <a:r>
              <a:rPr lang="en-US" sz="1300" dirty="0">
                <a:solidFill>
                  <a:srgbClr val="1A1D23"/>
                </a:solidFill>
                <a:latin typeface="Arial" pitchFamily="34" charset="0"/>
                <a:ea typeface="Arial" pitchFamily="34" charset="-122"/>
                <a:cs typeface="Arial" pitchFamily="34" charset="-120"/>
              </a:rPr>
              <a:t>— jerk and curvature, not just 'it avoided the thing'</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MathWorks toolchain </a:t>
            </a:r>
            <a:pPr indent="0" marL="0">
              <a:lnSpc>
                <a:spcPct val="108000"/>
              </a:lnSpc>
              <a:spcAft>
                <a:spcPts val="700"/>
              </a:spcAft>
              <a:buNone/>
            </a:pPr>
            <a:r>
              <a:rPr lang="en-US" sz="1300" dirty="0">
                <a:solidFill>
                  <a:srgbClr val="1A1D23"/>
                </a:solidFill>
                <a:latin typeface="Arial" pitchFamily="34" charset="0"/>
                <a:ea typeface="Arial" pitchFamily="34" charset="-122"/>
                <a:cs typeface="Arial" pitchFamily="34" charset="-120"/>
              </a:rPr>
              <a:t>— MATLAB, Simulink, Stateflow, RoadRunner</a:t>
            </a:r>
            <a:endParaRPr lang="en-US" sz="1300" dirty="0"/>
          </a:p>
        </p:txBody>
      </p:sp>
      <p:sp>
        <p:nvSpPr>
          <p:cNvPr id="7" name="Shape 5"/>
          <p:cNvSpPr/>
          <p:nvPr/>
        </p:nvSpPr>
        <p:spPr>
          <a:xfrm>
            <a:off x="6400800" y="1463040"/>
            <a:ext cx="5285232" cy="2377440"/>
          </a:xfrm>
          <a:prstGeom prst="roundRect">
            <a:avLst>
              <a:gd name="adj" fmla="val 2308"/>
            </a:avLst>
          </a:prstGeom>
          <a:solidFill>
            <a:srgbClr val="F2F4F7"/>
          </a:solidFill>
          <a:ln w="12700">
            <a:solidFill>
              <a:srgbClr val="F2F4F7"/>
            </a:solidFill>
            <a:prstDash val="solid"/>
          </a:ln>
        </p:spPr>
      </p:sp>
      <p:sp>
        <p:nvSpPr>
          <p:cNvPr id="8" name="Text 6"/>
          <p:cNvSpPr txBox="1"/>
          <p:nvPr/>
        </p:nvSpPr>
        <p:spPr>
          <a:xfrm>
            <a:off x="6565392" y="1581912"/>
            <a:ext cx="4956048" cy="213969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12151B"/>
                </a:solidFill>
                <a:latin typeface="Arial" pitchFamily="34" charset="0"/>
                <a:ea typeface="Arial" pitchFamily="34" charset="-122"/>
                <a:cs typeface="Arial" pitchFamily="34" charset="-120"/>
              </a:rPr>
              <a:t>What they will actually test on the day</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Can you break it in front of them? (so we let them try)</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Do your numbers survive a follow-up question?</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Is anything on screen scripted or pre-rendered?</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Do you understand your own algorithm, or did you paste it?</a:t>
            </a:r>
            <a:endParaRPr lang="en-US" sz="1300" dirty="0"/>
          </a:p>
        </p:txBody>
      </p:sp>
      <p:sp>
        <p:nvSpPr>
          <p:cNvPr id="9" name="Shape 7"/>
          <p:cNvSpPr/>
          <p:nvPr/>
        </p:nvSpPr>
        <p:spPr>
          <a:xfrm>
            <a:off x="6400800" y="3977640"/>
            <a:ext cx="5285232" cy="2011680"/>
          </a:xfrm>
          <a:prstGeom prst="roundRect">
            <a:avLst>
              <a:gd name="adj" fmla="val 2727"/>
            </a:avLst>
          </a:prstGeom>
          <a:solidFill>
            <a:srgbClr val="12151B"/>
          </a:solidFill>
          <a:ln w="12700">
            <a:solidFill>
              <a:srgbClr val="12151B"/>
            </a:solidFill>
            <a:prstDash val="solid"/>
          </a:ln>
        </p:spPr>
      </p:sp>
      <p:sp>
        <p:nvSpPr>
          <p:cNvPr id="10" name="Text 8"/>
          <p:cNvSpPr txBox="1"/>
          <p:nvPr/>
        </p:nvSpPr>
        <p:spPr>
          <a:xfrm>
            <a:off x="6565392" y="4096512"/>
            <a:ext cx="4956048" cy="177393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E8A33D"/>
                </a:solidFill>
                <a:latin typeface="Arial" pitchFamily="34" charset="0"/>
                <a:ea typeface="Arial" pitchFamily="34" charset="-122"/>
                <a:cs typeface="Arial" pitchFamily="34" charset="-120"/>
              </a:rPr>
              <a:t>The trap to avoid</a:t>
            </a:r>
            <a:endParaRPr lang="en-US" sz="1300" dirty="0"/>
          </a:p>
          <a:p>
            <a:pPr indent="0" marL="0">
              <a:lnSpc>
                <a:spcPct val="106000"/>
              </a:lnSpc>
              <a:spcAft>
                <a:spcPts val="400"/>
              </a:spcAft>
              <a:buNone/>
            </a:pPr>
            <a:r>
              <a:rPr lang="en-US" sz="1150" dirty="0">
                <a:solidFill>
                  <a:srgbClr val="E6E8EC"/>
                </a:solidFill>
                <a:latin typeface="Arial" pitchFamily="34" charset="0"/>
                <a:ea typeface="Arial" pitchFamily="34" charset="-122"/>
                <a:cs typeface="Arial" pitchFamily="34" charset="-120"/>
              </a:rPr>
              <a:t>A judge from MathWorks knows the Frenet planning example in the Automated Driving Toolbox by heart. If our answer sounds like that example, we are one of forty teams. Our answer has to start at the corridor and the risk field — the parts that example does not have.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502920" y="2377440"/>
            <a:ext cx="5486400" cy="548640"/>
          </a:xfrm>
          <a:prstGeom prst="rect">
            <a:avLst/>
          </a:prstGeom>
          <a:noFill/>
          <a:ln/>
        </p:spPr>
        <p:txBody>
          <a:bodyPr wrap="square" lIns="0" tIns="0" rIns="0" bIns="0" rtlCol="0" anchor="ctr"/>
          <a:lstStyle/>
          <a:p>
            <a:pPr indent="0" marL="0">
              <a:buNone/>
            </a:pPr>
            <a:r>
              <a:rPr lang="en-US" sz="1500" spc="300" kern="0" dirty="0">
                <a:solidFill>
                  <a:srgbClr val="E8A33D"/>
                </a:solidFill>
                <a:latin typeface="Arial" pitchFamily="34" charset="0"/>
                <a:ea typeface="Arial" pitchFamily="34" charset="-122"/>
                <a:cs typeface="Arial" pitchFamily="34" charset="-120"/>
              </a:rPr>
              <a:t>Part 1</a:t>
            </a:r>
            <a:endParaRPr lang="en-US" sz="1500" dirty="0"/>
          </a:p>
        </p:txBody>
      </p:sp>
      <p:sp>
        <p:nvSpPr>
          <p:cNvPr id="3" name="Text 1"/>
          <p:cNvSpPr txBox="1"/>
          <p:nvPr/>
        </p:nvSpPr>
        <p:spPr>
          <a:xfrm>
            <a:off x="502920" y="2834640"/>
            <a:ext cx="1005840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How the thing works</a:t>
            </a:r>
            <a:endParaRPr lang="en-US" sz="4400" dirty="0"/>
          </a:p>
        </p:txBody>
      </p:sp>
      <p:sp>
        <p:nvSpPr>
          <p:cNvPr id="4" name="Text 2"/>
          <p:cNvSpPr txBox="1"/>
          <p:nvPr/>
        </p:nvSpPr>
        <p:spPr>
          <a:xfrm>
            <a:off x="502920" y="3840480"/>
            <a:ext cx="8686800" cy="640080"/>
          </a:xfrm>
          <a:prstGeom prst="rect">
            <a:avLst/>
          </a:prstGeom>
          <a:noFill/>
          <a:ln/>
        </p:spPr>
        <p:txBody>
          <a:bodyPr wrap="square" lIns="0" tIns="0" rIns="0" bIns="0" rtlCol="0" anchor="ctr"/>
          <a:lstStyle/>
          <a:p>
            <a:pPr indent="0" marL="0">
              <a:buNone/>
            </a:pPr>
            <a:r>
              <a:rPr lang="en-US" sz="1300" dirty="0">
                <a:solidFill>
                  <a:srgbClr val="AEB4BF"/>
                </a:solidFill>
                <a:latin typeface="Arial" pitchFamily="34" charset="0"/>
                <a:ea typeface="Arial" pitchFamily="34" charset="-122"/>
                <a:cs typeface="Arial" pitchFamily="34" charset="-120"/>
              </a:rPr>
              <a:t>Eight stages, twenty times a second. Learn the order — most judge questions are really 'which stage handles that?'</a:t>
            </a:r>
            <a:endParaRPr lang="en-US" sz="1300" dirty="0"/>
          </a:p>
        </p:txBody>
      </p:sp>
      <p:sp>
        <p:nvSpPr>
          <p:cNvPr id="5" name="Shape 3"/>
          <p:cNvSpPr/>
          <p:nvPr/>
        </p:nvSpPr>
        <p:spPr>
          <a:xfrm>
            <a:off x="502920" y="4937760"/>
            <a:ext cx="1467783" cy="457200"/>
          </a:xfrm>
          <a:prstGeom prst="chevron">
            <a:avLst/>
          </a:prstGeom>
          <a:solidFill>
            <a:srgbClr val="12151B"/>
          </a:solidFill>
          <a:ln w="12700">
            <a:solidFill>
              <a:srgbClr val="FFFFFF"/>
            </a:solidFill>
            <a:prstDash val="solid"/>
          </a:ln>
        </p:spPr>
      </p:sp>
      <p:sp>
        <p:nvSpPr>
          <p:cNvPr id="6" name="Text 4"/>
          <p:cNvSpPr txBox="1"/>
          <p:nvPr/>
        </p:nvSpPr>
        <p:spPr>
          <a:xfrm>
            <a:off x="502920" y="4937760"/>
            <a:ext cx="1467783"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SENSE</a:t>
            </a:r>
            <a:endParaRPr lang="en-US" sz="950" dirty="0"/>
          </a:p>
        </p:txBody>
      </p:sp>
      <p:sp>
        <p:nvSpPr>
          <p:cNvPr id="7" name="Shape 5"/>
          <p:cNvSpPr/>
          <p:nvPr/>
        </p:nvSpPr>
        <p:spPr>
          <a:xfrm>
            <a:off x="1900809" y="4937760"/>
            <a:ext cx="1467783" cy="457200"/>
          </a:xfrm>
          <a:prstGeom prst="chevron">
            <a:avLst/>
          </a:prstGeom>
          <a:solidFill>
            <a:srgbClr val="12151B"/>
          </a:solidFill>
          <a:ln w="12700">
            <a:solidFill>
              <a:srgbClr val="FFFFFF"/>
            </a:solidFill>
            <a:prstDash val="solid"/>
          </a:ln>
        </p:spPr>
      </p:sp>
      <p:sp>
        <p:nvSpPr>
          <p:cNvPr id="8" name="Text 6"/>
          <p:cNvSpPr txBox="1"/>
          <p:nvPr/>
        </p:nvSpPr>
        <p:spPr>
          <a:xfrm>
            <a:off x="1900809" y="4937760"/>
            <a:ext cx="1467783"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FUSE</a:t>
            </a:r>
            <a:endParaRPr lang="en-US" sz="950" dirty="0"/>
          </a:p>
        </p:txBody>
      </p:sp>
      <p:sp>
        <p:nvSpPr>
          <p:cNvPr id="9" name="Shape 7"/>
          <p:cNvSpPr/>
          <p:nvPr/>
        </p:nvSpPr>
        <p:spPr>
          <a:xfrm>
            <a:off x="3298698" y="4937760"/>
            <a:ext cx="1467783" cy="457200"/>
          </a:xfrm>
          <a:prstGeom prst="chevron">
            <a:avLst/>
          </a:prstGeom>
          <a:solidFill>
            <a:srgbClr val="12151B"/>
          </a:solidFill>
          <a:ln w="12700">
            <a:solidFill>
              <a:srgbClr val="FFFFFF"/>
            </a:solidFill>
            <a:prstDash val="solid"/>
          </a:ln>
        </p:spPr>
      </p:sp>
      <p:sp>
        <p:nvSpPr>
          <p:cNvPr id="10" name="Text 8"/>
          <p:cNvSpPr txBox="1"/>
          <p:nvPr/>
        </p:nvSpPr>
        <p:spPr>
          <a:xfrm>
            <a:off x="3298698" y="4937760"/>
            <a:ext cx="1467783"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PREDICT</a:t>
            </a:r>
            <a:endParaRPr lang="en-US" sz="950" dirty="0"/>
          </a:p>
        </p:txBody>
      </p:sp>
      <p:sp>
        <p:nvSpPr>
          <p:cNvPr id="11" name="Shape 9"/>
          <p:cNvSpPr/>
          <p:nvPr/>
        </p:nvSpPr>
        <p:spPr>
          <a:xfrm>
            <a:off x="4696587" y="4937760"/>
            <a:ext cx="1467783" cy="457200"/>
          </a:xfrm>
          <a:prstGeom prst="chevron">
            <a:avLst/>
          </a:prstGeom>
          <a:solidFill>
            <a:srgbClr val="12151B"/>
          </a:solidFill>
          <a:ln w="12700">
            <a:solidFill>
              <a:srgbClr val="FFFFFF"/>
            </a:solidFill>
            <a:prstDash val="solid"/>
          </a:ln>
        </p:spPr>
      </p:sp>
      <p:sp>
        <p:nvSpPr>
          <p:cNvPr id="12" name="Text 10"/>
          <p:cNvSpPr txBox="1"/>
          <p:nvPr/>
        </p:nvSpPr>
        <p:spPr>
          <a:xfrm>
            <a:off x="4696587" y="4937760"/>
            <a:ext cx="1467783"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RISK FIELD</a:t>
            </a:r>
            <a:endParaRPr lang="en-US" sz="950" dirty="0"/>
          </a:p>
        </p:txBody>
      </p:sp>
      <p:sp>
        <p:nvSpPr>
          <p:cNvPr id="13" name="Shape 11"/>
          <p:cNvSpPr/>
          <p:nvPr/>
        </p:nvSpPr>
        <p:spPr>
          <a:xfrm>
            <a:off x="6094476" y="4937760"/>
            <a:ext cx="1467783" cy="457200"/>
          </a:xfrm>
          <a:prstGeom prst="chevron">
            <a:avLst/>
          </a:prstGeom>
          <a:solidFill>
            <a:srgbClr val="12151B"/>
          </a:solidFill>
          <a:ln w="12700">
            <a:solidFill>
              <a:srgbClr val="FFFFFF"/>
            </a:solidFill>
            <a:prstDash val="solid"/>
          </a:ln>
        </p:spPr>
      </p:sp>
      <p:sp>
        <p:nvSpPr>
          <p:cNvPr id="14" name="Text 12"/>
          <p:cNvSpPr txBox="1"/>
          <p:nvPr/>
        </p:nvSpPr>
        <p:spPr>
          <a:xfrm>
            <a:off x="6094476" y="4937760"/>
            <a:ext cx="1467783"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CORRIDOR</a:t>
            </a:r>
            <a:endParaRPr lang="en-US" sz="950" dirty="0"/>
          </a:p>
        </p:txBody>
      </p:sp>
      <p:sp>
        <p:nvSpPr>
          <p:cNvPr id="15" name="Shape 13"/>
          <p:cNvSpPr/>
          <p:nvPr/>
        </p:nvSpPr>
        <p:spPr>
          <a:xfrm>
            <a:off x="7492365" y="4937760"/>
            <a:ext cx="1467783" cy="457200"/>
          </a:xfrm>
          <a:prstGeom prst="chevron">
            <a:avLst/>
          </a:prstGeom>
          <a:solidFill>
            <a:srgbClr val="12151B"/>
          </a:solidFill>
          <a:ln w="12700">
            <a:solidFill>
              <a:srgbClr val="FFFFFF"/>
            </a:solidFill>
            <a:prstDash val="solid"/>
          </a:ln>
        </p:spPr>
      </p:sp>
      <p:sp>
        <p:nvSpPr>
          <p:cNvPr id="16" name="Text 14"/>
          <p:cNvSpPr txBox="1"/>
          <p:nvPr/>
        </p:nvSpPr>
        <p:spPr>
          <a:xfrm>
            <a:off x="7492365" y="4937760"/>
            <a:ext cx="1467783"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BEHAVIOUR</a:t>
            </a:r>
            <a:endParaRPr lang="en-US" sz="950" dirty="0"/>
          </a:p>
        </p:txBody>
      </p:sp>
      <p:sp>
        <p:nvSpPr>
          <p:cNvPr id="17" name="Shape 15"/>
          <p:cNvSpPr/>
          <p:nvPr/>
        </p:nvSpPr>
        <p:spPr>
          <a:xfrm>
            <a:off x="8890254" y="4937760"/>
            <a:ext cx="1467783" cy="457200"/>
          </a:xfrm>
          <a:prstGeom prst="chevron">
            <a:avLst/>
          </a:prstGeom>
          <a:solidFill>
            <a:srgbClr val="12151B"/>
          </a:solidFill>
          <a:ln w="12700">
            <a:solidFill>
              <a:srgbClr val="FFFFFF"/>
            </a:solidFill>
            <a:prstDash val="solid"/>
          </a:ln>
        </p:spPr>
      </p:sp>
      <p:sp>
        <p:nvSpPr>
          <p:cNvPr id="18" name="Text 16"/>
          <p:cNvSpPr txBox="1"/>
          <p:nvPr/>
        </p:nvSpPr>
        <p:spPr>
          <a:xfrm>
            <a:off x="8890254" y="4937760"/>
            <a:ext cx="1467783"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LATTICE</a:t>
            </a:r>
            <a:endParaRPr lang="en-US" sz="950" dirty="0"/>
          </a:p>
        </p:txBody>
      </p:sp>
      <p:sp>
        <p:nvSpPr>
          <p:cNvPr id="19" name="Shape 17"/>
          <p:cNvSpPr/>
          <p:nvPr/>
        </p:nvSpPr>
        <p:spPr>
          <a:xfrm>
            <a:off x="10288143" y="4937760"/>
            <a:ext cx="1467783" cy="457200"/>
          </a:xfrm>
          <a:prstGeom prst="chevron">
            <a:avLst/>
          </a:prstGeom>
          <a:solidFill>
            <a:srgbClr val="12151B"/>
          </a:solidFill>
          <a:ln w="12700">
            <a:solidFill>
              <a:srgbClr val="FFFFFF"/>
            </a:solidFill>
            <a:prstDash val="solid"/>
          </a:ln>
        </p:spPr>
      </p:sp>
      <p:sp>
        <p:nvSpPr>
          <p:cNvPr id="20" name="Text 18"/>
          <p:cNvSpPr txBox="1"/>
          <p:nvPr/>
        </p:nvSpPr>
        <p:spPr>
          <a:xfrm>
            <a:off x="10288143" y="4937760"/>
            <a:ext cx="1467783"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RSS + CBF</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3</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Why the lane is the wrong primitive</a:t>
            </a:r>
            <a:endParaRPr lang="en-US" sz="2700" dirty="0"/>
          </a:p>
        </p:txBody>
      </p:sp>
      <p:sp>
        <p:nvSpPr>
          <p:cNvPr id="5" name="Text 3"/>
          <p:cNvSpPr txBox="1"/>
          <p:nvPr/>
        </p:nvSpPr>
        <p:spPr>
          <a:xfrm>
            <a:off x="1069848" y="868680"/>
            <a:ext cx="10616184"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This is the slide that makes us different from the other teams.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83112" cy="914400"/>
        </p:xfrm>
        <a:graphic>
          <a:graphicData uri="http://schemas.openxmlformats.org/drawingml/2006/table">
            <a:tbl>
              <a:tblPr/>
              <a:tblGrid>
                <a:gridCol w="2834640"/>
                <a:gridCol w="3657600"/>
                <a:gridCol w="4690872"/>
              </a:tblGrid>
              <a:tr h="566928">
                <a:tc>
                  <a:txBody>
                    <a:bodyPr/>
                    <a:lstStyle/>
                    <a:p>
                      <a:pPr indent="0" marL="0">
                        <a:buNone/>
                      </a:pPr>
                      <a:r>
                        <a:rPr lang="en-US" sz="1100" b="1" dirty="0">
                          <a:solidFill>
                            <a:srgbClr val="FFFFFF"/>
                          </a:solidFill>
                          <a:latin typeface="Arial" pitchFamily="34" charset="0"/>
                          <a:ea typeface="Arial" pitchFamily="34" charset="-122"/>
                          <a:cs typeface="Arial" pitchFamily="34" charset="-120"/>
                        </a:rPr>
                        <a:t>A conventional stack</a:t>
                      </a:r>
                      <a:endParaRPr lang="en-US" sz="110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12151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What breaks on an Indian road</a:t>
                      </a:r>
                      <a:endParaRPr lang="en-US" sz="110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12151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SARATHI instead</a:t>
                      </a:r>
                      <a:endParaRPr lang="en-US" sz="110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12151B"/>
                    </a:solidFill>
                  </a:tcPr>
                </a:tc>
              </a:tr>
              <a:tr h="566928">
                <a:tc>
                  <a:txBody>
                    <a:bodyPr/>
                    <a:lstStyle/>
                    <a:p>
                      <a:pPr indent="0" marL="0">
                        <a:buNone/>
                      </a:pPr>
                      <a:r>
                        <a:rPr lang="en-US" sz="1100" b="1" dirty="0">
                          <a:solidFill>
                            <a:srgbClr val="12151B"/>
                          </a:solidFill>
                          <a:latin typeface="Arial" pitchFamily="34" charset="0"/>
                          <a:ea typeface="Arial" pitchFamily="34" charset="-122"/>
                          <a:cs typeface="Arial" pitchFamily="34" charset="-120"/>
                        </a:rPr>
                        <a:t>Lane centreline as reference</a:t>
                      </a:r>
                      <a:endParaRPr lang="en-US" sz="110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100" dirty="0">
                          <a:solidFill>
                            <a:srgbClr val="1A1D23"/>
                          </a:solidFill>
                          <a:latin typeface="Arial" pitchFamily="34" charset="0"/>
                          <a:ea typeface="Arial" pitchFamily="34" charset="-122"/>
                          <a:cs typeface="Arial" pitchFamily="34" charset="-120"/>
                        </a:rPr>
                        <a:t>No markings, or markings nobody obeys</a:t>
                      </a:r>
                      <a:endParaRPr lang="en-US" sz="110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100" dirty="0">
                          <a:solidFill>
                            <a:srgbClr val="1A1D23"/>
                          </a:solidFill>
                          <a:latin typeface="Arial" pitchFamily="34" charset="0"/>
                          <a:ea typeface="Arial" pitchFamily="34" charset="-122"/>
                          <a:cs typeface="Arial" pitchFamily="34" charset="-120"/>
                        </a:rPr>
                        <a:t>Corridor: a dynamic program over free space, re-solved every tick</a:t>
                      </a:r>
                      <a:endParaRPr lang="en-US" sz="110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12151B"/>
                          </a:solidFill>
                          <a:latin typeface="Arial" pitchFamily="34" charset="0"/>
                          <a:ea typeface="Arial" pitchFamily="34" charset="-122"/>
                          <a:cs typeface="Arial" pitchFamily="34" charset="-120"/>
                        </a:rPr>
                        <a:t>Occupancy grid of obstacles</a:t>
                      </a:r>
                      <a:endParaRPr lang="en-US" sz="110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100" dirty="0">
                          <a:solidFill>
                            <a:srgbClr val="1A1D23"/>
                          </a:solidFill>
                          <a:latin typeface="Arial" pitchFamily="34" charset="0"/>
                          <a:ea typeface="Arial" pitchFamily="34" charset="-122"/>
                          <a:cs typeface="Arial" pitchFamily="34" charset="-120"/>
                        </a:rPr>
                        <a:t>A pothole and a child become the same wall</a:t>
                      </a:r>
                      <a:endParaRPr lang="en-US" sz="110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100" dirty="0">
                          <a:solidFill>
                            <a:srgbClr val="1A1D23"/>
                          </a:solidFill>
                          <a:latin typeface="Arial" pitchFamily="34" charset="0"/>
                          <a:ea typeface="Arial" pitchFamily="34" charset="-122"/>
                          <a:cs typeface="Arial" pitchFamily="34" charset="-120"/>
                        </a:rPr>
                        <a:t>Risk field: continuous, class-conditioned, harm-weighted</a:t>
                      </a:r>
                      <a:endParaRPr lang="en-US" sz="110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r>
              <a:tr h="566928">
                <a:tc>
                  <a:txBody>
                    <a:bodyPr/>
                    <a:lstStyle/>
                    <a:p>
                      <a:pPr indent="0" marL="0">
                        <a:buNone/>
                      </a:pPr>
                      <a:r>
                        <a:rPr lang="en-US" sz="1100" b="1" dirty="0">
                          <a:solidFill>
                            <a:srgbClr val="12151B"/>
                          </a:solidFill>
                          <a:latin typeface="Arial" pitchFamily="34" charset="0"/>
                          <a:ea typeface="Arial" pitchFamily="34" charset="-122"/>
                          <a:cs typeface="Arial" pitchFamily="34" charset="-120"/>
                        </a:rPr>
                        <a:t>One predicted path per object</a:t>
                      </a:r>
                      <a:endParaRPr lang="en-US" sz="110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100" dirty="0">
                          <a:solidFill>
                            <a:srgbClr val="1A1D23"/>
                          </a:solidFill>
                          <a:latin typeface="Arial" pitchFamily="34" charset="0"/>
                          <a:ea typeface="Arial" pitchFamily="34" charset="-122"/>
                          <a:cs typeface="Arial" pitchFamily="34" charset="-120"/>
                        </a:rPr>
                        <a:t>A rider filters or cuts in without warning</a:t>
                      </a:r>
                      <a:endParaRPr lang="en-US" sz="110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100" dirty="0">
                          <a:solidFill>
                            <a:srgbClr val="1A1D23"/>
                          </a:solidFill>
                          <a:latin typeface="Arial" pitchFamily="34" charset="0"/>
                          <a:ea typeface="Arial" pitchFamily="34" charset="-122"/>
                          <a:cs typeface="Arial" pitchFamily="34" charset="-120"/>
                        </a:rPr>
                        <a:t>Multi-modal intent, with covariance that grows with time</a:t>
                      </a:r>
                      <a:endParaRPr lang="en-US" sz="110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12151B"/>
                          </a:solidFill>
                          <a:latin typeface="Arial" pitchFamily="34" charset="0"/>
                          <a:ea typeface="Arial" pitchFamily="34" charset="-122"/>
                          <a:cs typeface="Arial" pitchFamily="34" charset="-120"/>
                        </a:rPr>
                        <a:t>Lane-change state machine</a:t>
                      </a:r>
                      <a:endParaRPr lang="en-US" sz="110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100" dirty="0">
                          <a:solidFill>
                            <a:srgbClr val="1A1D23"/>
                          </a:solidFill>
                          <a:latin typeface="Arial" pitchFamily="34" charset="0"/>
                          <a:ea typeface="Arial" pitchFamily="34" charset="-122"/>
                          <a:cs typeface="Arial" pitchFamily="34" charset="-120"/>
                        </a:rPr>
                        <a:t>Nothing to change lanes between</a:t>
                      </a:r>
                      <a:endParaRPr lang="en-US" sz="110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100" dirty="0">
                          <a:solidFill>
                            <a:srgbClr val="1A1D23"/>
                          </a:solidFill>
                          <a:latin typeface="Arial" pitchFamily="34" charset="0"/>
                          <a:ea typeface="Arial" pitchFamily="34" charset="-122"/>
                          <a:cs typeface="Arial" pitchFamily="34" charset="-120"/>
                        </a:rPr>
                        <a:t>Eight behaviours, including wrong-way evade</a:t>
                      </a:r>
                      <a:endParaRPr lang="en-US" sz="110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r>
              <a:tr h="566928">
                <a:tc>
                  <a:txBody>
                    <a:bodyPr/>
                    <a:lstStyle/>
                    <a:p>
                      <a:pPr indent="0" marL="0">
                        <a:buNone/>
                      </a:pPr>
                      <a:r>
                        <a:rPr lang="en-US" sz="1100" b="1" dirty="0">
                          <a:solidFill>
                            <a:srgbClr val="12151B"/>
                          </a:solidFill>
                          <a:latin typeface="Arial" pitchFamily="34" charset="0"/>
                          <a:ea typeface="Arial" pitchFamily="34" charset="-122"/>
                          <a:cs typeface="Arial" pitchFamily="34" charset="-120"/>
                        </a:rPr>
                        <a:t>Fixed safety envelope</a:t>
                      </a:r>
                      <a:endParaRPr lang="en-US" sz="110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100" dirty="0">
                          <a:solidFill>
                            <a:srgbClr val="1A1D23"/>
                          </a:solidFill>
                          <a:latin typeface="Arial" pitchFamily="34" charset="0"/>
                          <a:ea typeface="Arial" pitchFamily="34" charset="-122"/>
                          <a:cs typeface="Arial" pitchFamily="34" charset="-120"/>
                        </a:rPr>
                        <a:t>Nobody keeps a Western following distance</a:t>
                      </a:r>
                      <a:endParaRPr lang="en-US" sz="110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100" dirty="0">
                          <a:solidFill>
                            <a:srgbClr val="1A1D23"/>
                          </a:solidFill>
                          <a:latin typeface="Arial" pitchFamily="34" charset="0"/>
                          <a:ea typeface="Arial" pitchFamily="34" charset="-122"/>
                          <a:cs typeface="Arial" pitchFamily="34" charset="-120"/>
                        </a:rPr>
                        <a:t>RSS recalibrated to Indian gap acceptance, applied as a speed cap</a:t>
                      </a:r>
                      <a:endParaRPr lang="en-US" sz="110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5120640"/>
            <a:ext cx="11183112" cy="1005840"/>
          </a:xfrm>
          <a:prstGeom prst="roundRect">
            <a:avLst>
              <a:gd name="adj" fmla="val 5455"/>
            </a:avLst>
          </a:prstGeom>
          <a:solidFill>
            <a:srgbClr val="F2F4F7"/>
          </a:solidFill>
          <a:ln w="12700">
            <a:solidFill>
              <a:srgbClr val="F2F4F7"/>
            </a:solidFill>
            <a:prstDash val="solid"/>
          </a:ln>
        </p:spPr>
      </p:sp>
      <p:sp>
        <p:nvSpPr>
          <p:cNvPr id="8" name="Text 5"/>
          <p:cNvSpPr txBox="1"/>
          <p:nvPr/>
        </p:nvSpPr>
        <p:spPr>
          <a:xfrm>
            <a:off x="667512" y="5239512"/>
            <a:ext cx="10853928" cy="76809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12151B"/>
                </a:solidFill>
                <a:latin typeface="Arial" pitchFamily="34" charset="0"/>
                <a:ea typeface="Arial" pitchFamily="34" charset="-122"/>
                <a:cs typeface="Arial" pitchFamily="34" charset="-120"/>
              </a:rPr>
              <a:t>If you remember one sentence from this slide</a:t>
            </a:r>
            <a:endParaRPr lang="en-US" sz="1300" dirty="0"/>
          </a:p>
          <a:p>
            <a:pPr indent="0" marL="0">
              <a:lnSpc>
                <a:spcPct val="106000"/>
              </a:lnSpc>
              <a:spcAft>
                <a:spcPts val="400"/>
              </a:spcAft>
              <a:buNone/>
            </a:pPr>
            <a:r>
              <a:rPr lang="en-US" sz="1150" dirty="0">
                <a:solidFill>
                  <a:srgbClr val="1A1D23"/>
                </a:solidFill>
                <a:latin typeface="Arial" pitchFamily="34" charset="0"/>
                <a:ea typeface="Arial" pitchFamily="34" charset="-122"/>
                <a:cs typeface="Arial" pitchFamily="34" charset="-120"/>
              </a:rPr>
              <a:t>We did not add Indian conditions to a Western planner. We removed the assumption the Western planner is built 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4</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The system map</a:t>
            </a:r>
            <a:endParaRPr lang="en-US" sz="2700" dirty="0"/>
          </a:p>
        </p:txBody>
      </p:sp>
      <p:sp>
        <p:nvSpPr>
          <p:cNvPr id="5" name="Text 3"/>
          <p:cNvSpPr txBox="1"/>
          <p:nvPr/>
        </p:nvSpPr>
        <p:spPr>
          <a:xfrm>
            <a:off x="1069848" y="868680"/>
            <a:ext cx="10616184"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Every tick, in this order, at 20 Hz.</a:t>
            </a:r>
            <a:endParaRPr lang="en-US" sz="1300" dirty="0"/>
          </a:p>
        </p:txBody>
      </p:sp>
      <p:sp>
        <p:nvSpPr>
          <p:cNvPr id="6" name="Shape 4"/>
          <p:cNvSpPr/>
          <p:nvPr/>
        </p:nvSpPr>
        <p:spPr>
          <a:xfrm>
            <a:off x="502920" y="1417320"/>
            <a:ext cx="1467783" cy="457200"/>
          </a:xfrm>
          <a:prstGeom prst="chevron">
            <a:avLst/>
          </a:prstGeom>
          <a:solidFill>
            <a:srgbClr val="12151B"/>
          </a:solidFill>
          <a:ln w="12700">
            <a:solidFill>
              <a:srgbClr val="FFFFFF"/>
            </a:solidFill>
            <a:prstDash val="solid"/>
          </a:ln>
        </p:spPr>
      </p:sp>
      <p:sp>
        <p:nvSpPr>
          <p:cNvPr id="7" name="Text 5"/>
          <p:cNvSpPr txBox="1"/>
          <p:nvPr/>
        </p:nvSpPr>
        <p:spPr>
          <a:xfrm>
            <a:off x="502920" y="1417320"/>
            <a:ext cx="1467783"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SENSE</a:t>
            </a:r>
            <a:endParaRPr lang="en-US" sz="950" dirty="0"/>
          </a:p>
        </p:txBody>
      </p:sp>
      <p:sp>
        <p:nvSpPr>
          <p:cNvPr id="8" name="Shape 6"/>
          <p:cNvSpPr/>
          <p:nvPr/>
        </p:nvSpPr>
        <p:spPr>
          <a:xfrm>
            <a:off x="1900809" y="1417320"/>
            <a:ext cx="1467783" cy="457200"/>
          </a:xfrm>
          <a:prstGeom prst="chevron">
            <a:avLst/>
          </a:prstGeom>
          <a:solidFill>
            <a:srgbClr val="12151B"/>
          </a:solidFill>
          <a:ln w="12700">
            <a:solidFill>
              <a:srgbClr val="FFFFFF"/>
            </a:solidFill>
            <a:prstDash val="solid"/>
          </a:ln>
        </p:spPr>
      </p:sp>
      <p:sp>
        <p:nvSpPr>
          <p:cNvPr id="9" name="Text 7"/>
          <p:cNvSpPr txBox="1"/>
          <p:nvPr/>
        </p:nvSpPr>
        <p:spPr>
          <a:xfrm>
            <a:off x="1900809" y="1417320"/>
            <a:ext cx="1467783"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FUSE</a:t>
            </a:r>
            <a:endParaRPr lang="en-US" sz="950" dirty="0"/>
          </a:p>
        </p:txBody>
      </p:sp>
      <p:sp>
        <p:nvSpPr>
          <p:cNvPr id="10" name="Shape 8"/>
          <p:cNvSpPr/>
          <p:nvPr/>
        </p:nvSpPr>
        <p:spPr>
          <a:xfrm>
            <a:off x="3298698" y="1417320"/>
            <a:ext cx="1467783" cy="457200"/>
          </a:xfrm>
          <a:prstGeom prst="chevron">
            <a:avLst/>
          </a:prstGeom>
          <a:solidFill>
            <a:srgbClr val="12151B"/>
          </a:solidFill>
          <a:ln w="12700">
            <a:solidFill>
              <a:srgbClr val="FFFFFF"/>
            </a:solidFill>
            <a:prstDash val="solid"/>
          </a:ln>
        </p:spPr>
      </p:sp>
      <p:sp>
        <p:nvSpPr>
          <p:cNvPr id="11" name="Text 9"/>
          <p:cNvSpPr txBox="1"/>
          <p:nvPr/>
        </p:nvSpPr>
        <p:spPr>
          <a:xfrm>
            <a:off x="3298698" y="1417320"/>
            <a:ext cx="1467783"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PREDICT</a:t>
            </a:r>
            <a:endParaRPr lang="en-US" sz="950" dirty="0"/>
          </a:p>
        </p:txBody>
      </p:sp>
      <p:sp>
        <p:nvSpPr>
          <p:cNvPr id="12" name="Shape 10"/>
          <p:cNvSpPr/>
          <p:nvPr/>
        </p:nvSpPr>
        <p:spPr>
          <a:xfrm>
            <a:off x="4696587" y="1417320"/>
            <a:ext cx="1467783" cy="457200"/>
          </a:xfrm>
          <a:prstGeom prst="chevron">
            <a:avLst/>
          </a:prstGeom>
          <a:solidFill>
            <a:srgbClr val="12151B"/>
          </a:solidFill>
          <a:ln w="12700">
            <a:solidFill>
              <a:srgbClr val="FFFFFF"/>
            </a:solidFill>
            <a:prstDash val="solid"/>
          </a:ln>
        </p:spPr>
      </p:sp>
      <p:sp>
        <p:nvSpPr>
          <p:cNvPr id="13" name="Text 11"/>
          <p:cNvSpPr txBox="1"/>
          <p:nvPr/>
        </p:nvSpPr>
        <p:spPr>
          <a:xfrm>
            <a:off x="4696587" y="1417320"/>
            <a:ext cx="1467783"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RISK FIELD</a:t>
            </a:r>
            <a:endParaRPr lang="en-US" sz="950" dirty="0"/>
          </a:p>
        </p:txBody>
      </p:sp>
      <p:sp>
        <p:nvSpPr>
          <p:cNvPr id="14" name="Shape 12"/>
          <p:cNvSpPr/>
          <p:nvPr/>
        </p:nvSpPr>
        <p:spPr>
          <a:xfrm>
            <a:off x="6094476" y="1417320"/>
            <a:ext cx="1467783" cy="457200"/>
          </a:xfrm>
          <a:prstGeom prst="chevron">
            <a:avLst/>
          </a:prstGeom>
          <a:solidFill>
            <a:srgbClr val="12151B"/>
          </a:solidFill>
          <a:ln w="12700">
            <a:solidFill>
              <a:srgbClr val="FFFFFF"/>
            </a:solidFill>
            <a:prstDash val="solid"/>
          </a:ln>
        </p:spPr>
      </p:sp>
      <p:sp>
        <p:nvSpPr>
          <p:cNvPr id="15" name="Text 13"/>
          <p:cNvSpPr txBox="1"/>
          <p:nvPr/>
        </p:nvSpPr>
        <p:spPr>
          <a:xfrm>
            <a:off x="6094476" y="1417320"/>
            <a:ext cx="1467783"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CORRIDOR</a:t>
            </a:r>
            <a:endParaRPr lang="en-US" sz="950" dirty="0"/>
          </a:p>
        </p:txBody>
      </p:sp>
      <p:sp>
        <p:nvSpPr>
          <p:cNvPr id="16" name="Shape 14"/>
          <p:cNvSpPr/>
          <p:nvPr/>
        </p:nvSpPr>
        <p:spPr>
          <a:xfrm>
            <a:off x="7492365" y="1417320"/>
            <a:ext cx="1467783" cy="457200"/>
          </a:xfrm>
          <a:prstGeom prst="chevron">
            <a:avLst/>
          </a:prstGeom>
          <a:solidFill>
            <a:srgbClr val="12151B"/>
          </a:solidFill>
          <a:ln w="12700">
            <a:solidFill>
              <a:srgbClr val="FFFFFF"/>
            </a:solidFill>
            <a:prstDash val="solid"/>
          </a:ln>
        </p:spPr>
      </p:sp>
      <p:sp>
        <p:nvSpPr>
          <p:cNvPr id="17" name="Text 15"/>
          <p:cNvSpPr txBox="1"/>
          <p:nvPr/>
        </p:nvSpPr>
        <p:spPr>
          <a:xfrm>
            <a:off x="7492365" y="1417320"/>
            <a:ext cx="1467783"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BEHAVIOUR</a:t>
            </a:r>
            <a:endParaRPr lang="en-US" sz="950" dirty="0"/>
          </a:p>
        </p:txBody>
      </p:sp>
      <p:sp>
        <p:nvSpPr>
          <p:cNvPr id="18" name="Shape 16"/>
          <p:cNvSpPr/>
          <p:nvPr/>
        </p:nvSpPr>
        <p:spPr>
          <a:xfrm>
            <a:off x="8890254" y="1417320"/>
            <a:ext cx="1467783" cy="457200"/>
          </a:xfrm>
          <a:prstGeom prst="chevron">
            <a:avLst/>
          </a:prstGeom>
          <a:solidFill>
            <a:srgbClr val="12151B"/>
          </a:solidFill>
          <a:ln w="12700">
            <a:solidFill>
              <a:srgbClr val="FFFFFF"/>
            </a:solidFill>
            <a:prstDash val="solid"/>
          </a:ln>
        </p:spPr>
      </p:sp>
      <p:sp>
        <p:nvSpPr>
          <p:cNvPr id="19" name="Text 17"/>
          <p:cNvSpPr txBox="1"/>
          <p:nvPr/>
        </p:nvSpPr>
        <p:spPr>
          <a:xfrm>
            <a:off x="8890254" y="1417320"/>
            <a:ext cx="1467783"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LATTICE</a:t>
            </a:r>
            <a:endParaRPr lang="en-US" sz="950" dirty="0"/>
          </a:p>
        </p:txBody>
      </p:sp>
      <p:sp>
        <p:nvSpPr>
          <p:cNvPr id="20" name="Shape 18"/>
          <p:cNvSpPr/>
          <p:nvPr/>
        </p:nvSpPr>
        <p:spPr>
          <a:xfrm>
            <a:off x="10288143" y="1417320"/>
            <a:ext cx="1467783" cy="457200"/>
          </a:xfrm>
          <a:prstGeom prst="chevron">
            <a:avLst/>
          </a:prstGeom>
          <a:solidFill>
            <a:srgbClr val="12151B"/>
          </a:solidFill>
          <a:ln w="12700">
            <a:solidFill>
              <a:srgbClr val="FFFFFF"/>
            </a:solidFill>
            <a:prstDash val="solid"/>
          </a:ln>
        </p:spPr>
      </p:sp>
      <p:sp>
        <p:nvSpPr>
          <p:cNvPr id="21" name="Text 19"/>
          <p:cNvSpPr txBox="1"/>
          <p:nvPr/>
        </p:nvSpPr>
        <p:spPr>
          <a:xfrm>
            <a:off x="10288143" y="1417320"/>
            <a:ext cx="1467783"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RSS + CBF</a:t>
            </a:r>
            <a:endParaRPr lang="en-US" sz="950" dirty="0"/>
          </a:p>
        </p:txBody>
      </p:sp>
      <p:sp>
        <p:nvSpPr>
          <p:cNvPr id="22" name="Shape 20"/>
          <p:cNvSpPr/>
          <p:nvPr/>
        </p:nvSpPr>
        <p:spPr>
          <a:xfrm>
            <a:off x="502920" y="2103120"/>
            <a:ext cx="5440680" cy="969264"/>
          </a:xfrm>
          <a:prstGeom prst="roundRect">
            <a:avLst>
              <a:gd name="adj" fmla="val 5660"/>
            </a:avLst>
          </a:prstGeom>
          <a:solidFill>
            <a:srgbClr val="F2F4F7"/>
          </a:solidFill>
          <a:ln w="12700">
            <a:solidFill>
              <a:srgbClr val="F2F4F7"/>
            </a:solidFill>
            <a:prstDash val="solid"/>
          </a:ln>
        </p:spPr>
      </p:sp>
      <p:sp>
        <p:nvSpPr>
          <p:cNvPr id="23" name="Text 21"/>
          <p:cNvSpPr txBox="1"/>
          <p:nvPr/>
        </p:nvSpPr>
        <p:spPr>
          <a:xfrm>
            <a:off x="667512" y="2221992"/>
            <a:ext cx="5111496" cy="731520"/>
          </a:xfrm>
          <a:prstGeom prst="rect">
            <a:avLst/>
          </a:prstGeom>
          <a:noFill/>
          <a:ln/>
        </p:spPr>
        <p:txBody>
          <a:bodyPr wrap="square" lIns="0" tIns="0" rIns="0" bIns="0" rtlCol="0" anchor="t"/>
          <a:lstStyle/>
          <a:p>
            <a:pPr indent="0" marL="0">
              <a:lnSpc>
                <a:spcPct val="106000"/>
              </a:lnSpc>
              <a:spcAft>
                <a:spcPts val="400"/>
              </a:spcAft>
              <a:buNone/>
            </a:pPr>
            <a:r>
              <a:rPr lang="en-US" sz="1250" b="1" dirty="0">
                <a:solidFill>
                  <a:srgbClr val="12151B"/>
                </a:solidFill>
                <a:latin typeface="Arial" pitchFamily="34" charset="0"/>
                <a:ea typeface="Arial" pitchFamily="34" charset="-122"/>
                <a:cs typeface="Arial" pitchFamily="34" charset="-120"/>
              </a:rPr>
              <a:t>1. Sense</a:t>
            </a:r>
            <a:endParaRPr lang="en-US" sz="1250" dirty="0"/>
          </a:p>
          <a:p>
            <a:pPr indent="0" marL="0">
              <a:lnSpc>
                <a:spcPct val="106000"/>
              </a:lnSpc>
              <a:spcAft>
                <a:spcPts val="400"/>
              </a:spcAft>
              <a:buNone/>
            </a:pPr>
            <a:r>
              <a:rPr lang="en-US" sz="1100" dirty="0">
                <a:solidFill>
                  <a:srgbClr val="1A1D23"/>
                </a:solidFill>
                <a:latin typeface="Arial" pitchFamily="34" charset="0"/>
                <a:ea typeface="Arial" pitchFamily="34" charset="-122"/>
                <a:cs typeface="Arial" pitchFamily="34" charset="-120"/>
              </a:rPr>
              <a:t>Camera, LiDAR, radar. Range noise, dropout, class confusion, occlusion by angular intervals. We never plan on ground truth.</a:t>
            </a:r>
            <a:endParaRPr lang="en-US" sz="1250" dirty="0"/>
          </a:p>
        </p:txBody>
      </p:sp>
      <p:sp>
        <p:nvSpPr>
          <p:cNvPr id="24" name="Shape 22"/>
          <p:cNvSpPr/>
          <p:nvPr/>
        </p:nvSpPr>
        <p:spPr>
          <a:xfrm>
            <a:off x="6263640" y="2103120"/>
            <a:ext cx="5440680" cy="969264"/>
          </a:xfrm>
          <a:prstGeom prst="roundRect">
            <a:avLst>
              <a:gd name="adj" fmla="val 5660"/>
            </a:avLst>
          </a:prstGeom>
          <a:solidFill>
            <a:srgbClr val="F2F4F7"/>
          </a:solidFill>
          <a:ln w="12700">
            <a:solidFill>
              <a:srgbClr val="F2F4F7"/>
            </a:solidFill>
            <a:prstDash val="solid"/>
          </a:ln>
        </p:spPr>
      </p:sp>
      <p:sp>
        <p:nvSpPr>
          <p:cNvPr id="25" name="Text 23"/>
          <p:cNvSpPr txBox="1"/>
          <p:nvPr/>
        </p:nvSpPr>
        <p:spPr>
          <a:xfrm>
            <a:off x="6428232" y="2221992"/>
            <a:ext cx="5111496" cy="731520"/>
          </a:xfrm>
          <a:prstGeom prst="rect">
            <a:avLst/>
          </a:prstGeom>
          <a:noFill/>
          <a:ln/>
        </p:spPr>
        <p:txBody>
          <a:bodyPr wrap="square" lIns="0" tIns="0" rIns="0" bIns="0" rtlCol="0" anchor="t"/>
          <a:lstStyle/>
          <a:p>
            <a:pPr indent="0" marL="0">
              <a:lnSpc>
                <a:spcPct val="106000"/>
              </a:lnSpc>
              <a:spcAft>
                <a:spcPts val="400"/>
              </a:spcAft>
              <a:buNone/>
            </a:pPr>
            <a:r>
              <a:rPr lang="en-US" sz="1250" b="1" dirty="0">
                <a:solidFill>
                  <a:srgbClr val="12151B"/>
                </a:solidFill>
                <a:latin typeface="Arial" pitchFamily="34" charset="0"/>
                <a:ea typeface="Arial" pitchFamily="34" charset="-122"/>
                <a:cs typeface="Arial" pitchFamily="34" charset="-120"/>
              </a:rPr>
              <a:t>2. Fuse</a:t>
            </a:r>
            <a:endParaRPr lang="en-US" sz="1250" dirty="0"/>
          </a:p>
          <a:p>
            <a:pPr indent="0" marL="0">
              <a:lnSpc>
                <a:spcPct val="106000"/>
              </a:lnSpc>
              <a:spcAft>
                <a:spcPts val="400"/>
              </a:spcAft>
              <a:buNone/>
            </a:pPr>
            <a:r>
              <a:rPr lang="en-US" sz="1100" dirty="0">
                <a:solidFill>
                  <a:srgbClr val="1A1D23"/>
                </a:solidFill>
                <a:latin typeface="Arial" pitchFamily="34" charset="0"/>
                <a:ea typeface="Arial" pitchFamily="34" charset="-122"/>
                <a:cs typeface="Arial" pitchFamily="34" charset="-120"/>
              </a:rPr>
              <a:t>Constant-velocity Kalman tracks. Class fused as log-odds so two sightings can disagree without flipping.</a:t>
            </a:r>
            <a:endParaRPr lang="en-US" sz="1250" dirty="0"/>
          </a:p>
        </p:txBody>
      </p:sp>
      <p:sp>
        <p:nvSpPr>
          <p:cNvPr id="26" name="Shape 24"/>
          <p:cNvSpPr/>
          <p:nvPr/>
        </p:nvSpPr>
        <p:spPr>
          <a:xfrm>
            <a:off x="502920" y="3163824"/>
            <a:ext cx="5440680" cy="969264"/>
          </a:xfrm>
          <a:prstGeom prst="roundRect">
            <a:avLst>
              <a:gd name="adj" fmla="val 5660"/>
            </a:avLst>
          </a:prstGeom>
          <a:solidFill>
            <a:srgbClr val="F2F4F7"/>
          </a:solidFill>
          <a:ln w="12700">
            <a:solidFill>
              <a:srgbClr val="F2F4F7"/>
            </a:solidFill>
            <a:prstDash val="solid"/>
          </a:ln>
        </p:spPr>
      </p:sp>
      <p:sp>
        <p:nvSpPr>
          <p:cNvPr id="27" name="Text 25"/>
          <p:cNvSpPr txBox="1"/>
          <p:nvPr/>
        </p:nvSpPr>
        <p:spPr>
          <a:xfrm>
            <a:off x="667512" y="3282696"/>
            <a:ext cx="5111496" cy="731520"/>
          </a:xfrm>
          <a:prstGeom prst="rect">
            <a:avLst/>
          </a:prstGeom>
          <a:noFill/>
          <a:ln/>
        </p:spPr>
        <p:txBody>
          <a:bodyPr wrap="square" lIns="0" tIns="0" rIns="0" bIns="0" rtlCol="0" anchor="t"/>
          <a:lstStyle/>
          <a:p>
            <a:pPr indent="0" marL="0">
              <a:lnSpc>
                <a:spcPct val="106000"/>
              </a:lnSpc>
              <a:spcAft>
                <a:spcPts val="400"/>
              </a:spcAft>
              <a:buNone/>
            </a:pPr>
            <a:r>
              <a:rPr lang="en-US" sz="1250" b="1" dirty="0">
                <a:solidFill>
                  <a:srgbClr val="12151B"/>
                </a:solidFill>
                <a:latin typeface="Arial" pitchFamily="34" charset="0"/>
                <a:ea typeface="Arial" pitchFamily="34" charset="-122"/>
                <a:cs typeface="Arial" pitchFamily="34" charset="-120"/>
              </a:rPr>
              <a:t>3. Predict</a:t>
            </a:r>
            <a:endParaRPr lang="en-US" sz="1250" dirty="0"/>
          </a:p>
          <a:p>
            <a:pPr indent="0" marL="0">
              <a:lnSpc>
                <a:spcPct val="106000"/>
              </a:lnSpc>
              <a:spcAft>
                <a:spcPts val="400"/>
              </a:spcAft>
              <a:buNone/>
            </a:pPr>
            <a:r>
              <a:rPr lang="en-US" sz="1100" dirty="0">
                <a:solidFill>
                  <a:srgbClr val="1A1D23"/>
                </a:solidFill>
                <a:latin typeface="Arial" pitchFamily="34" charset="0"/>
                <a:ea typeface="Arial" pitchFamily="34" charset="-122"/>
                <a:cs typeface="Arial" pitchFamily="34" charset="-120"/>
              </a:rPr>
              <a:t>Per agent, a distribution over manoeuvres — continue, cut in, filter, stop, dart, wrong-way — conditioned on its class.</a:t>
            </a:r>
            <a:endParaRPr lang="en-US" sz="1250" dirty="0"/>
          </a:p>
        </p:txBody>
      </p:sp>
      <p:sp>
        <p:nvSpPr>
          <p:cNvPr id="28" name="Shape 26"/>
          <p:cNvSpPr/>
          <p:nvPr/>
        </p:nvSpPr>
        <p:spPr>
          <a:xfrm>
            <a:off x="6263640" y="3163824"/>
            <a:ext cx="5440680" cy="969264"/>
          </a:xfrm>
          <a:prstGeom prst="roundRect">
            <a:avLst>
              <a:gd name="adj" fmla="val 5660"/>
            </a:avLst>
          </a:prstGeom>
          <a:solidFill>
            <a:srgbClr val="F2F4F7"/>
          </a:solidFill>
          <a:ln w="12700">
            <a:solidFill>
              <a:srgbClr val="F2F4F7"/>
            </a:solidFill>
            <a:prstDash val="solid"/>
          </a:ln>
        </p:spPr>
      </p:sp>
      <p:sp>
        <p:nvSpPr>
          <p:cNvPr id="29" name="Text 27"/>
          <p:cNvSpPr txBox="1"/>
          <p:nvPr/>
        </p:nvSpPr>
        <p:spPr>
          <a:xfrm>
            <a:off x="6428232" y="3282696"/>
            <a:ext cx="5111496" cy="731520"/>
          </a:xfrm>
          <a:prstGeom prst="rect">
            <a:avLst/>
          </a:prstGeom>
          <a:noFill/>
          <a:ln/>
        </p:spPr>
        <p:txBody>
          <a:bodyPr wrap="square" lIns="0" tIns="0" rIns="0" bIns="0" rtlCol="0" anchor="t"/>
          <a:lstStyle/>
          <a:p>
            <a:pPr indent="0" marL="0">
              <a:lnSpc>
                <a:spcPct val="106000"/>
              </a:lnSpc>
              <a:spcAft>
                <a:spcPts val="400"/>
              </a:spcAft>
              <a:buNone/>
            </a:pPr>
            <a:r>
              <a:rPr lang="en-US" sz="1250" b="1" dirty="0">
                <a:solidFill>
                  <a:srgbClr val="12151B"/>
                </a:solidFill>
                <a:latin typeface="Arial" pitchFamily="34" charset="0"/>
                <a:ea typeface="Arial" pitchFamily="34" charset="-122"/>
                <a:cs typeface="Arial" pitchFamily="34" charset="-120"/>
              </a:rPr>
              <a:t>4. Risk field</a:t>
            </a:r>
            <a:endParaRPr lang="en-US" sz="1250" dirty="0"/>
          </a:p>
          <a:p>
            <a:pPr indent="0" marL="0">
              <a:lnSpc>
                <a:spcPct val="106000"/>
              </a:lnSpc>
              <a:spcAft>
                <a:spcPts val="400"/>
              </a:spcAft>
              <a:buNone/>
            </a:pPr>
            <a:r>
              <a:rPr lang="en-US" sz="1100" dirty="0">
                <a:solidFill>
                  <a:srgbClr val="1A1D23"/>
                </a:solidFill>
                <a:latin typeface="Arial" pitchFamily="34" charset="0"/>
                <a:ea typeface="Arial" pitchFamily="34" charset="-122"/>
                <a:cs typeface="Arial" pitchFamily="34" charset="-120"/>
              </a:rPr>
              <a:t>Each hypothesis becomes an anisotropic kernel: a flat core the size of the body, a skirt sized by uncertainty, weighted by how badly hitting it would hurt.</a:t>
            </a:r>
            <a:endParaRPr lang="en-US" sz="1250" dirty="0"/>
          </a:p>
        </p:txBody>
      </p:sp>
      <p:sp>
        <p:nvSpPr>
          <p:cNvPr id="30" name="Shape 28"/>
          <p:cNvSpPr/>
          <p:nvPr/>
        </p:nvSpPr>
        <p:spPr>
          <a:xfrm>
            <a:off x="502920" y="4224528"/>
            <a:ext cx="5440680" cy="969264"/>
          </a:xfrm>
          <a:prstGeom prst="roundRect">
            <a:avLst>
              <a:gd name="adj" fmla="val 5660"/>
            </a:avLst>
          </a:prstGeom>
          <a:solidFill>
            <a:srgbClr val="F2F4F7"/>
          </a:solidFill>
          <a:ln w="12700">
            <a:solidFill>
              <a:srgbClr val="F2F4F7"/>
            </a:solidFill>
            <a:prstDash val="solid"/>
          </a:ln>
        </p:spPr>
      </p:sp>
      <p:sp>
        <p:nvSpPr>
          <p:cNvPr id="31" name="Text 29"/>
          <p:cNvSpPr txBox="1"/>
          <p:nvPr/>
        </p:nvSpPr>
        <p:spPr>
          <a:xfrm>
            <a:off x="667512" y="4343400"/>
            <a:ext cx="5111496" cy="731520"/>
          </a:xfrm>
          <a:prstGeom prst="rect">
            <a:avLst/>
          </a:prstGeom>
          <a:noFill/>
          <a:ln/>
        </p:spPr>
        <p:txBody>
          <a:bodyPr wrap="square" lIns="0" tIns="0" rIns="0" bIns="0" rtlCol="0" anchor="t"/>
          <a:lstStyle/>
          <a:p>
            <a:pPr indent="0" marL="0">
              <a:lnSpc>
                <a:spcPct val="106000"/>
              </a:lnSpc>
              <a:spcAft>
                <a:spcPts val="400"/>
              </a:spcAft>
              <a:buNone/>
            </a:pPr>
            <a:r>
              <a:rPr lang="en-US" sz="1250" b="1" dirty="0">
                <a:solidFill>
                  <a:srgbClr val="12151B"/>
                </a:solidFill>
                <a:latin typeface="Arial" pitchFamily="34" charset="0"/>
                <a:ea typeface="Arial" pitchFamily="34" charset="-122"/>
                <a:cs typeface="Arial" pitchFamily="34" charset="-120"/>
              </a:rPr>
              <a:t>5. Corridor</a:t>
            </a:r>
            <a:endParaRPr lang="en-US" sz="1250" dirty="0"/>
          </a:p>
          <a:p>
            <a:pPr indent="0" marL="0">
              <a:lnSpc>
                <a:spcPct val="106000"/>
              </a:lnSpc>
              <a:spcAft>
                <a:spcPts val="400"/>
              </a:spcAft>
              <a:buNone/>
            </a:pPr>
            <a:r>
              <a:rPr lang="en-US" sz="1100" dirty="0">
                <a:solidFill>
                  <a:srgbClr val="1A1D23"/>
                </a:solidFill>
                <a:latin typeface="Arial" pitchFamily="34" charset="0"/>
                <a:ea typeface="Arial" pitchFamily="34" charset="-122"/>
                <a:cs typeface="Arial" pitchFamily="34" charset="-120"/>
              </a:rPr>
              <a:t>A dynamic program over (distance, offset) finds the cheapest ribbon of free space ahead. This replaces the lane.</a:t>
            </a:r>
            <a:endParaRPr lang="en-US" sz="1250" dirty="0"/>
          </a:p>
        </p:txBody>
      </p:sp>
      <p:sp>
        <p:nvSpPr>
          <p:cNvPr id="32" name="Shape 30"/>
          <p:cNvSpPr/>
          <p:nvPr/>
        </p:nvSpPr>
        <p:spPr>
          <a:xfrm>
            <a:off x="6263640" y="4224528"/>
            <a:ext cx="5440680" cy="969264"/>
          </a:xfrm>
          <a:prstGeom prst="roundRect">
            <a:avLst>
              <a:gd name="adj" fmla="val 5660"/>
            </a:avLst>
          </a:prstGeom>
          <a:solidFill>
            <a:srgbClr val="F2F4F7"/>
          </a:solidFill>
          <a:ln w="12700">
            <a:solidFill>
              <a:srgbClr val="F2F4F7"/>
            </a:solidFill>
            <a:prstDash val="solid"/>
          </a:ln>
        </p:spPr>
      </p:sp>
      <p:sp>
        <p:nvSpPr>
          <p:cNvPr id="33" name="Text 31"/>
          <p:cNvSpPr txBox="1"/>
          <p:nvPr/>
        </p:nvSpPr>
        <p:spPr>
          <a:xfrm>
            <a:off x="6428232" y="4343400"/>
            <a:ext cx="5111496" cy="731520"/>
          </a:xfrm>
          <a:prstGeom prst="rect">
            <a:avLst/>
          </a:prstGeom>
          <a:noFill/>
          <a:ln/>
        </p:spPr>
        <p:txBody>
          <a:bodyPr wrap="square" lIns="0" tIns="0" rIns="0" bIns="0" rtlCol="0" anchor="t"/>
          <a:lstStyle/>
          <a:p>
            <a:pPr indent="0" marL="0">
              <a:lnSpc>
                <a:spcPct val="106000"/>
              </a:lnSpc>
              <a:spcAft>
                <a:spcPts val="400"/>
              </a:spcAft>
              <a:buNone/>
            </a:pPr>
            <a:r>
              <a:rPr lang="en-US" sz="1250" b="1" dirty="0">
                <a:solidFill>
                  <a:srgbClr val="12151B"/>
                </a:solidFill>
                <a:latin typeface="Arial" pitchFamily="34" charset="0"/>
                <a:ea typeface="Arial" pitchFamily="34" charset="-122"/>
                <a:cs typeface="Arial" pitchFamily="34" charset="-120"/>
              </a:rPr>
              <a:t>6. Behaviour</a:t>
            </a:r>
            <a:endParaRPr lang="en-US" sz="1250" dirty="0"/>
          </a:p>
          <a:p>
            <a:pPr indent="0" marL="0">
              <a:lnSpc>
                <a:spcPct val="106000"/>
              </a:lnSpc>
              <a:spcAft>
                <a:spcPts val="400"/>
              </a:spcAft>
              <a:buNone/>
            </a:pPr>
            <a:r>
              <a:rPr lang="en-US" sz="1100" dirty="0">
                <a:solidFill>
                  <a:srgbClr val="1A1D23"/>
                </a:solidFill>
                <a:latin typeface="Arial" pitchFamily="34" charset="0"/>
                <a:ea typeface="Arial" pitchFamily="34" charset="-122"/>
                <a:cs typeface="Arial" pitchFamily="34" charset="-120"/>
              </a:rPr>
              <a:t>Eight states decide the intent — follow, nudge, overtake, yield, creep, evade, stop. Maps 1:1 onto Stateflow.</a:t>
            </a:r>
            <a:endParaRPr lang="en-US" sz="1250" dirty="0"/>
          </a:p>
        </p:txBody>
      </p:sp>
      <p:sp>
        <p:nvSpPr>
          <p:cNvPr id="34" name="Shape 32"/>
          <p:cNvSpPr/>
          <p:nvPr/>
        </p:nvSpPr>
        <p:spPr>
          <a:xfrm>
            <a:off x="502920" y="5285232"/>
            <a:ext cx="5440680" cy="969264"/>
          </a:xfrm>
          <a:prstGeom prst="roundRect">
            <a:avLst>
              <a:gd name="adj" fmla="val 5660"/>
            </a:avLst>
          </a:prstGeom>
          <a:solidFill>
            <a:srgbClr val="F2F4F7"/>
          </a:solidFill>
          <a:ln w="12700">
            <a:solidFill>
              <a:srgbClr val="F2F4F7"/>
            </a:solidFill>
            <a:prstDash val="solid"/>
          </a:ln>
        </p:spPr>
      </p:sp>
      <p:sp>
        <p:nvSpPr>
          <p:cNvPr id="35" name="Text 33"/>
          <p:cNvSpPr txBox="1"/>
          <p:nvPr/>
        </p:nvSpPr>
        <p:spPr>
          <a:xfrm>
            <a:off x="667512" y="5404104"/>
            <a:ext cx="5111496" cy="731520"/>
          </a:xfrm>
          <a:prstGeom prst="rect">
            <a:avLst/>
          </a:prstGeom>
          <a:noFill/>
          <a:ln/>
        </p:spPr>
        <p:txBody>
          <a:bodyPr wrap="square" lIns="0" tIns="0" rIns="0" bIns="0" rtlCol="0" anchor="t"/>
          <a:lstStyle/>
          <a:p>
            <a:pPr indent="0" marL="0">
              <a:lnSpc>
                <a:spcPct val="106000"/>
              </a:lnSpc>
              <a:spcAft>
                <a:spcPts val="400"/>
              </a:spcAft>
              <a:buNone/>
            </a:pPr>
            <a:r>
              <a:rPr lang="en-US" sz="1250" b="1" dirty="0">
                <a:solidFill>
                  <a:srgbClr val="12151B"/>
                </a:solidFill>
                <a:latin typeface="Arial" pitchFamily="34" charset="0"/>
                <a:ea typeface="Arial" pitchFamily="34" charset="-122"/>
                <a:cs typeface="Arial" pitchFamily="34" charset="-120"/>
              </a:rPr>
              <a:t>7. Lattice</a:t>
            </a:r>
            <a:endParaRPr lang="en-US" sz="1250" dirty="0"/>
          </a:p>
          <a:p>
            <a:pPr indent="0" marL="0">
              <a:lnSpc>
                <a:spcPct val="106000"/>
              </a:lnSpc>
              <a:spcAft>
                <a:spcPts val="400"/>
              </a:spcAft>
              <a:buNone/>
            </a:pPr>
            <a:r>
              <a:rPr lang="en-US" sz="1100" dirty="0">
                <a:solidFill>
                  <a:srgbClr val="1A1D23"/>
                </a:solidFill>
                <a:latin typeface="Arial" pitchFamily="34" charset="0"/>
                <a:ea typeface="Arial" pitchFamily="34" charset="-122"/>
                <a:cs typeface="Arial" pitchFamily="34" charset="-120"/>
              </a:rPr>
              <a:t>Jerk-minimal quintic/quartic polynomials in the Frenet frame, sampled and scored against the risk field in space and time.</a:t>
            </a:r>
            <a:endParaRPr lang="en-US" sz="1250" dirty="0"/>
          </a:p>
        </p:txBody>
      </p:sp>
      <p:sp>
        <p:nvSpPr>
          <p:cNvPr id="36" name="Shape 34"/>
          <p:cNvSpPr/>
          <p:nvPr/>
        </p:nvSpPr>
        <p:spPr>
          <a:xfrm>
            <a:off x="6263640" y="5285232"/>
            <a:ext cx="5440680" cy="969264"/>
          </a:xfrm>
          <a:prstGeom prst="roundRect">
            <a:avLst>
              <a:gd name="adj" fmla="val 5660"/>
            </a:avLst>
          </a:prstGeom>
          <a:solidFill>
            <a:srgbClr val="F2F4F7"/>
          </a:solidFill>
          <a:ln w="12700">
            <a:solidFill>
              <a:srgbClr val="F2F4F7"/>
            </a:solidFill>
            <a:prstDash val="solid"/>
          </a:ln>
        </p:spPr>
      </p:sp>
      <p:sp>
        <p:nvSpPr>
          <p:cNvPr id="37" name="Text 35"/>
          <p:cNvSpPr txBox="1"/>
          <p:nvPr/>
        </p:nvSpPr>
        <p:spPr>
          <a:xfrm>
            <a:off x="6428232" y="5404104"/>
            <a:ext cx="5111496" cy="731520"/>
          </a:xfrm>
          <a:prstGeom prst="rect">
            <a:avLst/>
          </a:prstGeom>
          <a:noFill/>
          <a:ln/>
        </p:spPr>
        <p:txBody>
          <a:bodyPr wrap="square" lIns="0" tIns="0" rIns="0" bIns="0" rtlCol="0" anchor="t"/>
          <a:lstStyle/>
          <a:p>
            <a:pPr indent="0" marL="0">
              <a:lnSpc>
                <a:spcPct val="106000"/>
              </a:lnSpc>
              <a:spcAft>
                <a:spcPts val="400"/>
              </a:spcAft>
              <a:buNone/>
            </a:pPr>
            <a:r>
              <a:rPr lang="en-US" sz="1250" b="1" dirty="0">
                <a:solidFill>
                  <a:srgbClr val="12151B"/>
                </a:solidFill>
                <a:latin typeface="Arial" pitchFamily="34" charset="0"/>
                <a:ea typeface="Arial" pitchFamily="34" charset="-122"/>
                <a:cs typeface="Arial" pitchFamily="34" charset="-120"/>
              </a:rPr>
              <a:t>8. RSS + CBF</a:t>
            </a:r>
            <a:endParaRPr lang="en-US" sz="1250" dirty="0"/>
          </a:p>
          <a:p>
            <a:pPr indent="0" marL="0">
              <a:lnSpc>
                <a:spcPct val="106000"/>
              </a:lnSpc>
              <a:spcAft>
                <a:spcPts val="400"/>
              </a:spcAft>
              <a:buNone/>
            </a:pPr>
            <a:r>
              <a:rPr lang="en-US" sz="1100" dirty="0">
                <a:solidFill>
                  <a:srgbClr val="1A1D23"/>
                </a:solidFill>
                <a:latin typeface="Arial" pitchFamily="34" charset="0"/>
                <a:ea typeface="Arial" pitchFamily="34" charset="-122"/>
                <a:cs typeface="Arial" pitchFamily="34" charset="-120"/>
              </a:rPr>
              <a:t>The supervisor. Inverts the RSS condition in closed form to a safe speed, then a control-barrier filter caps it. Monotone: it can only slow us down.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5</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Sense — and why we refuse ground truth</a:t>
            </a:r>
            <a:endParaRPr lang="en-US" sz="2700" dirty="0"/>
          </a:p>
        </p:txBody>
      </p:sp>
      <p:sp>
        <p:nvSpPr>
          <p:cNvPr id="5" name="Text 3"/>
          <p:cNvSpPr txBox="1"/>
          <p:nvPr/>
        </p:nvSpPr>
        <p:spPr>
          <a:xfrm>
            <a:off x="1069848" y="868680"/>
            <a:ext cx="10616184"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The single most common way a hackathon demo lies to itself.</a:t>
            </a:r>
            <a:endParaRPr lang="en-US" sz="1300" dirty="0"/>
          </a:p>
        </p:txBody>
      </p:sp>
      <p:sp>
        <p:nvSpPr>
          <p:cNvPr id="6" name="Shape 4"/>
          <p:cNvSpPr/>
          <p:nvPr/>
        </p:nvSpPr>
        <p:spPr>
          <a:xfrm>
            <a:off x="502920" y="1298448"/>
            <a:ext cx="1467783" cy="365760"/>
          </a:xfrm>
          <a:prstGeom prst="chevron">
            <a:avLst/>
          </a:prstGeom>
          <a:solidFill>
            <a:srgbClr val="E8A33D"/>
          </a:solidFill>
          <a:ln w="12700">
            <a:solidFill>
              <a:srgbClr val="FFFFFF"/>
            </a:solidFill>
            <a:prstDash val="solid"/>
          </a:ln>
        </p:spPr>
      </p:sp>
      <p:sp>
        <p:nvSpPr>
          <p:cNvPr id="7" name="Text 5"/>
          <p:cNvSpPr txBox="1"/>
          <p:nvPr/>
        </p:nvSpPr>
        <p:spPr>
          <a:xfrm>
            <a:off x="502920" y="1298448"/>
            <a:ext cx="1467783" cy="365760"/>
          </a:xfrm>
          <a:prstGeom prst="rect">
            <a:avLst/>
          </a:prstGeom>
          <a:noFill/>
          <a:ln/>
        </p:spPr>
        <p:txBody>
          <a:bodyPr wrap="square" lIns="0" tIns="0" rIns="0" bIns="0" rtlCol="0" anchor="ctr"/>
          <a:lstStyle/>
          <a:p>
            <a:pPr algn="ctr" indent="0" marL="0">
              <a:buNone/>
            </a:pPr>
            <a:r>
              <a:rPr lang="en-US" sz="850" b="1" dirty="0">
                <a:solidFill>
                  <a:srgbClr val="12151B"/>
                </a:solidFill>
                <a:latin typeface="Arial" pitchFamily="34" charset="0"/>
                <a:ea typeface="Arial" pitchFamily="34" charset="-122"/>
                <a:cs typeface="Arial" pitchFamily="34" charset="-120"/>
              </a:rPr>
              <a:t>SENSE</a:t>
            </a:r>
            <a:endParaRPr lang="en-US" sz="850" dirty="0"/>
          </a:p>
        </p:txBody>
      </p:sp>
      <p:sp>
        <p:nvSpPr>
          <p:cNvPr id="8" name="Shape 6"/>
          <p:cNvSpPr/>
          <p:nvPr/>
        </p:nvSpPr>
        <p:spPr>
          <a:xfrm>
            <a:off x="1900809" y="1298448"/>
            <a:ext cx="1467783" cy="365760"/>
          </a:xfrm>
          <a:prstGeom prst="chevron">
            <a:avLst/>
          </a:prstGeom>
          <a:solidFill>
            <a:srgbClr val="12151B"/>
          </a:solidFill>
          <a:ln w="12700">
            <a:solidFill>
              <a:srgbClr val="FFFFFF"/>
            </a:solidFill>
            <a:prstDash val="solid"/>
          </a:ln>
        </p:spPr>
      </p:sp>
      <p:sp>
        <p:nvSpPr>
          <p:cNvPr id="9" name="Text 7"/>
          <p:cNvSpPr txBox="1"/>
          <p:nvPr/>
        </p:nvSpPr>
        <p:spPr>
          <a:xfrm>
            <a:off x="1900809"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FUSE</a:t>
            </a:r>
            <a:endParaRPr lang="en-US" sz="850" dirty="0"/>
          </a:p>
        </p:txBody>
      </p:sp>
      <p:sp>
        <p:nvSpPr>
          <p:cNvPr id="10" name="Shape 8"/>
          <p:cNvSpPr/>
          <p:nvPr/>
        </p:nvSpPr>
        <p:spPr>
          <a:xfrm>
            <a:off x="3298698" y="1298448"/>
            <a:ext cx="1467783" cy="365760"/>
          </a:xfrm>
          <a:prstGeom prst="chevron">
            <a:avLst/>
          </a:prstGeom>
          <a:solidFill>
            <a:srgbClr val="12151B"/>
          </a:solidFill>
          <a:ln w="12700">
            <a:solidFill>
              <a:srgbClr val="FFFFFF"/>
            </a:solidFill>
            <a:prstDash val="solid"/>
          </a:ln>
        </p:spPr>
      </p:sp>
      <p:sp>
        <p:nvSpPr>
          <p:cNvPr id="11" name="Text 9"/>
          <p:cNvSpPr txBox="1"/>
          <p:nvPr/>
        </p:nvSpPr>
        <p:spPr>
          <a:xfrm>
            <a:off x="3298698"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PREDICT</a:t>
            </a:r>
            <a:endParaRPr lang="en-US" sz="850" dirty="0"/>
          </a:p>
        </p:txBody>
      </p:sp>
      <p:sp>
        <p:nvSpPr>
          <p:cNvPr id="12" name="Shape 10"/>
          <p:cNvSpPr/>
          <p:nvPr/>
        </p:nvSpPr>
        <p:spPr>
          <a:xfrm>
            <a:off x="4696587" y="1298448"/>
            <a:ext cx="1467783" cy="365760"/>
          </a:xfrm>
          <a:prstGeom prst="chevron">
            <a:avLst/>
          </a:prstGeom>
          <a:solidFill>
            <a:srgbClr val="12151B"/>
          </a:solidFill>
          <a:ln w="12700">
            <a:solidFill>
              <a:srgbClr val="FFFFFF"/>
            </a:solidFill>
            <a:prstDash val="solid"/>
          </a:ln>
        </p:spPr>
      </p:sp>
      <p:sp>
        <p:nvSpPr>
          <p:cNvPr id="13" name="Text 11"/>
          <p:cNvSpPr txBox="1"/>
          <p:nvPr/>
        </p:nvSpPr>
        <p:spPr>
          <a:xfrm>
            <a:off x="4696587"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RISK FIELD</a:t>
            </a:r>
            <a:endParaRPr lang="en-US" sz="850" dirty="0"/>
          </a:p>
        </p:txBody>
      </p:sp>
      <p:sp>
        <p:nvSpPr>
          <p:cNvPr id="14" name="Shape 12"/>
          <p:cNvSpPr/>
          <p:nvPr/>
        </p:nvSpPr>
        <p:spPr>
          <a:xfrm>
            <a:off x="6094476" y="1298448"/>
            <a:ext cx="1467783" cy="365760"/>
          </a:xfrm>
          <a:prstGeom prst="chevron">
            <a:avLst/>
          </a:prstGeom>
          <a:solidFill>
            <a:srgbClr val="12151B"/>
          </a:solidFill>
          <a:ln w="12700">
            <a:solidFill>
              <a:srgbClr val="FFFFFF"/>
            </a:solidFill>
            <a:prstDash val="solid"/>
          </a:ln>
        </p:spPr>
      </p:sp>
      <p:sp>
        <p:nvSpPr>
          <p:cNvPr id="15" name="Text 13"/>
          <p:cNvSpPr txBox="1"/>
          <p:nvPr/>
        </p:nvSpPr>
        <p:spPr>
          <a:xfrm>
            <a:off x="6094476"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CORRIDOR</a:t>
            </a:r>
            <a:endParaRPr lang="en-US" sz="850" dirty="0"/>
          </a:p>
        </p:txBody>
      </p:sp>
      <p:sp>
        <p:nvSpPr>
          <p:cNvPr id="16" name="Shape 14"/>
          <p:cNvSpPr/>
          <p:nvPr/>
        </p:nvSpPr>
        <p:spPr>
          <a:xfrm>
            <a:off x="7492365" y="1298448"/>
            <a:ext cx="1467783" cy="365760"/>
          </a:xfrm>
          <a:prstGeom prst="chevron">
            <a:avLst/>
          </a:prstGeom>
          <a:solidFill>
            <a:srgbClr val="12151B"/>
          </a:solidFill>
          <a:ln w="12700">
            <a:solidFill>
              <a:srgbClr val="FFFFFF"/>
            </a:solidFill>
            <a:prstDash val="solid"/>
          </a:ln>
        </p:spPr>
      </p:sp>
      <p:sp>
        <p:nvSpPr>
          <p:cNvPr id="17" name="Text 15"/>
          <p:cNvSpPr txBox="1"/>
          <p:nvPr/>
        </p:nvSpPr>
        <p:spPr>
          <a:xfrm>
            <a:off x="7492365"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BEHAVIOUR</a:t>
            </a:r>
            <a:endParaRPr lang="en-US" sz="850" dirty="0"/>
          </a:p>
        </p:txBody>
      </p:sp>
      <p:sp>
        <p:nvSpPr>
          <p:cNvPr id="18" name="Shape 16"/>
          <p:cNvSpPr/>
          <p:nvPr/>
        </p:nvSpPr>
        <p:spPr>
          <a:xfrm>
            <a:off x="8890254" y="1298448"/>
            <a:ext cx="1467783" cy="365760"/>
          </a:xfrm>
          <a:prstGeom prst="chevron">
            <a:avLst/>
          </a:prstGeom>
          <a:solidFill>
            <a:srgbClr val="12151B"/>
          </a:solidFill>
          <a:ln w="12700">
            <a:solidFill>
              <a:srgbClr val="FFFFFF"/>
            </a:solidFill>
            <a:prstDash val="solid"/>
          </a:ln>
        </p:spPr>
      </p:sp>
      <p:sp>
        <p:nvSpPr>
          <p:cNvPr id="19" name="Text 17"/>
          <p:cNvSpPr txBox="1"/>
          <p:nvPr/>
        </p:nvSpPr>
        <p:spPr>
          <a:xfrm>
            <a:off x="8890254"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LATTICE</a:t>
            </a:r>
            <a:endParaRPr lang="en-US" sz="850" dirty="0"/>
          </a:p>
        </p:txBody>
      </p:sp>
      <p:sp>
        <p:nvSpPr>
          <p:cNvPr id="20" name="Shape 18"/>
          <p:cNvSpPr/>
          <p:nvPr/>
        </p:nvSpPr>
        <p:spPr>
          <a:xfrm>
            <a:off x="10288143" y="1298448"/>
            <a:ext cx="1467783" cy="365760"/>
          </a:xfrm>
          <a:prstGeom prst="chevron">
            <a:avLst/>
          </a:prstGeom>
          <a:solidFill>
            <a:srgbClr val="12151B"/>
          </a:solidFill>
          <a:ln w="12700">
            <a:solidFill>
              <a:srgbClr val="FFFFFF"/>
            </a:solidFill>
            <a:prstDash val="solid"/>
          </a:ln>
        </p:spPr>
      </p:sp>
      <p:sp>
        <p:nvSpPr>
          <p:cNvPr id="21" name="Text 19"/>
          <p:cNvSpPr txBox="1"/>
          <p:nvPr/>
        </p:nvSpPr>
        <p:spPr>
          <a:xfrm>
            <a:off x="10288143"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RSS + CBF</a:t>
            </a:r>
            <a:endParaRPr lang="en-US" sz="850" dirty="0"/>
          </a:p>
        </p:txBody>
      </p:sp>
      <p:sp>
        <p:nvSpPr>
          <p:cNvPr id="22" name="Text 20"/>
          <p:cNvSpPr txBox="1"/>
          <p:nvPr/>
        </p:nvSpPr>
        <p:spPr>
          <a:xfrm>
            <a:off x="502920" y="1965960"/>
            <a:ext cx="5989320" cy="3108960"/>
          </a:xfrm>
          <a:prstGeom prst="rect">
            <a:avLst/>
          </a:prstGeom>
          <a:noFill/>
          <a:ln/>
        </p:spPr>
        <p:txBody>
          <a:bodyPr wrap="square" lIns="0" tIns="0" rIns="0" bIns="0" rtlCol="0" anchor="t"/>
          <a:lstStyle/>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Three sensors, three failure modes.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Camera: good bearing, poor depth, class confusion. LiDAR: good geometry, no class. Radar: good speed, sparse.</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Noise is anisotropic.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Depth error and lateral error are not the same size — modelling them as one circle is the mistake that makes a demo look better than it is.</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Occlusion is geometric.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Each obstacle claims an angular interval; anything behind it is simply not seen. A bus hides three two-wheelers, exactly as it does in life.</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Dropout and false classes are on.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A cow is sometimes seen as a pedestrian for a few frames. The planner has to survive that.</a:t>
            </a:r>
            <a:endParaRPr lang="en-US" sz="1300" dirty="0"/>
          </a:p>
        </p:txBody>
      </p:sp>
      <p:sp>
        <p:nvSpPr>
          <p:cNvPr id="23" name="Shape 21"/>
          <p:cNvSpPr/>
          <p:nvPr/>
        </p:nvSpPr>
        <p:spPr>
          <a:xfrm>
            <a:off x="6766560" y="1965960"/>
            <a:ext cx="4919472" cy="1668907"/>
          </a:xfrm>
          <a:prstGeom prst="roundRect">
            <a:avLst>
              <a:gd name="adj" fmla="val 3287"/>
            </a:avLst>
          </a:prstGeom>
          <a:solidFill>
            <a:srgbClr val="F2F4F7"/>
          </a:solidFill>
          <a:ln w="12700">
            <a:solidFill>
              <a:srgbClr val="F2F4F7"/>
            </a:solidFill>
            <a:prstDash val="solid"/>
          </a:ln>
        </p:spPr>
      </p:sp>
      <p:sp>
        <p:nvSpPr>
          <p:cNvPr id="24" name="Text 22"/>
          <p:cNvSpPr txBox="1"/>
          <p:nvPr/>
        </p:nvSpPr>
        <p:spPr>
          <a:xfrm>
            <a:off x="6931152" y="2084832"/>
            <a:ext cx="4590288" cy="1431163"/>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12151B"/>
                </a:solidFill>
                <a:latin typeface="Arial" pitchFamily="34" charset="0"/>
                <a:ea typeface="Arial" pitchFamily="34" charset="-122"/>
                <a:cs typeface="Arial" pitchFamily="34" charset="-120"/>
              </a:rPr>
              <a:t>What to say if a judge pushes</a:t>
            </a:r>
            <a:endParaRPr lang="en-US" sz="1300" dirty="0"/>
          </a:p>
          <a:p>
            <a:pPr indent="0" marL="0">
              <a:lnSpc>
                <a:spcPct val="106000"/>
              </a:lnSpc>
              <a:spcAft>
                <a:spcPts val="400"/>
              </a:spcAft>
              <a:buNone/>
            </a:pPr>
            <a:r>
              <a:rPr lang="en-US" sz="1250" dirty="0">
                <a:solidFill>
                  <a:srgbClr val="1A1D23"/>
                </a:solidFill>
                <a:latin typeface="Arial" pitchFamily="34" charset="0"/>
                <a:ea typeface="Arial" pitchFamily="34" charset="-122"/>
                <a:cs typeface="Arial" pitchFamily="34" charset="-120"/>
              </a:rPr>
              <a:t>“The planner has no access to the simulator's state. It sees tracks, with the errors a real detector makes. That is why the risk field has an uncertainty skirt at all — if we planned on ground truth, the skirt would be decoration.”</a:t>
            </a:r>
            <a:endParaRPr lang="en-US" sz="1300" dirty="0"/>
          </a:p>
        </p:txBody>
      </p:sp>
      <p:sp>
        <p:nvSpPr>
          <p:cNvPr id="25" name="Shape 23"/>
          <p:cNvSpPr/>
          <p:nvPr/>
        </p:nvSpPr>
        <p:spPr>
          <a:xfrm>
            <a:off x="502920" y="5349240"/>
            <a:ext cx="11183112" cy="777240"/>
          </a:xfrm>
          <a:prstGeom prst="roundRect">
            <a:avLst>
              <a:gd name="adj" fmla="val 7059"/>
            </a:avLst>
          </a:prstGeom>
          <a:solidFill>
            <a:srgbClr val="12151B"/>
          </a:solidFill>
          <a:ln w="12700">
            <a:solidFill>
              <a:srgbClr val="333333"/>
            </a:solidFill>
            <a:prstDash val="solid"/>
          </a:ln>
        </p:spPr>
      </p:sp>
      <p:sp>
        <p:nvSpPr>
          <p:cNvPr id="26" name="Text 24"/>
          <p:cNvSpPr txBox="1"/>
          <p:nvPr/>
        </p:nvSpPr>
        <p:spPr>
          <a:xfrm>
            <a:off x="685800" y="5349240"/>
            <a:ext cx="10817352" cy="777240"/>
          </a:xfrm>
          <a:prstGeom prst="rect">
            <a:avLst/>
          </a:prstGeom>
          <a:noFill/>
          <a:ln/>
        </p:spPr>
        <p:txBody>
          <a:bodyPr wrap="square" lIns="0" tIns="0" rIns="0" bIns="0" rtlCol="0" anchor="ctr"/>
          <a:lstStyle/>
          <a:p>
            <a:pPr indent="0" marL="0">
              <a:buNone/>
            </a:pPr>
            <a:r>
              <a:rPr lang="en-US" sz="1050" b="1" dirty="0">
                <a:solidFill>
                  <a:srgbClr val="E8A33D"/>
                </a:solidFill>
                <a:latin typeface="Arial" pitchFamily="34" charset="0"/>
                <a:ea typeface="Arial" pitchFamily="34" charset="-122"/>
                <a:cs typeface="Arial" pitchFamily="34" charset="-120"/>
              </a:rPr>
              <a:t>In the code   </a:t>
            </a:r>
            <a:pPr indent="0" marL="0">
              <a:buNone/>
            </a:pPr>
            <a:r>
              <a:rPr lang="en-US" sz="1100" dirty="0">
                <a:solidFill>
                  <a:srgbClr val="E6E8EC"/>
                </a:solidFill>
                <a:latin typeface="Arial" pitchFamily="34" charset="0"/>
                <a:ea typeface="Arial" pitchFamily="34" charset="-122"/>
                <a:cs typeface="Arial" pitchFamily="34" charset="-120"/>
              </a:rPr>
              <a:t>sarathi/perception/sensors.py        </a:t>
            </a:r>
            <a:pPr indent="0" marL="0">
              <a:buNone/>
            </a:pPr>
            <a:r>
              <a:rPr lang="en-US" sz="1050" b="1" dirty="0">
                <a:solidFill>
                  <a:srgbClr val="E8A33D"/>
                </a:solidFill>
                <a:latin typeface="Arial" pitchFamily="34" charset="0"/>
                <a:ea typeface="Arial" pitchFamily="34" charset="-122"/>
                <a:cs typeface="Arial" pitchFamily="34" charset="-120"/>
              </a:rPr>
              <a:t>Ask   </a:t>
            </a:r>
            <a:pPr indent="0" marL="0">
              <a:buNone/>
            </a:pPr>
            <a:r>
              <a:rPr lang="en-US" sz="1100" dirty="0">
                <a:solidFill>
                  <a:srgbClr val="E6E8EC"/>
                </a:solidFill>
                <a:latin typeface="Arial" pitchFamily="34" charset="0"/>
                <a:ea typeface="Arial" pitchFamily="34" charset="-122"/>
                <a:cs typeface="Arial" pitchFamily="34" charset="-120"/>
              </a:rPr>
              <a:t>B2</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6</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Fuse — tracks, not detections</a:t>
            </a:r>
            <a:endParaRPr lang="en-US" sz="2700" dirty="0"/>
          </a:p>
        </p:txBody>
      </p:sp>
      <p:sp>
        <p:nvSpPr>
          <p:cNvPr id="5" name="Text 3"/>
          <p:cNvSpPr txBox="1"/>
          <p:nvPr/>
        </p:nvSpPr>
        <p:spPr>
          <a:xfrm>
            <a:off x="1069848" y="868680"/>
            <a:ext cx="10616184"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Where most of our early bugs lived.</a:t>
            </a:r>
            <a:endParaRPr lang="en-US" sz="1300" dirty="0"/>
          </a:p>
        </p:txBody>
      </p:sp>
      <p:sp>
        <p:nvSpPr>
          <p:cNvPr id="6" name="Shape 4"/>
          <p:cNvSpPr/>
          <p:nvPr/>
        </p:nvSpPr>
        <p:spPr>
          <a:xfrm>
            <a:off x="502920" y="1298448"/>
            <a:ext cx="1467783" cy="365760"/>
          </a:xfrm>
          <a:prstGeom prst="chevron">
            <a:avLst/>
          </a:prstGeom>
          <a:solidFill>
            <a:srgbClr val="12151B"/>
          </a:solidFill>
          <a:ln w="12700">
            <a:solidFill>
              <a:srgbClr val="FFFFFF"/>
            </a:solidFill>
            <a:prstDash val="solid"/>
          </a:ln>
        </p:spPr>
      </p:sp>
      <p:sp>
        <p:nvSpPr>
          <p:cNvPr id="7" name="Text 5"/>
          <p:cNvSpPr txBox="1"/>
          <p:nvPr/>
        </p:nvSpPr>
        <p:spPr>
          <a:xfrm>
            <a:off x="502920"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SENSE</a:t>
            </a:r>
            <a:endParaRPr lang="en-US" sz="850" dirty="0"/>
          </a:p>
        </p:txBody>
      </p:sp>
      <p:sp>
        <p:nvSpPr>
          <p:cNvPr id="8" name="Shape 6"/>
          <p:cNvSpPr/>
          <p:nvPr/>
        </p:nvSpPr>
        <p:spPr>
          <a:xfrm>
            <a:off x="1900809" y="1298448"/>
            <a:ext cx="1467783" cy="365760"/>
          </a:xfrm>
          <a:prstGeom prst="chevron">
            <a:avLst/>
          </a:prstGeom>
          <a:solidFill>
            <a:srgbClr val="E8A33D"/>
          </a:solidFill>
          <a:ln w="12700">
            <a:solidFill>
              <a:srgbClr val="FFFFFF"/>
            </a:solidFill>
            <a:prstDash val="solid"/>
          </a:ln>
        </p:spPr>
      </p:sp>
      <p:sp>
        <p:nvSpPr>
          <p:cNvPr id="9" name="Text 7"/>
          <p:cNvSpPr txBox="1"/>
          <p:nvPr/>
        </p:nvSpPr>
        <p:spPr>
          <a:xfrm>
            <a:off x="1900809" y="1298448"/>
            <a:ext cx="1467783" cy="365760"/>
          </a:xfrm>
          <a:prstGeom prst="rect">
            <a:avLst/>
          </a:prstGeom>
          <a:noFill/>
          <a:ln/>
        </p:spPr>
        <p:txBody>
          <a:bodyPr wrap="square" lIns="0" tIns="0" rIns="0" bIns="0" rtlCol="0" anchor="ctr"/>
          <a:lstStyle/>
          <a:p>
            <a:pPr algn="ctr" indent="0" marL="0">
              <a:buNone/>
            </a:pPr>
            <a:r>
              <a:rPr lang="en-US" sz="850" b="1" dirty="0">
                <a:solidFill>
                  <a:srgbClr val="12151B"/>
                </a:solidFill>
                <a:latin typeface="Arial" pitchFamily="34" charset="0"/>
                <a:ea typeface="Arial" pitchFamily="34" charset="-122"/>
                <a:cs typeface="Arial" pitchFamily="34" charset="-120"/>
              </a:rPr>
              <a:t>FUSE</a:t>
            </a:r>
            <a:endParaRPr lang="en-US" sz="850" dirty="0"/>
          </a:p>
        </p:txBody>
      </p:sp>
      <p:sp>
        <p:nvSpPr>
          <p:cNvPr id="10" name="Shape 8"/>
          <p:cNvSpPr/>
          <p:nvPr/>
        </p:nvSpPr>
        <p:spPr>
          <a:xfrm>
            <a:off x="3298698" y="1298448"/>
            <a:ext cx="1467783" cy="365760"/>
          </a:xfrm>
          <a:prstGeom prst="chevron">
            <a:avLst/>
          </a:prstGeom>
          <a:solidFill>
            <a:srgbClr val="12151B"/>
          </a:solidFill>
          <a:ln w="12700">
            <a:solidFill>
              <a:srgbClr val="FFFFFF"/>
            </a:solidFill>
            <a:prstDash val="solid"/>
          </a:ln>
        </p:spPr>
      </p:sp>
      <p:sp>
        <p:nvSpPr>
          <p:cNvPr id="11" name="Text 9"/>
          <p:cNvSpPr txBox="1"/>
          <p:nvPr/>
        </p:nvSpPr>
        <p:spPr>
          <a:xfrm>
            <a:off x="3298698"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PREDICT</a:t>
            </a:r>
            <a:endParaRPr lang="en-US" sz="850" dirty="0"/>
          </a:p>
        </p:txBody>
      </p:sp>
      <p:sp>
        <p:nvSpPr>
          <p:cNvPr id="12" name="Shape 10"/>
          <p:cNvSpPr/>
          <p:nvPr/>
        </p:nvSpPr>
        <p:spPr>
          <a:xfrm>
            <a:off x="4696587" y="1298448"/>
            <a:ext cx="1467783" cy="365760"/>
          </a:xfrm>
          <a:prstGeom prst="chevron">
            <a:avLst/>
          </a:prstGeom>
          <a:solidFill>
            <a:srgbClr val="12151B"/>
          </a:solidFill>
          <a:ln w="12700">
            <a:solidFill>
              <a:srgbClr val="FFFFFF"/>
            </a:solidFill>
            <a:prstDash val="solid"/>
          </a:ln>
        </p:spPr>
      </p:sp>
      <p:sp>
        <p:nvSpPr>
          <p:cNvPr id="13" name="Text 11"/>
          <p:cNvSpPr txBox="1"/>
          <p:nvPr/>
        </p:nvSpPr>
        <p:spPr>
          <a:xfrm>
            <a:off x="4696587"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RISK FIELD</a:t>
            </a:r>
            <a:endParaRPr lang="en-US" sz="850" dirty="0"/>
          </a:p>
        </p:txBody>
      </p:sp>
      <p:sp>
        <p:nvSpPr>
          <p:cNvPr id="14" name="Shape 12"/>
          <p:cNvSpPr/>
          <p:nvPr/>
        </p:nvSpPr>
        <p:spPr>
          <a:xfrm>
            <a:off x="6094476" y="1298448"/>
            <a:ext cx="1467783" cy="365760"/>
          </a:xfrm>
          <a:prstGeom prst="chevron">
            <a:avLst/>
          </a:prstGeom>
          <a:solidFill>
            <a:srgbClr val="12151B"/>
          </a:solidFill>
          <a:ln w="12700">
            <a:solidFill>
              <a:srgbClr val="FFFFFF"/>
            </a:solidFill>
            <a:prstDash val="solid"/>
          </a:ln>
        </p:spPr>
      </p:sp>
      <p:sp>
        <p:nvSpPr>
          <p:cNvPr id="15" name="Text 13"/>
          <p:cNvSpPr txBox="1"/>
          <p:nvPr/>
        </p:nvSpPr>
        <p:spPr>
          <a:xfrm>
            <a:off x="6094476"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CORRIDOR</a:t>
            </a:r>
            <a:endParaRPr lang="en-US" sz="850" dirty="0"/>
          </a:p>
        </p:txBody>
      </p:sp>
      <p:sp>
        <p:nvSpPr>
          <p:cNvPr id="16" name="Shape 14"/>
          <p:cNvSpPr/>
          <p:nvPr/>
        </p:nvSpPr>
        <p:spPr>
          <a:xfrm>
            <a:off x="7492365" y="1298448"/>
            <a:ext cx="1467783" cy="365760"/>
          </a:xfrm>
          <a:prstGeom prst="chevron">
            <a:avLst/>
          </a:prstGeom>
          <a:solidFill>
            <a:srgbClr val="12151B"/>
          </a:solidFill>
          <a:ln w="12700">
            <a:solidFill>
              <a:srgbClr val="FFFFFF"/>
            </a:solidFill>
            <a:prstDash val="solid"/>
          </a:ln>
        </p:spPr>
      </p:sp>
      <p:sp>
        <p:nvSpPr>
          <p:cNvPr id="17" name="Text 15"/>
          <p:cNvSpPr txBox="1"/>
          <p:nvPr/>
        </p:nvSpPr>
        <p:spPr>
          <a:xfrm>
            <a:off x="7492365"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BEHAVIOUR</a:t>
            </a:r>
            <a:endParaRPr lang="en-US" sz="850" dirty="0"/>
          </a:p>
        </p:txBody>
      </p:sp>
      <p:sp>
        <p:nvSpPr>
          <p:cNvPr id="18" name="Shape 16"/>
          <p:cNvSpPr/>
          <p:nvPr/>
        </p:nvSpPr>
        <p:spPr>
          <a:xfrm>
            <a:off x="8890254" y="1298448"/>
            <a:ext cx="1467783" cy="365760"/>
          </a:xfrm>
          <a:prstGeom prst="chevron">
            <a:avLst/>
          </a:prstGeom>
          <a:solidFill>
            <a:srgbClr val="12151B"/>
          </a:solidFill>
          <a:ln w="12700">
            <a:solidFill>
              <a:srgbClr val="FFFFFF"/>
            </a:solidFill>
            <a:prstDash val="solid"/>
          </a:ln>
        </p:spPr>
      </p:sp>
      <p:sp>
        <p:nvSpPr>
          <p:cNvPr id="19" name="Text 17"/>
          <p:cNvSpPr txBox="1"/>
          <p:nvPr/>
        </p:nvSpPr>
        <p:spPr>
          <a:xfrm>
            <a:off x="8890254"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LATTICE</a:t>
            </a:r>
            <a:endParaRPr lang="en-US" sz="850" dirty="0"/>
          </a:p>
        </p:txBody>
      </p:sp>
      <p:sp>
        <p:nvSpPr>
          <p:cNvPr id="20" name="Shape 18"/>
          <p:cNvSpPr/>
          <p:nvPr/>
        </p:nvSpPr>
        <p:spPr>
          <a:xfrm>
            <a:off x="10288143" y="1298448"/>
            <a:ext cx="1467783" cy="365760"/>
          </a:xfrm>
          <a:prstGeom prst="chevron">
            <a:avLst/>
          </a:prstGeom>
          <a:solidFill>
            <a:srgbClr val="12151B"/>
          </a:solidFill>
          <a:ln w="12700">
            <a:solidFill>
              <a:srgbClr val="FFFFFF"/>
            </a:solidFill>
            <a:prstDash val="solid"/>
          </a:ln>
        </p:spPr>
      </p:sp>
      <p:sp>
        <p:nvSpPr>
          <p:cNvPr id="21" name="Text 19"/>
          <p:cNvSpPr txBox="1"/>
          <p:nvPr/>
        </p:nvSpPr>
        <p:spPr>
          <a:xfrm>
            <a:off x="10288143"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RSS + CBF</a:t>
            </a:r>
            <a:endParaRPr lang="en-US" sz="850" dirty="0"/>
          </a:p>
        </p:txBody>
      </p:sp>
      <p:sp>
        <p:nvSpPr>
          <p:cNvPr id="22" name="Text 20"/>
          <p:cNvSpPr txBox="1"/>
          <p:nvPr/>
        </p:nvSpPr>
        <p:spPr>
          <a:xfrm>
            <a:off x="502920" y="1965960"/>
            <a:ext cx="5989320" cy="3108960"/>
          </a:xfrm>
          <a:prstGeom prst="rect">
            <a:avLst/>
          </a:prstGeom>
          <a:noFill/>
          <a:ln/>
        </p:spPr>
        <p:txBody>
          <a:bodyPr wrap="square" lIns="0" tIns="0" rIns="0" bIns="0" rtlCol="0" anchor="t"/>
          <a:lstStyle/>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Constant-velocity Kalman filter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per track; association by gated nearest neighbour on predicted position.</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Class is fused in log-odds,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not by averaging probabilities. Two confident, disagreeing sightings must not average to 'no idea'.</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Merging is size-aware.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An early bug let a bus's gate swallow two two-wheelers riding beside it. Merge now needs class agreement and a length check.</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Heading is only trusted above 1 m/s.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Below that, heading from motion is noise — the bug that made our risk kernels spin. Slide 21 tells that story; it is a good one.</a:t>
            </a:r>
            <a:endParaRPr lang="en-US" sz="1300" dirty="0"/>
          </a:p>
        </p:txBody>
      </p:sp>
      <p:sp>
        <p:nvSpPr>
          <p:cNvPr id="23" name="Shape 21"/>
          <p:cNvSpPr/>
          <p:nvPr/>
        </p:nvSpPr>
        <p:spPr>
          <a:xfrm>
            <a:off x="6766560" y="1965960"/>
            <a:ext cx="4919472" cy="1645920"/>
          </a:xfrm>
          <a:prstGeom prst="roundRect">
            <a:avLst>
              <a:gd name="adj" fmla="val 3333"/>
            </a:avLst>
          </a:prstGeom>
          <a:solidFill>
            <a:srgbClr val="F2F4F7"/>
          </a:solidFill>
          <a:ln w="12700">
            <a:solidFill>
              <a:srgbClr val="F2F4F7"/>
            </a:solidFill>
            <a:prstDash val="solid"/>
          </a:ln>
        </p:spPr>
      </p:sp>
      <p:sp>
        <p:nvSpPr>
          <p:cNvPr id="24" name="Text 22"/>
          <p:cNvSpPr txBox="1"/>
          <p:nvPr/>
        </p:nvSpPr>
        <p:spPr>
          <a:xfrm>
            <a:off x="6931152" y="2084832"/>
            <a:ext cx="4590288" cy="140817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12151B"/>
                </a:solidFill>
                <a:latin typeface="Arial" pitchFamily="34" charset="0"/>
                <a:ea typeface="Arial" pitchFamily="34" charset="-122"/>
                <a:cs typeface="Arial" pitchFamily="34" charset="-120"/>
              </a:rPr>
              <a:t>Numbers to have ready</a:t>
            </a:r>
            <a:endParaRPr lang="en-US" sz="1300" dirty="0"/>
          </a:p>
          <a:p>
            <a:pPr marL="342900" indent="-342900">
              <a:lnSpc>
                <a:spcPct val="106000"/>
              </a:lnSpc>
              <a:spcAft>
                <a:spcPts val="400"/>
              </a:spcAft>
              <a:buSzPct val="100000"/>
              <a:buChar char="•"/>
            </a:pPr>
            <a:r>
              <a:rPr lang="en-US" sz="1250" dirty="0">
                <a:solidFill>
                  <a:srgbClr val="1A1D23"/>
                </a:solidFill>
                <a:latin typeface="Arial" pitchFamily="34" charset="0"/>
                <a:ea typeface="Arial" pitchFamily="34" charset="-122"/>
                <a:cs typeface="Arial" pitchFamily="34" charset="-120"/>
              </a:rPr>
              <a:t>median position error ≈ 1.2 m at typical range</a:t>
            </a:r>
            <a:endParaRPr lang="en-US" sz="1300" dirty="0"/>
          </a:p>
          <a:p>
            <a:pPr marL="342900" indent="-342900">
              <a:lnSpc>
                <a:spcPct val="106000"/>
              </a:lnSpc>
              <a:spcAft>
                <a:spcPts val="400"/>
              </a:spcAft>
              <a:buSzPct val="100000"/>
              <a:buChar char="•"/>
            </a:pPr>
            <a:r>
              <a:rPr lang="en-US" sz="1250" dirty="0">
                <a:solidFill>
                  <a:srgbClr val="1A1D23"/>
                </a:solidFill>
                <a:latin typeface="Arial" pitchFamily="34" charset="0"/>
                <a:ea typeface="Arial" pitchFamily="34" charset="-122"/>
                <a:cs typeface="Arial" pitchFamily="34" charset="-120"/>
              </a:rPr>
              <a:t>≈ 92% class accuracy after fusion</a:t>
            </a:r>
            <a:endParaRPr lang="en-US" sz="1300" dirty="0"/>
          </a:p>
          <a:p>
            <a:pPr marL="342900" indent="-342900">
              <a:lnSpc>
                <a:spcPct val="106000"/>
              </a:lnSpc>
              <a:spcAft>
                <a:spcPts val="400"/>
              </a:spcAft>
              <a:buSzPct val="100000"/>
              <a:buChar char="•"/>
            </a:pPr>
            <a:r>
              <a:rPr lang="en-US" sz="1250" dirty="0">
                <a:solidFill>
                  <a:srgbClr val="1A1D23"/>
                </a:solidFill>
                <a:latin typeface="Arial" pitchFamily="34" charset="0"/>
                <a:ea typeface="Arial" pitchFamily="34" charset="-122"/>
                <a:cs typeface="Arial" pitchFamily="34" charset="-120"/>
              </a:rPr>
              <a:t>no duplicate tracks in the regression suite</a:t>
            </a:r>
            <a:endParaRPr lang="en-US" sz="1300" dirty="0"/>
          </a:p>
        </p:txBody>
      </p:sp>
      <p:sp>
        <p:nvSpPr>
          <p:cNvPr id="25" name="Shape 23"/>
          <p:cNvSpPr/>
          <p:nvPr/>
        </p:nvSpPr>
        <p:spPr>
          <a:xfrm>
            <a:off x="502920" y="5349240"/>
            <a:ext cx="11183112" cy="777240"/>
          </a:xfrm>
          <a:prstGeom prst="roundRect">
            <a:avLst>
              <a:gd name="adj" fmla="val 7059"/>
            </a:avLst>
          </a:prstGeom>
          <a:solidFill>
            <a:srgbClr val="12151B"/>
          </a:solidFill>
          <a:ln w="12700">
            <a:solidFill>
              <a:srgbClr val="333333"/>
            </a:solidFill>
            <a:prstDash val="solid"/>
          </a:ln>
        </p:spPr>
      </p:sp>
      <p:sp>
        <p:nvSpPr>
          <p:cNvPr id="26" name="Text 24"/>
          <p:cNvSpPr txBox="1"/>
          <p:nvPr/>
        </p:nvSpPr>
        <p:spPr>
          <a:xfrm>
            <a:off x="685800" y="5349240"/>
            <a:ext cx="10817352" cy="777240"/>
          </a:xfrm>
          <a:prstGeom prst="rect">
            <a:avLst/>
          </a:prstGeom>
          <a:noFill/>
          <a:ln/>
        </p:spPr>
        <p:txBody>
          <a:bodyPr wrap="square" lIns="0" tIns="0" rIns="0" bIns="0" rtlCol="0" anchor="ctr"/>
          <a:lstStyle/>
          <a:p>
            <a:pPr indent="0" marL="0">
              <a:buNone/>
            </a:pPr>
            <a:r>
              <a:rPr lang="en-US" sz="1050" b="1" dirty="0">
                <a:solidFill>
                  <a:srgbClr val="E8A33D"/>
                </a:solidFill>
                <a:latin typeface="Arial" pitchFamily="34" charset="0"/>
                <a:ea typeface="Arial" pitchFamily="34" charset="-122"/>
                <a:cs typeface="Arial" pitchFamily="34" charset="-120"/>
              </a:rPr>
              <a:t>In the code   </a:t>
            </a:r>
            <a:pPr indent="0" marL="0">
              <a:buNone/>
            </a:pPr>
            <a:r>
              <a:rPr lang="en-US" sz="1100" dirty="0">
                <a:solidFill>
                  <a:srgbClr val="E6E8EC"/>
                </a:solidFill>
                <a:latin typeface="Arial" pitchFamily="34" charset="0"/>
                <a:ea typeface="Arial" pitchFamily="34" charset="-122"/>
                <a:cs typeface="Arial" pitchFamily="34" charset="-120"/>
              </a:rPr>
              <a:t>sarathi/perception/fusion.py        </a:t>
            </a:r>
            <a:pPr indent="0" marL="0">
              <a:buNone/>
            </a:pPr>
            <a:r>
              <a:rPr lang="en-US" sz="1050" b="1" dirty="0">
                <a:solidFill>
                  <a:srgbClr val="E8A33D"/>
                </a:solidFill>
                <a:latin typeface="Arial" pitchFamily="34" charset="0"/>
                <a:ea typeface="Arial" pitchFamily="34" charset="-122"/>
                <a:cs typeface="Arial" pitchFamily="34" charset="-120"/>
              </a:rPr>
              <a:t>Ask   </a:t>
            </a:r>
            <a:pPr indent="0" marL="0">
              <a:buNone/>
            </a:pPr>
            <a:r>
              <a:rPr lang="en-US" sz="1100" dirty="0">
                <a:solidFill>
                  <a:srgbClr val="E6E8EC"/>
                </a:solidFill>
                <a:latin typeface="Arial" pitchFamily="34" charset="0"/>
                <a:ea typeface="Arial" pitchFamily="34" charset="-122"/>
                <a:cs typeface="Arial" pitchFamily="34" charset="-120"/>
              </a:rPr>
              <a:t>B2</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7</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Predict — one object, several futures</a:t>
            </a:r>
            <a:endParaRPr lang="en-US" sz="2700" dirty="0"/>
          </a:p>
        </p:txBody>
      </p:sp>
      <p:sp>
        <p:nvSpPr>
          <p:cNvPr id="5" name="Text 3"/>
          <p:cNvSpPr txBox="1"/>
          <p:nvPr/>
        </p:nvSpPr>
        <p:spPr>
          <a:xfrm>
            <a:off x="1069848" y="868680"/>
            <a:ext cx="10616184"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A single predicted path is a lie in mixed traffic.</a:t>
            </a:r>
            <a:endParaRPr lang="en-US" sz="1300" dirty="0"/>
          </a:p>
        </p:txBody>
      </p:sp>
      <p:sp>
        <p:nvSpPr>
          <p:cNvPr id="6" name="Shape 4"/>
          <p:cNvSpPr/>
          <p:nvPr/>
        </p:nvSpPr>
        <p:spPr>
          <a:xfrm>
            <a:off x="502920" y="1298448"/>
            <a:ext cx="1467783" cy="365760"/>
          </a:xfrm>
          <a:prstGeom prst="chevron">
            <a:avLst/>
          </a:prstGeom>
          <a:solidFill>
            <a:srgbClr val="12151B"/>
          </a:solidFill>
          <a:ln w="12700">
            <a:solidFill>
              <a:srgbClr val="FFFFFF"/>
            </a:solidFill>
            <a:prstDash val="solid"/>
          </a:ln>
        </p:spPr>
      </p:sp>
      <p:sp>
        <p:nvSpPr>
          <p:cNvPr id="7" name="Text 5"/>
          <p:cNvSpPr txBox="1"/>
          <p:nvPr/>
        </p:nvSpPr>
        <p:spPr>
          <a:xfrm>
            <a:off x="502920"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SENSE</a:t>
            </a:r>
            <a:endParaRPr lang="en-US" sz="850" dirty="0"/>
          </a:p>
        </p:txBody>
      </p:sp>
      <p:sp>
        <p:nvSpPr>
          <p:cNvPr id="8" name="Shape 6"/>
          <p:cNvSpPr/>
          <p:nvPr/>
        </p:nvSpPr>
        <p:spPr>
          <a:xfrm>
            <a:off x="1900809" y="1298448"/>
            <a:ext cx="1467783" cy="365760"/>
          </a:xfrm>
          <a:prstGeom prst="chevron">
            <a:avLst/>
          </a:prstGeom>
          <a:solidFill>
            <a:srgbClr val="12151B"/>
          </a:solidFill>
          <a:ln w="12700">
            <a:solidFill>
              <a:srgbClr val="FFFFFF"/>
            </a:solidFill>
            <a:prstDash val="solid"/>
          </a:ln>
        </p:spPr>
      </p:sp>
      <p:sp>
        <p:nvSpPr>
          <p:cNvPr id="9" name="Text 7"/>
          <p:cNvSpPr txBox="1"/>
          <p:nvPr/>
        </p:nvSpPr>
        <p:spPr>
          <a:xfrm>
            <a:off x="1900809"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FUSE</a:t>
            </a:r>
            <a:endParaRPr lang="en-US" sz="850" dirty="0"/>
          </a:p>
        </p:txBody>
      </p:sp>
      <p:sp>
        <p:nvSpPr>
          <p:cNvPr id="10" name="Shape 8"/>
          <p:cNvSpPr/>
          <p:nvPr/>
        </p:nvSpPr>
        <p:spPr>
          <a:xfrm>
            <a:off x="3298698" y="1298448"/>
            <a:ext cx="1467783" cy="365760"/>
          </a:xfrm>
          <a:prstGeom prst="chevron">
            <a:avLst/>
          </a:prstGeom>
          <a:solidFill>
            <a:srgbClr val="E8A33D"/>
          </a:solidFill>
          <a:ln w="12700">
            <a:solidFill>
              <a:srgbClr val="FFFFFF"/>
            </a:solidFill>
            <a:prstDash val="solid"/>
          </a:ln>
        </p:spPr>
      </p:sp>
      <p:sp>
        <p:nvSpPr>
          <p:cNvPr id="11" name="Text 9"/>
          <p:cNvSpPr txBox="1"/>
          <p:nvPr/>
        </p:nvSpPr>
        <p:spPr>
          <a:xfrm>
            <a:off x="3298698" y="1298448"/>
            <a:ext cx="1467783" cy="365760"/>
          </a:xfrm>
          <a:prstGeom prst="rect">
            <a:avLst/>
          </a:prstGeom>
          <a:noFill/>
          <a:ln/>
        </p:spPr>
        <p:txBody>
          <a:bodyPr wrap="square" lIns="0" tIns="0" rIns="0" bIns="0" rtlCol="0" anchor="ctr"/>
          <a:lstStyle/>
          <a:p>
            <a:pPr algn="ctr" indent="0" marL="0">
              <a:buNone/>
            </a:pPr>
            <a:r>
              <a:rPr lang="en-US" sz="850" b="1" dirty="0">
                <a:solidFill>
                  <a:srgbClr val="12151B"/>
                </a:solidFill>
                <a:latin typeface="Arial" pitchFamily="34" charset="0"/>
                <a:ea typeface="Arial" pitchFamily="34" charset="-122"/>
                <a:cs typeface="Arial" pitchFamily="34" charset="-120"/>
              </a:rPr>
              <a:t>PREDICT</a:t>
            </a:r>
            <a:endParaRPr lang="en-US" sz="850" dirty="0"/>
          </a:p>
        </p:txBody>
      </p:sp>
      <p:sp>
        <p:nvSpPr>
          <p:cNvPr id="12" name="Shape 10"/>
          <p:cNvSpPr/>
          <p:nvPr/>
        </p:nvSpPr>
        <p:spPr>
          <a:xfrm>
            <a:off x="4696587" y="1298448"/>
            <a:ext cx="1467783" cy="365760"/>
          </a:xfrm>
          <a:prstGeom prst="chevron">
            <a:avLst/>
          </a:prstGeom>
          <a:solidFill>
            <a:srgbClr val="12151B"/>
          </a:solidFill>
          <a:ln w="12700">
            <a:solidFill>
              <a:srgbClr val="FFFFFF"/>
            </a:solidFill>
            <a:prstDash val="solid"/>
          </a:ln>
        </p:spPr>
      </p:sp>
      <p:sp>
        <p:nvSpPr>
          <p:cNvPr id="13" name="Text 11"/>
          <p:cNvSpPr txBox="1"/>
          <p:nvPr/>
        </p:nvSpPr>
        <p:spPr>
          <a:xfrm>
            <a:off x="4696587"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RISK FIELD</a:t>
            </a:r>
            <a:endParaRPr lang="en-US" sz="850" dirty="0"/>
          </a:p>
        </p:txBody>
      </p:sp>
      <p:sp>
        <p:nvSpPr>
          <p:cNvPr id="14" name="Shape 12"/>
          <p:cNvSpPr/>
          <p:nvPr/>
        </p:nvSpPr>
        <p:spPr>
          <a:xfrm>
            <a:off x="6094476" y="1298448"/>
            <a:ext cx="1467783" cy="365760"/>
          </a:xfrm>
          <a:prstGeom prst="chevron">
            <a:avLst/>
          </a:prstGeom>
          <a:solidFill>
            <a:srgbClr val="12151B"/>
          </a:solidFill>
          <a:ln w="12700">
            <a:solidFill>
              <a:srgbClr val="FFFFFF"/>
            </a:solidFill>
            <a:prstDash val="solid"/>
          </a:ln>
        </p:spPr>
      </p:sp>
      <p:sp>
        <p:nvSpPr>
          <p:cNvPr id="15" name="Text 13"/>
          <p:cNvSpPr txBox="1"/>
          <p:nvPr/>
        </p:nvSpPr>
        <p:spPr>
          <a:xfrm>
            <a:off x="6094476"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CORRIDOR</a:t>
            </a:r>
            <a:endParaRPr lang="en-US" sz="850" dirty="0"/>
          </a:p>
        </p:txBody>
      </p:sp>
      <p:sp>
        <p:nvSpPr>
          <p:cNvPr id="16" name="Shape 14"/>
          <p:cNvSpPr/>
          <p:nvPr/>
        </p:nvSpPr>
        <p:spPr>
          <a:xfrm>
            <a:off x="7492365" y="1298448"/>
            <a:ext cx="1467783" cy="365760"/>
          </a:xfrm>
          <a:prstGeom prst="chevron">
            <a:avLst/>
          </a:prstGeom>
          <a:solidFill>
            <a:srgbClr val="12151B"/>
          </a:solidFill>
          <a:ln w="12700">
            <a:solidFill>
              <a:srgbClr val="FFFFFF"/>
            </a:solidFill>
            <a:prstDash val="solid"/>
          </a:ln>
        </p:spPr>
      </p:sp>
      <p:sp>
        <p:nvSpPr>
          <p:cNvPr id="17" name="Text 15"/>
          <p:cNvSpPr txBox="1"/>
          <p:nvPr/>
        </p:nvSpPr>
        <p:spPr>
          <a:xfrm>
            <a:off x="7492365"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BEHAVIOUR</a:t>
            </a:r>
            <a:endParaRPr lang="en-US" sz="850" dirty="0"/>
          </a:p>
        </p:txBody>
      </p:sp>
      <p:sp>
        <p:nvSpPr>
          <p:cNvPr id="18" name="Shape 16"/>
          <p:cNvSpPr/>
          <p:nvPr/>
        </p:nvSpPr>
        <p:spPr>
          <a:xfrm>
            <a:off x="8890254" y="1298448"/>
            <a:ext cx="1467783" cy="365760"/>
          </a:xfrm>
          <a:prstGeom prst="chevron">
            <a:avLst/>
          </a:prstGeom>
          <a:solidFill>
            <a:srgbClr val="12151B"/>
          </a:solidFill>
          <a:ln w="12700">
            <a:solidFill>
              <a:srgbClr val="FFFFFF"/>
            </a:solidFill>
            <a:prstDash val="solid"/>
          </a:ln>
        </p:spPr>
      </p:sp>
      <p:sp>
        <p:nvSpPr>
          <p:cNvPr id="19" name="Text 17"/>
          <p:cNvSpPr txBox="1"/>
          <p:nvPr/>
        </p:nvSpPr>
        <p:spPr>
          <a:xfrm>
            <a:off x="8890254"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LATTICE</a:t>
            </a:r>
            <a:endParaRPr lang="en-US" sz="850" dirty="0"/>
          </a:p>
        </p:txBody>
      </p:sp>
      <p:sp>
        <p:nvSpPr>
          <p:cNvPr id="20" name="Shape 18"/>
          <p:cNvSpPr/>
          <p:nvPr/>
        </p:nvSpPr>
        <p:spPr>
          <a:xfrm>
            <a:off x="10288143" y="1298448"/>
            <a:ext cx="1467783" cy="365760"/>
          </a:xfrm>
          <a:prstGeom prst="chevron">
            <a:avLst/>
          </a:prstGeom>
          <a:solidFill>
            <a:srgbClr val="12151B"/>
          </a:solidFill>
          <a:ln w="12700">
            <a:solidFill>
              <a:srgbClr val="FFFFFF"/>
            </a:solidFill>
            <a:prstDash val="solid"/>
          </a:ln>
        </p:spPr>
      </p:sp>
      <p:sp>
        <p:nvSpPr>
          <p:cNvPr id="21" name="Text 19"/>
          <p:cNvSpPr txBox="1"/>
          <p:nvPr/>
        </p:nvSpPr>
        <p:spPr>
          <a:xfrm>
            <a:off x="10288143"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RSS + CBF</a:t>
            </a:r>
            <a:endParaRPr lang="en-US" sz="850" dirty="0"/>
          </a:p>
        </p:txBody>
      </p:sp>
      <p:sp>
        <p:nvSpPr>
          <p:cNvPr id="22" name="Text 20"/>
          <p:cNvSpPr txBox="1"/>
          <p:nvPr/>
        </p:nvSpPr>
        <p:spPr>
          <a:xfrm>
            <a:off x="502920" y="1965960"/>
            <a:ext cx="5989320" cy="3108960"/>
          </a:xfrm>
          <a:prstGeom prst="rect">
            <a:avLst/>
          </a:prstGeom>
          <a:noFill/>
          <a:ln/>
        </p:spPr>
        <p:txBody>
          <a:bodyPr wrap="square" lIns="0" tIns="0" rIns="0" bIns="0" rtlCol="0" anchor="t"/>
          <a:lstStyle/>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Six manoeuvres: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continue, cut in, filter between vehicles, stop, dart across, ride the wrong way.</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Priors are class-conditioned.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A two-wheeler filters; a bus does not. A pedestrian darts; a barricade never moves.</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Covariance grows with time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and is clamped to what the object can physically reach — a stationary car cannot be 1.8 m sideways in a second.</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Above a probability threshold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a hypothesis becomes a hard constraint instead of a cost. That threshold is on screen and adjustable.</a:t>
            </a:r>
            <a:endParaRPr lang="en-US" sz="1300" dirty="0"/>
          </a:p>
        </p:txBody>
      </p:sp>
      <p:sp>
        <p:nvSpPr>
          <p:cNvPr id="23" name="Shape 21"/>
          <p:cNvSpPr/>
          <p:nvPr/>
        </p:nvSpPr>
        <p:spPr>
          <a:xfrm>
            <a:off x="6766560" y="1965960"/>
            <a:ext cx="4919472" cy="2787396"/>
          </a:xfrm>
          <a:prstGeom prst="roundRect">
            <a:avLst>
              <a:gd name="adj" fmla="val 1968"/>
            </a:avLst>
          </a:prstGeom>
          <a:solidFill>
            <a:srgbClr val="F2F4F7"/>
          </a:solidFill>
          <a:ln w="12700">
            <a:solidFill>
              <a:srgbClr val="F2F4F7"/>
            </a:solidFill>
            <a:prstDash val="solid"/>
          </a:ln>
        </p:spPr>
      </p:sp>
      <p:sp>
        <p:nvSpPr>
          <p:cNvPr id="24" name="Text 22"/>
          <p:cNvSpPr txBox="1"/>
          <p:nvPr/>
        </p:nvSpPr>
        <p:spPr>
          <a:xfrm>
            <a:off x="6931152" y="2084832"/>
            <a:ext cx="4590288" cy="2549652"/>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12151B"/>
                </a:solidFill>
                <a:latin typeface="Arial" pitchFamily="34" charset="0"/>
                <a:ea typeface="Arial" pitchFamily="34" charset="-122"/>
                <a:cs typeface="Arial" pitchFamily="34" charset="-120"/>
              </a:rPr>
              <a:t>The honest caveat</a:t>
            </a:r>
            <a:endParaRPr lang="en-US" sz="1300" dirty="0"/>
          </a:p>
          <a:p>
            <a:pPr indent="0" marL="0">
              <a:lnSpc>
                <a:spcPct val="106000"/>
              </a:lnSpc>
              <a:spcAft>
                <a:spcPts val="400"/>
              </a:spcAft>
              <a:buNone/>
            </a:pPr>
            <a:r>
              <a:rPr lang="en-US" sz="1250" dirty="0">
                <a:solidFill>
                  <a:srgbClr val="1A1D23"/>
                </a:solidFill>
                <a:latin typeface="Arial" pitchFamily="34" charset="0"/>
                <a:ea typeface="Arial" pitchFamily="34" charset="-122"/>
                <a:cs typeface="Arial" pitchFamily="34" charset="-120"/>
              </a:rPr>
              <a:t>Our priors are hand-built from observed Indian driving, not learned from a trajectory dataset. Say that before a judge asks. Then say what we would do with data: fit the priors per class from IDD tracks.</a:t>
            </a:r>
            <a:endParaRPr lang="en-US" sz="1300" dirty="0"/>
          </a:p>
          <a:p>
            <a:pPr indent="0" marL="0">
              <a:lnSpc>
                <a:spcPct val="106000"/>
              </a:lnSpc>
              <a:spcAft>
                <a:spcPts val="400"/>
              </a:spcAft>
              <a:buNone/>
            </a:pPr>
            <a:r>
              <a:rPr lang="en-US" sz="1250" dirty="0">
                <a:solidFill>
                  <a:srgbClr val="1A1D23"/>
                </a:solidFill>
                <a:latin typeface="Arial" pitchFamily="34" charset="0"/>
                <a:ea typeface="Arial" pitchFamily="34" charset="-122"/>
                <a:cs typeface="Arial" pitchFamily="34" charset="-120"/>
              </a:rPr>
              <a:t>If a judge points at a prediction cone spilling off the carriageway: the mean path is propagated along the corridor, but the cone also draws the lateral uncertainty, and uncertainty is not confined to the road. That is deliberate — a pedestrian who steps off the verge is exactly the case we must not model away.</a:t>
            </a:r>
            <a:endParaRPr lang="en-US" sz="1300" dirty="0"/>
          </a:p>
        </p:txBody>
      </p:sp>
      <p:sp>
        <p:nvSpPr>
          <p:cNvPr id="25" name="Shape 23"/>
          <p:cNvSpPr/>
          <p:nvPr/>
        </p:nvSpPr>
        <p:spPr>
          <a:xfrm>
            <a:off x="502920" y="5349240"/>
            <a:ext cx="11183112" cy="777240"/>
          </a:xfrm>
          <a:prstGeom prst="roundRect">
            <a:avLst>
              <a:gd name="adj" fmla="val 7059"/>
            </a:avLst>
          </a:prstGeom>
          <a:solidFill>
            <a:srgbClr val="12151B"/>
          </a:solidFill>
          <a:ln w="12700">
            <a:solidFill>
              <a:srgbClr val="333333"/>
            </a:solidFill>
            <a:prstDash val="solid"/>
          </a:ln>
        </p:spPr>
      </p:sp>
      <p:sp>
        <p:nvSpPr>
          <p:cNvPr id="26" name="Text 24"/>
          <p:cNvSpPr txBox="1"/>
          <p:nvPr/>
        </p:nvSpPr>
        <p:spPr>
          <a:xfrm>
            <a:off x="685800" y="5349240"/>
            <a:ext cx="10817352" cy="777240"/>
          </a:xfrm>
          <a:prstGeom prst="rect">
            <a:avLst/>
          </a:prstGeom>
          <a:noFill/>
          <a:ln/>
        </p:spPr>
        <p:txBody>
          <a:bodyPr wrap="square" lIns="0" tIns="0" rIns="0" bIns="0" rtlCol="0" anchor="ctr"/>
          <a:lstStyle/>
          <a:p>
            <a:pPr indent="0" marL="0">
              <a:buNone/>
            </a:pPr>
            <a:r>
              <a:rPr lang="en-US" sz="1050" b="1" dirty="0">
                <a:solidFill>
                  <a:srgbClr val="E8A33D"/>
                </a:solidFill>
                <a:latin typeface="Arial" pitchFamily="34" charset="0"/>
                <a:ea typeface="Arial" pitchFamily="34" charset="-122"/>
                <a:cs typeface="Arial" pitchFamily="34" charset="-120"/>
              </a:rPr>
              <a:t>In the code   </a:t>
            </a:r>
            <a:pPr indent="0" marL="0">
              <a:buNone/>
            </a:pPr>
            <a:r>
              <a:rPr lang="en-US" sz="1100" dirty="0">
                <a:solidFill>
                  <a:srgbClr val="E6E8EC"/>
                </a:solidFill>
                <a:latin typeface="Arial" pitchFamily="34" charset="0"/>
                <a:ea typeface="Arial" pitchFamily="34" charset="-122"/>
                <a:cs typeface="Arial" pitchFamily="34" charset="-120"/>
              </a:rPr>
              <a:t>sarathi/prediction/intent.py        </a:t>
            </a:r>
            <a:pPr indent="0" marL="0">
              <a:buNone/>
            </a:pPr>
            <a:r>
              <a:rPr lang="en-US" sz="1050" b="1" dirty="0">
                <a:solidFill>
                  <a:srgbClr val="E8A33D"/>
                </a:solidFill>
                <a:latin typeface="Arial" pitchFamily="34" charset="0"/>
                <a:ea typeface="Arial" pitchFamily="34" charset="-122"/>
                <a:cs typeface="Arial" pitchFamily="34" charset="-120"/>
              </a:rPr>
              <a:t>Ask   </a:t>
            </a:r>
            <a:pPr indent="0" marL="0">
              <a:buNone/>
            </a:pPr>
            <a:r>
              <a:rPr lang="en-US" sz="1100" dirty="0">
                <a:solidFill>
                  <a:srgbClr val="E6E8EC"/>
                </a:solidFill>
                <a:latin typeface="Arial" pitchFamily="34" charset="0"/>
                <a:ea typeface="Arial" pitchFamily="34" charset="-122"/>
                <a:cs typeface="Arial" pitchFamily="34" charset="-120"/>
              </a:rPr>
              <a:t>B2</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8</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The risk field — the centre of the whole idea</a:t>
            </a:r>
            <a:endParaRPr lang="en-US" sz="2700" dirty="0"/>
          </a:p>
        </p:txBody>
      </p:sp>
      <p:sp>
        <p:nvSpPr>
          <p:cNvPr id="5" name="Text 3"/>
          <p:cNvSpPr txBox="1"/>
          <p:nvPr/>
        </p:nvSpPr>
        <p:spPr>
          <a:xfrm>
            <a:off x="1069848" y="868680"/>
            <a:ext cx="10616184"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If you only understand one stage deeply, make it this one.</a:t>
            </a:r>
            <a:endParaRPr lang="en-US" sz="1300" dirty="0"/>
          </a:p>
        </p:txBody>
      </p:sp>
      <p:sp>
        <p:nvSpPr>
          <p:cNvPr id="6" name="Shape 4"/>
          <p:cNvSpPr/>
          <p:nvPr/>
        </p:nvSpPr>
        <p:spPr>
          <a:xfrm>
            <a:off x="502920" y="1298448"/>
            <a:ext cx="1467783" cy="365760"/>
          </a:xfrm>
          <a:prstGeom prst="chevron">
            <a:avLst/>
          </a:prstGeom>
          <a:solidFill>
            <a:srgbClr val="12151B"/>
          </a:solidFill>
          <a:ln w="12700">
            <a:solidFill>
              <a:srgbClr val="FFFFFF"/>
            </a:solidFill>
            <a:prstDash val="solid"/>
          </a:ln>
        </p:spPr>
      </p:sp>
      <p:sp>
        <p:nvSpPr>
          <p:cNvPr id="7" name="Text 5"/>
          <p:cNvSpPr txBox="1"/>
          <p:nvPr/>
        </p:nvSpPr>
        <p:spPr>
          <a:xfrm>
            <a:off x="502920"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SENSE</a:t>
            </a:r>
            <a:endParaRPr lang="en-US" sz="850" dirty="0"/>
          </a:p>
        </p:txBody>
      </p:sp>
      <p:sp>
        <p:nvSpPr>
          <p:cNvPr id="8" name="Shape 6"/>
          <p:cNvSpPr/>
          <p:nvPr/>
        </p:nvSpPr>
        <p:spPr>
          <a:xfrm>
            <a:off x="1900809" y="1298448"/>
            <a:ext cx="1467783" cy="365760"/>
          </a:xfrm>
          <a:prstGeom prst="chevron">
            <a:avLst/>
          </a:prstGeom>
          <a:solidFill>
            <a:srgbClr val="12151B"/>
          </a:solidFill>
          <a:ln w="12700">
            <a:solidFill>
              <a:srgbClr val="FFFFFF"/>
            </a:solidFill>
            <a:prstDash val="solid"/>
          </a:ln>
        </p:spPr>
      </p:sp>
      <p:sp>
        <p:nvSpPr>
          <p:cNvPr id="9" name="Text 7"/>
          <p:cNvSpPr txBox="1"/>
          <p:nvPr/>
        </p:nvSpPr>
        <p:spPr>
          <a:xfrm>
            <a:off x="1900809"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FUSE</a:t>
            </a:r>
            <a:endParaRPr lang="en-US" sz="850" dirty="0"/>
          </a:p>
        </p:txBody>
      </p:sp>
      <p:sp>
        <p:nvSpPr>
          <p:cNvPr id="10" name="Shape 8"/>
          <p:cNvSpPr/>
          <p:nvPr/>
        </p:nvSpPr>
        <p:spPr>
          <a:xfrm>
            <a:off x="3298698" y="1298448"/>
            <a:ext cx="1467783" cy="365760"/>
          </a:xfrm>
          <a:prstGeom prst="chevron">
            <a:avLst/>
          </a:prstGeom>
          <a:solidFill>
            <a:srgbClr val="12151B"/>
          </a:solidFill>
          <a:ln w="12700">
            <a:solidFill>
              <a:srgbClr val="FFFFFF"/>
            </a:solidFill>
            <a:prstDash val="solid"/>
          </a:ln>
        </p:spPr>
      </p:sp>
      <p:sp>
        <p:nvSpPr>
          <p:cNvPr id="11" name="Text 9"/>
          <p:cNvSpPr txBox="1"/>
          <p:nvPr/>
        </p:nvSpPr>
        <p:spPr>
          <a:xfrm>
            <a:off x="3298698"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PREDICT</a:t>
            </a:r>
            <a:endParaRPr lang="en-US" sz="850" dirty="0"/>
          </a:p>
        </p:txBody>
      </p:sp>
      <p:sp>
        <p:nvSpPr>
          <p:cNvPr id="12" name="Shape 10"/>
          <p:cNvSpPr/>
          <p:nvPr/>
        </p:nvSpPr>
        <p:spPr>
          <a:xfrm>
            <a:off x="4696587" y="1298448"/>
            <a:ext cx="1467783" cy="365760"/>
          </a:xfrm>
          <a:prstGeom prst="chevron">
            <a:avLst/>
          </a:prstGeom>
          <a:solidFill>
            <a:srgbClr val="E8A33D"/>
          </a:solidFill>
          <a:ln w="12700">
            <a:solidFill>
              <a:srgbClr val="FFFFFF"/>
            </a:solidFill>
            <a:prstDash val="solid"/>
          </a:ln>
        </p:spPr>
      </p:sp>
      <p:sp>
        <p:nvSpPr>
          <p:cNvPr id="13" name="Text 11"/>
          <p:cNvSpPr txBox="1"/>
          <p:nvPr/>
        </p:nvSpPr>
        <p:spPr>
          <a:xfrm>
            <a:off x="4696587" y="1298448"/>
            <a:ext cx="1467783" cy="365760"/>
          </a:xfrm>
          <a:prstGeom prst="rect">
            <a:avLst/>
          </a:prstGeom>
          <a:noFill/>
          <a:ln/>
        </p:spPr>
        <p:txBody>
          <a:bodyPr wrap="square" lIns="0" tIns="0" rIns="0" bIns="0" rtlCol="0" anchor="ctr"/>
          <a:lstStyle/>
          <a:p>
            <a:pPr algn="ctr" indent="0" marL="0">
              <a:buNone/>
            </a:pPr>
            <a:r>
              <a:rPr lang="en-US" sz="850" b="1" dirty="0">
                <a:solidFill>
                  <a:srgbClr val="12151B"/>
                </a:solidFill>
                <a:latin typeface="Arial" pitchFamily="34" charset="0"/>
                <a:ea typeface="Arial" pitchFamily="34" charset="-122"/>
                <a:cs typeface="Arial" pitchFamily="34" charset="-120"/>
              </a:rPr>
              <a:t>RISK FIELD</a:t>
            </a:r>
            <a:endParaRPr lang="en-US" sz="850" dirty="0"/>
          </a:p>
        </p:txBody>
      </p:sp>
      <p:sp>
        <p:nvSpPr>
          <p:cNvPr id="14" name="Shape 12"/>
          <p:cNvSpPr/>
          <p:nvPr/>
        </p:nvSpPr>
        <p:spPr>
          <a:xfrm>
            <a:off x="6094476" y="1298448"/>
            <a:ext cx="1467783" cy="365760"/>
          </a:xfrm>
          <a:prstGeom prst="chevron">
            <a:avLst/>
          </a:prstGeom>
          <a:solidFill>
            <a:srgbClr val="12151B"/>
          </a:solidFill>
          <a:ln w="12700">
            <a:solidFill>
              <a:srgbClr val="FFFFFF"/>
            </a:solidFill>
            <a:prstDash val="solid"/>
          </a:ln>
        </p:spPr>
      </p:sp>
      <p:sp>
        <p:nvSpPr>
          <p:cNvPr id="15" name="Text 13"/>
          <p:cNvSpPr txBox="1"/>
          <p:nvPr/>
        </p:nvSpPr>
        <p:spPr>
          <a:xfrm>
            <a:off x="6094476"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CORRIDOR</a:t>
            </a:r>
            <a:endParaRPr lang="en-US" sz="850" dirty="0"/>
          </a:p>
        </p:txBody>
      </p:sp>
      <p:sp>
        <p:nvSpPr>
          <p:cNvPr id="16" name="Shape 14"/>
          <p:cNvSpPr/>
          <p:nvPr/>
        </p:nvSpPr>
        <p:spPr>
          <a:xfrm>
            <a:off x="7492365" y="1298448"/>
            <a:ext cx="1467783" cy="365760"/>
          </a:xfrm>
          <a:prstGeom prst="chevron">
            <a:avLst/>
          </a:prstGeom>
          <a:solidFill>
            <a:srgbClr val="12151B"/>
          </a:solidFill>
          <a:ln w="12700">
            <a:solidFill>
              <a:srgbClr val="FFFFFF"/>
            </a:solidFill>
            <a:prstDash val="solid"/>
          </a:ln>
        </p:spPr>
      </p:sp>
      <p:sp>
        <p:nvSpPr>
          <p:cNvPr id="17" name="Text 15"/>
          <p:cNvSpPr txBox="1"/>
          <p:nvPr/>
        </p:nvSpPr>
        <p:spPr>
          <a:xfrm>
            <a:off x="7492365"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BEHAVIOUR</a:t>
            </a:r>
            <a:endParaRPr lang="en-US" sz="850" dirty="0"/>
          </a:p>
        </p:txBody>
      </p:sp>
      <p:sp>
        <p:nvSpPr>
          <p:cNvPr id="18" name="Shape 16"/>
          <p:cNvSpPr/>
          <p:nvPr/>
        </p:nvSpPr>
        <p:spPr>
          <a:xfrm>
            <a:off x="8890254" y="1298448"/>
            <a:ext cx="1467783" cy="365760"/>
          </a:xfrm>
          <a:prstGeom prst="chevron">
            <a:avLst/>
          </a:prstGeom>
          <a:solidFill>
            <a:srgbClr val="12151B"/>
          </a:solidFill>
          <a:ln w="12700">
            <a:solidFill>
              <a:srgbClr val="FFFFFF"/>
            </a:solidFill>
            <a:prstDash val="solid"/>
          </a:ln>
        </p:spPr>
      </p:sp>
      <p:sp>
        <p:nvSpPr>
          <p:cNvPr id="19" name="Text 17"/>
          <p:cNvSpPr txBox="1"/>
          <p:nvPr/>
        </p:nvSpPr>
        <p:spPr>
          <a:xfrm>
            <a:off x="8890254"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LATTICE</a:t>
            </a:r>
            <a:endParaRPr lang="en-US" sz="850" dirty="0"/>
          </a:p>
        </p:txBody>
      </p:sp>
      <p:sp>
        <p:nvSpPr>
          <p:cNvPr id="20" name="Shape 18"/>
          <p:cNvSpPr/>
          <p:nvPr/>
        </p:nvSpPr>
        <p:spPr>
          <a:xfrm>
            <a:off x="10288143" y="1298448"/>
            <a:ext cx="1467783" cy="365760"/>
          </a:xfrm>
          <a:prstGeom prst="chevron">
            <a:avLst/>
          </a:prstGeom>
          <a:solidFill>
            <a:srgbClr val="12151B"/>
          </a:solidFill>
          <a:ln w="12700">
            <a:solidFill>
              <a:srgbClr val="FFFFFF"/>
            </a:solidFill>
            <a:prstDash val="solid"/>
          </a:ln>
        </p:spPr>
      </p:sp>
      <p:sp>
        <p:nvSpPr>
          <p:cNvPr id="21" name="Text 19"/>
          <p:cNvSpPr txBox="1"/>
          <p:nvPr/>
        </p:nvSpPr>
        <p:spPr>
          <a:xfrm>
            <a:off x="10288143"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RSS + CBF</a:t>
            </a:r>
            <a:endParaRPr lang="en-US" sz="850" dirty="0"/>
          </a:p>
        </p:txBody>
      </p:sp>
      <p:sp>
        <p:nvSpPr>
          <p:cNvPr id="22" name="Text 20"/>
          <p:cNvSpPr txBox="1"/>
          <p:nvPr/>
        </p:nvSpPr>
        <p:spPr>
          <a:xfrm>
            <a:off x="502920" y="1965960"/>
            <a:ext cx="5989320" cy="3108960"/>
          </a:xfrm>
          <a:prstGeom prst="rect">
            <a:avLst/>
          </a:prstGeom>
          <a:noFill/>
          <a:ln/>
        </p:spPr>
        <p:txBody>
          <a:bodyPr wrap="square" lIns="0" tIns="0" rIns="0" bIns="0" rtlCol="0" anchor="t"/>
          <a:lstStyle/>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Continuous, not a grid.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Every point in (s, d, t) has a risk value, so the planner can trade a little risk for a lot of progress instead of hitting a wall.</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Class-conditioned.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The kernel around a cow is not the kernel around a barricade — different size, different anisotropy, different growth in time.</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Harm-weighted.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A pedestrian costs more than sheet metal. This is a deliberate ethical choice and we should say so out loud.</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Flat-top kernels.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The core is the config-space footprint — inside it, risk is saturated. The skirt is uncertainty. That shape is why clearance behaves sanely.</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Time-indexed.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The field at t+2 s is built from predictions, so the lattice is scored against where things will be, not where they were.</a:t>
            </a:r>
            <a:endParaRPr lang="en-US" sz="1300" dirty="0"/>
          </a:p>
        </p:txBody>
      </p:sp>
      <p:pic>
        <p:nvPicPr>
          <p:cNvPr id="23" name="Image 0" descr="/home/user/automated-driving/artifacts/fig-bev.png">    </p:cNvPr>
          <p:cNvPicPr>
            <a:picLocks noChangeAspect="1"/>
          </p:cNvPicPr>
          <p:nvPr/>
        </p:nvPicPr>
        <p:blipFill>
          <a:blip r:embed="rId1"/>
          <a:stretch>
            <a:fillRect/>
          </a:stretch>
        </p:blipFill>
        <p:spPr>
          <a:xfrm>
            <a:off x="6766560" y="1965960"/>
            <a:ext cx="4919472" cy="1756954"/>
          </a:xfrm>
          <a:prstGeom prst="rect">
            <a:avLst/>
          </a:prstGeom>
        </p:spPr>
      </p:pic>
      <p:sp>
        <p:nvSpPr>
          <p:cNvPr id="24" name="Text 21"/>
          <p:cNvSpPr txBox="1"/>
          <p:nvPr/>
        </p:nvSpPr>
        <p:spPr>
          <a:xfrm>
            <a:off x="6766560" y="4279392"/>
            <a:ext cx="4919472" cy="292608"/>
          </a:xfrm>
          <a:prstGeom prst="rect">
            <a:avLst/>
          </a:prstGeom>
          <a:noFill/>
          <a:ln/>
        </p:spPr>
        <p:txBody>
          <a:bodyPr wrap="square" lIns="0" tIns="0" rIns="0" bIns="0" rtlCol="0" anchor="ctr"/>
          <a:lstStyle/>
          <a:p>
            <a:pPr indent="0" marL="0">
              <a:buNone/>
            </a:pPr>
            <a:r>
              <a:rPr lang="en-US" sz="950" i="1" dirty="0">
                <a:solidFill>
                  <a:srgbClr val="6B7280"/>
                </a:solidFill>
                <a:latin typeface="Arial" pitchFamily="34" charset="0"/>
                <a:ea typeface="Arial" pitchFamily="34" charset="-122"/>
                <a:cs typeface="Arial" pitchFamily="34" charset="-120"/>
              </a:rPr>
              <a:t>Red is the risk field at the current instant. The grey fan is every trajectory scored this tick; amber is the one chosen.</a:t>
            </a:r>
            <a:endParaRPr lang="en-US" sz="950" dirty="0"/>
          </a:p>
        </p:txBody>
      </p:sp>
      <p:sp>
        <p:nvSpPr>
          <p:cNvPr id="25" name="Shape 22"/>
          <p:cNvSpPr/>
          <p:nvPr/>
        </p:nvSpPr>
        <p:spPr>
          <a:xfrm>
            <a:off x="6766560" y="4617720"/>
            <a:ext cx="4919472" cy="640080"/>
          </a:xfrm>
          <a:prstGeom prst="roundRect">
            <a:avLst>
              <a:gd name="adj" fmla="val 8571"/>
            </a:avLst>
          </a:prstGeom>
          <a:solidFill>
            <a:srgbClr val="F2F4F7"/>
          </a:solidFill>
          <a:ln w="12700">
            <a:solidFill>
              <a:srgbClr val="F2F4F7"/>
            </a:solidFill>
            <a:prstDash val="solid"/>
          </a:ln>
        </p:spPr>
      </p:sp>
      <p:sp>
        <p:nvSpPr>
          <p:cNvPr id="26" name="Text 23"/>
          <p:cNvSpPr txBox="1"/>
          <p:nvPr/>
        </p:nvSpPr>
        <p:spPr>
          <a:xfrm>
            <a:off x="6931152" y="4736592"/>
            <a:ext cx="4590288" cy="402336"/>
          </a:xfrm>
          <a:prstGeom prst="rect">
            <a:avLst/>
          </a:prstGeom>
          <a:noFill/>
          <a:ln/>
        </p:spPr>
        <p:txBody>
          <a:bodyPr wrap="square" lIns="0" tIns="0" rIns="0" bIns="0" rtlCol="0" anchor="ctr"/>
          <a:lstStyle/>
          <a:p>
            <a:pPr indent="0" marL="0">
              <a:lnSpc>
                <a:spcPct val="106000"/>
              </a:lnSpc>
              <a:spcAft>
                <a:spcPts val="400"/>
              </a:spcAft>
              <a:buNone/>
            </a:pPr>
            <a:r>
              <a:rPr lang="en-US" sz="1100" dirty="0">
                <a:solidFill>
                  <a:srgbClr val="1A1D23"/>
                </a:solidFill>
                <a:latin typeface="Arial" pitchFamily="34" charset="0"/>
                <a:ea typeface="Arial" pitchFamily="34" charset="-122"/>
                <a:cs typeface="Arial" pitchFamily="34" charset="-120"/>
              </a:rPr>
              <a:t>Building the whole field costs 18 ms a tick — it was 116 ms before we vectorised it.</a:t>
            </a:r>
            <a:endParaRPr lang="en-US" sz="1100" dirty="0"/>
          </a:p>
        </p:txBody>
      </p:sp>
      <p:sp>
        <p:nvSpPr>
          <p:cNvPr id="27" name="Shape 24"/>
          <p:cNvSpPr/>
          <p:nvPr/>
        </p:nvSpPr>
        <p:spPr>
          <a:xfrm>
            <a:off x="502920" y="5349240"/>
            <a:ext cx="11183112" cy="777240"/>
          </a:xfrm>
          <a:prstGeom prst="roundRect">
            <a:avLst>
              <a:gd name="adj" fmla="val 7059"/>
            </a:avLst>
          </a:prstGeom>
          <a:solidFill>
            <a:srgbClr val="12151B"/>
          </a:solidFill>
          <a:ln w="12700">
            <a:solidFill>
              <a:srgbClr val="333333"/>
            </a:solidFill>
            <a:prstDash val="solid"/>
          </a:ln>
        </p:spPr>
      </p:sp>
      <p:sp>
        <p:nvSpPr>
          <p:cNvPr id="28" name="Text 25"/>
          <p:cNvSpPr txBox="1"/>
          <p:nvPr/>
        </p:nvSpPr>
        <p:spPr>
          <a:xfrm>
            <a:off x="685800" y="5349240"/>
            <a:ext cx="10817352" cy="777240"/>
          </a:xfrm>
          <a:prstGeom prst="rect">
            <a:avLst/>
          </a:prstGeom>
          <a:noFill/>
          <a:ln/>
        </p:spPr>
        <p:txBody>
          <a:bodyPr wrap="square" lIns="0" tIns="0" rIns="0" bIns="0" rtlCol="0" anchor="ctr"/>
          <a:lstStyle/>
          <a:p>
            <a:pPr indent="0" marL="0">
              <a:buNone/>
            </a:pPr>
            <a:r>
              <a:rPr lang="en-US" sz="1050" b="1" dirty="0">
                <a:solidFill>
                  <a:srgbClr val="E8A33D"/>
                </a:solidFill>
                <a:latin typeface="Arial" pitchFamily="34" charset="0"/>
                <a:ea typeface="Arial" pitchFamily="34" charset="-122"/>
                <a:cs typeface="Arial" pitchFamily="34" charset="-120"/>
              </a:rPr>
              <a:t>In the code   </a:t>
            </a:r>
            <a:pPr indent="0" marL="0">
              <a:buNone/>
            </a:pPr>
            <a:r>
              <a:rPr lang="en-US" sz="1100" dirty="0">
                <a:solidFill>
                  <a:srgbClr val="E6E8EC"/>
                </a:solidFill>
                <a:latin typeface="Arial" pitchFamily="34" charset="0"/>
                <a:ea typeface="Arial" pitchFamily="34" charset="-122"/>
                <a:cs typeface="Arial" pitchFamily="34" charset="-120"/>
              </a:rPr>
              <a:t>sarathi/planning/risk.py        </a:t>
            </a:r>
            <a:pPr indent="0" marL="0">
              <a:buNone/>
            </a:pPr>
            <a:r>
              <a:rPr lang="en-US" sz="1050" b="1" dirty="0">
                <a:solidFill>
                  <a:srgbClr val="E8A33D"/>
                </a:solidFill>
                <a:latin typeface="Arial" pitchFamily="34" charset="0"/>
                <a:ea typeface="Arial" pitchFamily="34" charset="-122"/>
                <a:cs typeface="Arial" pitchFamily="34" charset="-120"/>
              </a:rPr>
              <a:t>Ask   </a:t>
            </a:r>
            <a:pPr indent="0" marL="0">
              <a:buNone/>
            </a:pPr>
            <a:r>
              <a:rPr lang="en-US" sz="1100" dirty="0">
                <a:solidFill>
                  <a:srgbClr val="E6E8EC"/>
                </a:solidFill>
                <a:latin typeface="Arial" pitchFamily="34" charset="0"/>
                <a:ea typeface="Arial" pitchFamily="34" charset="-122"/>
                <a:cs typeface="Arial" pitchFamily="34" charset="-120"/>
              </a:rPr>
              <a:t>B1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9</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The corridor — what replaced the lane</a:t>
            </a:r>
            <a:endParaRPr lang="en-US" sz="2700" dirty="0"/>
          </a:p>
        </p:txBody>
      </p:sp>
      <p:sp>
        <p:nvSpPr>
          <p:cNvPr id="5" name="Text 3"/>
          <p:cNvSpPr txBox="1"/>
          <p:nvPr/>
        </p:nvSpPr>
        <p:spPr>
          <a:xfrm>
            <a:off x="1069848" y="868680"/>
            <a:ext cx="10616184"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A dynamic program, not a rule.</a:t>
            </a:r>
            <a:endParaRPr lang="en-US" sz="1300" dirty="0"/>
          </a:p>
        </p:txBody>
      </p:sp>
      <p:sp>
        <p:nvSpPr>
          <p:cNvPr id="6" name="Shape 4"/>
          <p:cNvSpPr/>
          <p:nvPr/>
        </p:nvSpPr>
        <p:spPr>
          <a:xfrm>
            <a:off x="502920" y="1298448"/>
            <a:ext cx="1467783" cy="365760"/>
          </a:xfrm>
          <a:prstGeom prst="chevron">
            <a:avLst/>
          </a:prstGeom>
          <a:solidFill>
            <a:srgbClr val="12151B"/>
          </a:solidFill>
          <a:ln w="12700">
            <a:solidFill>
              <a:srgbClr val="FFFFFF"/>
            </a:solidFill>
            <a:prstDash val="solid"/>
          </a:ln>
        </p:spPr>
      </p:sp>
      <p:sp>
        <p:nvSpPr>
          <p:cNvPr id="7" name="Text 5"/>
          <p:cNvSpPr txBox="1"/>
          <p:nvPr/>
        </p:nvSpPr>
        <p:spPr>
          <a:xfrm>
            <a:off x="502920"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SENSE</a:t>
            </a:r>
            <a:endParaRPr lang="en-US" sz="850" dirty="0"/>
          </a:p>
        </p:txBody>
      </p:sp>
      <p:sp>
        <p:nvSpPr>
          <p:cNvPr id="8" name="Shape 6"/>
          <p:cNvSpPr/>
          <p:nvPr/>
        </p:nvSpPr>
        <p:spPr>
          <a:xfrm>
            <a:off x="1900809" y="1298448"/>
            <a:ext cx="1467783" cy="365760"/>
          </a:xfrm>
          <a:prstGeom prst="chevron">
            <a:avLst/>
          </a:prstGeom>
          <a:solidFill>
            <a:srgbClr val="12151B"/>
          </a:solidFill>
          <a:ln w="12700">
            <a:solidFill>
              <a:srgbClr val="FFFFFF"/>
            </a:solidFill>
            <a:prstDash val="solid"/>
          </a:ln>
        </p:spPr>
      </p:sp>
      <p:sp>
        <p:nvSpPr>
          <p:cNvPr id="9" name="Text 7"/>
          <p:cNvSpPr txBox="1"/>
          <p:nvPr/>
        </p:nvSpPr>
        <p:spPr>
          <a:xfrm>
            <a:off x="1900809"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FUSE</a:t>
            </a:r>
            <a:endParaRPr lang="en-US" sz="850" dirty="0"/>
          </a:p>
        </p:txBody>
      </p:sp>
      <p:sp>
        <p:nvSpPr>
          <p:cNvPr id="10" name="Shape 8"/>
          <p:cNvSpPr/>
          <p:nvPr/>
        </p:nvSpPr>
        <p:spPr>
          <a:xfrm>
            <a:off x="3298698" y="1298448"/>
            <a:ext cx="1467783" cy="365760"/>
          </a:xfrm>
          <a:prstGeom prst="chevron">
            <a:avLst/>
          </a:prstGeom>
          <a:solidFill>
            <a:srgbClr val="12151B"/>
          </a:solidFill>
          <a:ln w="12700">
            <a:solidFill>
              <a:srgbClr val="FFFFFF"/>
            </a:solidFill>
            <a:prstDash val="solid"/>
          </a:ln>
        </p:spPr>
      </p:sp>
      <p:sp>
        <p:nvSpPr>
          <p:cNvPr id="11" name="Text 9"/>
          <p:cNvSpPr txBox="1"/>
          <p:nvPr/>
        </p:nvSpPr>
        <p:spPr>
          <a:xfrm>
            <a:off x="3298698"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PREDICT</a:t>
            </a:r>
            <a:endParaRPr lang="en-US" sz="850" dirty="0"/>
          </a:p>
        </p:txBody>
      </p:sp>
      <p:sp>
        <p:nvSpPr>
          <p:cNvPr id="12" name="Shape 10"/>
          <p:cNvSpPr/>
          <p:nvPr/>
        </p:nvSpPr>
        <p:spPr>
          <a:xfrm>
            <a:off x="4696587" y="1298448"/>
            <a:ext cx="1467783" cy="365760"/>
          </a:xfrm>
          <a:prstGeom prst="chevron">
            <a:avLst/>
          </a:prstGeom>
          <a:solidFill>
            <a:srgbClr val="12151B"/>
          </a:solidFill>
          <a:ln w="12700">
            <a:solidFill>
              <a:srgbClr val="FFFFFF"/>
            </a:solidFill>
            <a:prstDash val="solid"/>
          </a:ln>
        </p:spPr>
      </p:sp>
      <p:sp>
        <p:nvSpPr>
          <p:cNvPr id="13" name="Text 11"/>
          <p:cNvSpPr txBox="1"/>
          <p:nvPr/>
        </p:nvSpPr>
        <p:spPr>
          <a:xfrm>
            <a:off x="4696587"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RISK FIELD</a:t>
            </a:r>
            <a:endParaRPr lang="en-US" sz="850" dirty="0"/>
          </a:p>
        </p:txBody>
      </p:sp>
      <p:sp>
        <p:nvSpPr>
          <p:cNvPr id="14" name="Shape 12"/>
          <p:cNvSpPr/>
          <p:nvPr/>
        </p:nvSpPr>
        <p:spPr>
          <a:xfrm>
            <a:off x="6094476" y="1298448"/>
            <a:ext cx="1467783" cy="365760"/>
          </a:xfrm>
          <a:prstGeom prst="chevron">
            <a:avLst/>
          </a:prstGeom>
          <a:solidFill>
            <a:srgbClr val="E8A33D"/>
          </a:solidFill>
          <a:ln w="12700">
            <a:solidFill>
              <a:srgbClr val="FFFFFF"/>
            </a:solidFill>
            <a:prstDash val="solid"/>
          </a:ln>
        </p:spPr>
      </p:sp>
      <p:sp>
        <p:nvSpPr>
          <p:cNvPr id="15" name="Text 13"/>
          <p:cNvSpPr txBox="1"/>
          <p:nvPr/>
        </p:nvSpPr>
        <p:spPr>
          <a:xfrm>
            <a:off x="6094476" y="1298448"/>
            <a:ext cx="1467783" cy="365760"/>
          </a:xfrm>
          <a:prstGeom prst="rect">
            <a:avLst/>
          </a:prstGeom>
          <a:noFill/>
          <a:ln/>
        </p:spPr>
        <p:txBody>
          <a:bodyPr wrap="square" lIns="0" tIns="0" rIns="0" bIns="0" rtlCol="0" anchor="ctr"/>
          <a:lstStyle/>
          <a:p>
            <a:pPr algn="ctr" indent="0" marL="0">
              <a:buNone/>
            </a:pPr>
            <a:r>
              <a:rPr lang="en-US" sz="850" b="1" dirty="0">
                <a:solidFill>
                  <a:srgbClr val="12151B"/>
                </a:solidFill>
                <a:latin typeface="Arial" pitchFamily="34" charset="0"/>
                <a:ea typeface="Arial" pitchFamily="34" charset="-122"/>
                <a:cs typeface="Arial" pitchFamily="34" charset="-120"/>
              </a:rPr>
              <a:t>CORRIDOR</a:t>
            </a:r>
            <a:endParaRPr lang="en-US" sz="850" dirty="0"/>
          </a:p>
        </p:txBody>
      </p:sp>
      <p:sp>
        <p:nvSpPr>
          <p:cNvPr id="16" name="Shape 14"/>
          <p:cNvSpPr/>
          <p:nvPr/>
        </p:nvSpPr>
        <p:spPr>
          <a:xfrm>
            <a:off x="7492365" y="1298448"/>
            <a:ext cx="1467783" cy="365760"/>
          </a:xfrm>
          <a:prstGeom prst="chevron">
            <a:avLst/>
          </a:prstGeom>
          <a:solidFill>
            <a:srgbClr val="12151B"/>
          </a:solidFill>
          <a:ln w="12700">
            <a:solidFill>
              <a:srgbClr val="FFFFFF"/>
            </a:solidFill>
            <a:prstDash val="solid"/>
          </a:ln>
        </p:spPr>
      </p:sp>
      <p:sp>
        <p:nvSpPr>
          <p:cNvPr id="17" name="Text 15"/>
          <p:cNvSpPr txBox="1"/>
          <p:nvPr/>
        </p:nvSpPr>
        <p:spPr>
          <a:xfrm>
            <a:off x="7492365"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BEHAVIOUR</a:t>
            </a:r>
            <a:endParaRPr lang="en-US" sz="850" dirty="0"/>
          </a:p>
        </p:txBody>
      </p:sp>
      <p:sp>
        <p:nvSpPr>
          <p:cNvPr id="18" name="Shape 16"/>
          <p:cNvSpPr/>
          <p:nvPr/>
        </p:nvSpPr>
        <p:spPr>
          <a:xfrm>
            <a:off x="8890254" y="1298448"/>
            <a:ext cx="1467783" cy="365760"/>
          </a:xfrm>
          <a:prstGeom prst="chevron">
            <a:avLst/>
          </a:prstGeom>
          <a:solidFill>
            <a:srgbClr val="12151B"/>
          </a:solidFill>
          <a:ln w="12700">
            <a:solidFill>
              <a:srgbClr val="FFFFFF"/>
            </a:solidFill>
            <a:prstDash val="solid"/>
          </a:ln>
        </p:spPr>
      </p:sp>
      <p:sp>
        <p:nvSpPr>
          <p:cNvPr id="19" name="Text 17"/>
          <p:cNvSpPr txBox="1"/>
          <p:nvPr/>
        </p:nvSpPr>
        <p:spPr>
          <a:xfrm>
            <a:off x="8890254"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LATTICE</a:t>
            </a:r>
            <a:endParaRPr lang="en-US" sz="850" dirty="0"/>
          </a:p>
        </p:txBody>
      </p:sp>
      <p:sp>
        <p:nvSpPr>
          <p:cNvPr id="20" name="Shape 18"/>
          <p:cNvSpPr/>
          <p:nvPr/>
        </p:nvSpPr>
        <p:spPr>
          <a:xfrm>
            <a:off x="10288143" y="1298448"/>
            <a:ext cx="1467783" cy="365760"/>
          </a:xfrm>
          <a:prstGeom prst="chevron">
            <a:avLst/>
          </a:prstGeom>
          <a:solidFill>
            <a:srgbClr val="12151B"/>
          </a:solidFill>
          <a:ln w="12700">
            <a:solidFill>
              <a:srgbClr val="FFFFFF"/>
            </a:solidFill>
            <a:prstDash val="solid"/>
          </a:ln>
        </p:spPr>
      </p:sp>
      <p:sp>
        <p:nvSpPr>
          <p:cNvPr id="21" name="Text 19"/>
          <p:cNvSpPr txBox="1"/>
          <p:nvPr/>
        </p:nvSpPr>
        <p:spPr>
          <a:xfrm>
            <a:off x="10288143"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RSS + CBF</a:t>
            </a:r>
            <a:endParaRPr lang="en-US" sz="850" dirty="0"/>
          </a:p>
        </p:txBody>
      </p:sp>
      <p:sp>
        <p:nvSpPr>
          <p:cNvPr id="22" name="Text 20"/>
          <p:cNvSpPr txBox="1"/>
          <p:nvPr/>
        </p:nvSpPr>
        <p:spPr>
          <a:xfrm>
            <a:off x="502920" y="1965960"/>
            <a:ext cx="5989320" cy="3108960"/>
          </a:xfrm>
          <a:prstGeom prst="rect">
            <a:avLst/>
          </a:prstGeom>
          <a:noFill/>
          <a:ln/>
        </p:spPr>
        <p:txBody>
          <a:bodyPr wrap="square" lIns="0" tIns="0" rIns="0" bIns="0" rtlCol="0" anchor="t"/>
          <a:lstStyle/>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State is (distance along, lateral offset).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Cost combines risk, deviation, and how much the offset has to change.</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The verge is drivable,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at a price. A shoulder of 0.9 m is part of the search space, because on a village road it is part of the road.</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A pothole is a cost bowl,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not an obstacle. You can cross it slowly; the planner decides whether that is worth it.</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Output is a reference line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plus a clearance profile and which side is free — the behaviour layer needs all three.</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This is what makes markings irrelevant.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There is no branch anywhere in the code for 'markings missing'.</a:t>
            </a:r>
            <a:endParaRPr lang="en-US" sz="1300" dirty="0"/>
          </a:p>
        </p:txBody>
      </p:sp>
      <p:sp>
        <p:nvSpPr>
          <p:cNvPr id="23" name="Shape 21"/>
          <p:cNvSpPr/>
          <p:nvPr/>
        </p:nvSpPr>
        <p:spPr>
          <a:xfrm>
            <a:off x="6766560" y="1965960"/>
            <a:ext cx="4919472" cy="1645920"/>
          </a:xfrm>
          <a:prstGeom prst="roundRect">
            <a:avLst>
              <a:gd name="adj" fmla="val 3333"/>
            </a:avLst>
          </a:prstGeom>
          <a:solidFill>
            <a:srgbClr val="F2F4F7"/>
          </a:solidFill>
          <a:ln w="12700">
            <a:solidFill>
              <a:srgbClr val="F2F4F7"/>
            </a:solidFill>
            <a:prstDash val="solid"/>
          </a:ln>
        </p:spPr>
      </p:sp>
      <p:sp>
        <p:nvSpPr>
          <p:cNvPr id="24" name="Text 22"/>
          <p:cNvSpPr txBox="1"/>
          <p:nvPr/>
        </p:nvSpPr>
        <p:spPr>
          <a:xfrm>
            <a:off x="6931152" y="2084832"/>
            <a:ext cx="4590288" cy="140817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12151B"/>
                </a:solidFill>
                <a:latin typeface="Arial" pitchFamily="34" charset="0"/>
                <a:ea typeface="Arial" pitchFamily="34" charset="-122"/>
                <a:cs typeface="Arial" pitchFamily="34" charset="-120"/>
              </a:rPr>
              <a:t>Judge question you will get</a:t>
            </a:r>
            <a:endParaRPr lang="en-US" sz="1300" dirty="0"/>
          </a:p>
          <a:p>
            <a:pPr indent="0" marL="0">
              <a:lnSpc>
                <a:spcPct val="106000"/>
              </a:lnSpc>
              <a:spcAft>
                <a:spcPts val="400"/>
              </a:spcAft>
              <a:buNone/>
            </a:pPr>
            <a:r>
              <a:rPr lang="en-US" sz="1250" dirty="0">
                <a:solidFill>
                  <a:srgbClr val="1A1D23"/>
                </a:solidFill>
                <a:latin typeface="Arial" pitchFamily="34" charset="0"/>
                <a:ea typeface="Arial" pitchFamily="34" charset="-122"/>
                <a:cs typeface="Arial" pitchFamily="34" charset="-120"/>
              </a:rPr>
              <a:t>“Isn't your corridor just a lane you computed?” — Yes, and that is the point: it is derived from free space every tick instead of read from paint. When a bus stops in it, the corridor bends around the bus; a lane cannot.</a:t>
            </a:r>
            <a:endParaRPr lang="en-US" sz="1300" dirty="0"/>
          </a:p>
        </p:txBody>
      </p:sp>
      <p:sp>
        <p:nvSpPr>
          <p:cNvPr id="25" name="Shape 23"/>
          <p:cNvSpPr/>
          <p:nvPr/>
        </p:nvSpPr>
        <p:spPr>
          <a:xfrm>
            <a:off x="502920" y="5349240"/>
            <a:ext cx="11183112" cy="777240"/>
          </a:xfrm>
          <a:prstGeom prst="roundRect">
            <a:avLst>
              <a:gd name="adj" fmla="val 7059"/>
            </a:avLst>
          </a:prstGeom>
          <a:solidFill>
            <a:srgbClr val="12151B"/>
          </a:solidFill>
          <a:ln w="12700">
            <a:solidFill>
              <a:srgbClr val="333333"/>
            </a:solidFill>
            <a:prstDash val="solid"/>
          </a:ln>
        </p:spPr>
      </p:sp>
      <p:sp>
        <p:nvSpPr>
          <p:cNvPr id="26" name="Text 24"/>
          <p:cNvSpPr txBox="1"/>
          <p:nvPr/>
        </p:nvSpPr>
        <p:spPr>
          <a:xfrm>
            <a:off x="685800" y="5349240"/>
            <a:ext cx="10817352" cy="777240"/>
          </a:xfrm>
          <a:prstGeom prst="rect">
            <a:avLst/>
          </a:prstGeom>
          <a:noFill/>
          <a:ln/>
        </p:spPr>
        <p:txBody>
          <a:bodyPr wrap="square" lIns="0" tIns="0" rIns="0" bIns="0" rtlCol="0" anchor="ctr"/>
          <a:lstStyle/>
          <a:p>
            <a:pPr indent="0" marL="0">
              <a:buNone/>
            </a:pPr>
            <a:r>
              <a:rPr lang="en-US" sz="1050" b="1" dirty="0">
                <a:solidFill>
                  <a:srgbClr val="E8A33D"/>
                </a:solidFill>
                <a:latin typeface="Arial" pitchFamily="34" charset="0"/>
                <a:ea typeface="Arial" pitchFamily="34" charset="-122"/>
                <a:cs typeface="Arial" pitchFamily="34" charset="-120"/>
              </a:rPr>
              <a:t>In the code   </a:t>
            </a:r>
            <a:pPr indent="0" marL="0">
              <a:buNone/>
            </a:pPr>
            <a:r>
              <a:rPr lang="en-US" sz="1100" dirty="0">
                <a:solidFill>
                  <a:srgbClr val="E6E8EC"/>
                </a:solidFill>
                <a:latin typeface="Arial" pitchFamily="34" charset="0"/>
                <a:ea typeface="Arial" pitchFamily="34" charset="-122"/>
                <a:cs typeface="Arial" pitchFamily="34" charset="-120"/>
              </a:rPr>
              <a:t>sarathi/planning/corridor_path.py · world/corridor.py        </a:t>
            </a:r>
            <a:pPr indent="0" marL="0">
              <a:buNone/>
            </a:pPr>
            <a:r>
              <a:rPr lang="en-US" sz="1050" b="1" dirty="0">
                <a:solidFill>
                  <a:srgbClr val="E8A33D"/>
                </a:solidFill>
                <a:latin typeface="Arial" pitchFamily="34" charset="0"/>
                <a:ea typeface="Arial" pitchFamily="34" charset="-122"/>
                <a:cs typeface="Arial" pitchFamily="34" charset="-120"/>
              </a:rPr>
              <a:t>Ask   </a:t>
            </a:r>
            <a:pPr indent="0" marL="0">
              <a:buNone/>
            </a:pPr>
            <a:r>
              <a:rPr lang="en-US" sz="1100" dirty="0">
                <a:solidFill>
                  <a:srgbClr val="E6E8EC"/>
                </a:solidFill>
                <a:latin typeface="Arial" pitchFamily="34" charset="0"/>
                <a:ea typeface="Arial" pitchFamily="34" charset="-122"/>
                <a:cs typeface="Arial" pitchFamily="34" charset="-120"/>
              </a:rPr>
              <a:t>B1</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10</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Behaviour — eight states, and why each exists</a:t>
            </a:r>
            <a:endParaRPr lang="en-US" sz="2700" dirty="0"/>
          </a:p>
        </p:txBody>
      </p:sp>
      <p:sp>
        <p:nvSpPr>
          <p:cNvPr id="5" name="Text 3"/>
          <p:cNvSpPr txBox="1"/>
          <p:nvPr/>
        </p:nvSpPr>
        <p:spPr>
          <a:xfrm>
            <a:off x="1069848" y="868680"/>
            <a:ext cx="10616184"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Maps 1:1 onto Stateflow, which is exactly what the sponsor wants to see.</a:t>
            </a:r>
            <a:endParaRPr lang="en-US" sz="1300" dirty="0"/>
          </a:p>
        </p:txBody>
      </p:sp>
      <p:sp>
        <p:nvSpPr>
          <p:cNvPr id="6" name="Shape 4"/>
          <p:cNvSpPr/>
          <p:nvPr/>
        </p:nvSpPr>
        <p:spPr>
          <a:xfrm>
            <a:off x="502920" y="1298448"/>
            <a:ext cx="1467783" cy="365760"/>
          </a:xfrm>
          <a:prstGeom prst="chevron">
            <a:avLst/>
          </a:prstGeom>
          <a:solidFill>
            <a:srgbClr val="12151B"/>
          </a:solidFill>
          <a:ln w="12700">
            <a:solidFill>
              <a:srgbClr val="FFFFFF"/>
            </a:solidFill>
            <a:prstDash val="solid"/>
          </a:ln>
        </p:spPr>
      </p:sp>
      <p:sp>
        <p:nvSpPr>
          <p:cNvPr id="7" name="Text 5"/>
          <p:cNvSpPr txBox="1"/>
          <p:nvPr/>
        </p:nvSpPr>
        <p:spPr>
          <a:xfrm>
            <a:off x="502920"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SENSE</a:t>
            </a:r>
            <a:endParaRPr lang="en-US" sz="850" dirty="0"/>
          </a:p>
        </p:txBody>
      </p:sp>
      <p:sp>
        <p:nvSpPr>
          <p:cNvPr id="8" name="Shape 6"/>
          <p:cNvSpPr/>
          <p:nvPr/>
        </p:nvSpPr>
        <p:spPr>
          <a:xfrm>
            <a:off x="1900809" y="1298448"/>
            <a:ext cx="1467783" cy="365760"/>
          </a:xfrm>
          <a:prstGeom prst="chevron">
            <a:avLst/>
          </a:prstGeom>
          <a:solidFill>
            <a:srgbClr val="12151B"/>
          </a:solidFill>
          <a:ln w="12700">
            <a:solidFill>
              <a:srgbClr val="FFFFFF"/>
            </a:solidFill>
            <a:prstDash val="solid"/>
          </a:ln>
        </p:spPr>
      </p:sp>
      <p:sp>
        <p:nvSpPr>
          <p:cNvPr id="9" name="Text 7"/>
          <p:cNvSpPr txBox="1"/>
          <p:nvPr/>
        </p:nvSpPr>
        <p:spPr>
          <a:xfrm>
            <a:off x="1900809"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FUSE</a:t>
            </a:r>
            <a:endParaRPr lang="en-US" sz="850" dirty="0"/>
          </a:p>
        </p:txBody>
      </p:sp>
      <p:sp>
        <p:nvSpPr>
          <p:cNvPr id="10" name="Shape 8"/>
          <p:cNvSpPr/>
          <p:nvPr/>
        </p:nvSpPr>
        <p:spPr>
          <a:xfrm>
            <a:off x="3298698" y="1298448"/>
            <a:ext cx="1467783" cy="365760"/>
          </a:xfrm>
          <a:prstGeom prst="chevron">
            <a:avLst/>
          </a:prstGeom>
          <a:solidFill>
            <a:srgbClr val="12151B"/>
          </a:solidFill>
          <a:ln w="12700">
            <a:solidFill>
              <a:srgbClr val="FFFFFF"/>
            </a:solidFill>
            <a:prstDash val="solid"/>
          </a:ln>
        </p:spPr>
      </p:sp>
      <p:sp>
        <p:nvSpPr>
          <p:cNvPr id="11" name="Text 9"/>
          <p:cNvSpPr txBox="1"/>
          <p:nvPr/>
        </p:nvSpPr>
        <p:spPr>
          <a:xfrm>
            <a:off x="3298698"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PREDICT</a:t>
            </a:r>
            <a:endParaRPr lang="en-US" sz="850" dirty="0"/>
          </a:p>
        </p:txBody>
      </p:sp>
      <p:sp>
        <p:nvSpPr>
          <p:cNvPr id="12" name="Shape 10"/>
          <p:cNvSpPr/>
          <p:nvPr/>
        </p:nvSpPr>
        <p:spPr>
          <a:xfrm>
            <a:off x="4696587" y="1298448"/>
            <a:ext cx="1467783" cy="365760"/>
          </a:xfrm>
          <a:prstGeom prst="chevron">
            <a:avLst/>
          </a:prstGeom>
          <a:solidFill>
            <a:srgbClr val="12151B"/>
          </a:solidFill>
          <a:ln w="12700">
            <a:solidFill>
              <a:srgbClr val="FFFFFF"/>
            </a:solidFill>
            <a:prstDash val="solid"/>
          </a:ln>
        </p:spPr>
      </p:sp>
      <p:sp>
        <p:nvSpPr>
          <p:cNvPr id="13" name="Text 11"/>
          <p:cNvSpPr txBox="1"/>
          <p:nvPr/>
        </p:nvSpPr>
        <p:spPr>
          <a:xfrm>
            <a:off x="4696587"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RISK FIELD</a:t>
            </a:r>
            <a:endParaRPr lang="en-US" sz="850" dirty="0"/>
          </a:p>
        </p:txBody>
      </p:sp>
      <p:sp>
        <p:nvSpPr>
          <p:cNvPr id="14" name="Shape 12"/>
          <p:cNvSpPr/>
          <p:nvPr/>
        </p:nvSpPr>
        <p:spPr>
          <a:xfrm>
            <a:off x="6094476" y="1298448"/>
            <a:ext cx="1467783" cy="365760"/>
          </a:xfrm>
          <a:prstGeom prst="chevron">
            <a:avLst/>
          </a:prstGeom>
          <a:solidFill>
            <a:srgbClr val="12151B"/>
          </a:solidFill>
          <a:ln w="12700">
            <a:solidFill>
              <a:srgbClr val="FFFFFF"/>
            </a:solidFill>
            <a:prstDash val="solid"/>
          </a:ln>
        </p:spPr>
      </p:sp>
      <p:sp>
        <p:nvSpPr>
          <p:cNvPr id="15" name="Text 13"/>
          <p:cNvSpPr txBox="1"/>
          <p:nvPr/>
        </p:nvSpPr>
        <p:spPr>
          <a:xfrm>
            <a:off x="6094476"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CORRIDOR</a:t>
            </a:r>
            <a:endParaRPr lang="en-US" sz="850" dirty="0"/>
          </a:p>
        </p:txBody>
      </p:sp>
      <p:sp>
        <p:nvSpPr>
          <p:cNvPr id="16" name="Shape 14"/>
          <p:cNvSpPr/>
          <p:nvPr/>
        </p:nvSpPr>
        <p:spPr>
          <a:xfrm>
            <a:off x="7492365" y="1298448"/>
            <a:ext cx="1467783" cy="365760"/>
          </a:xfrm>
          <a:prstGeom prst="chevron">
            <a:avLst/>
          </a:prstGeom>
          <a:solidFill>
            <a:srgbClr val="E8A33D"/>
          </a:solidFill>
          <a:ln w="12700">
            <a:solidFill>
              <a:srgbClr val="FFFFFF"/>
            </a:solidFill>
            <a:prstDash val="solid"/>
          </a:ln>
        </p:spPr>
      </p:sp>
      <p:sp>
        <p:nvSpPr>
          <p:cNvPr id="17" name="Text 15"/>
          <p:cNvSpPr txBox="1"/>
          <p:nvPr/>
        </p:nvSpPr>
        <p:spPr>
          <a:xfrm>
            <a:off x="7492365" y="1298448"/>
            <a:ext cx="1467783" cy="365760"/>
          </a:xfrm>
          <a:prstGeom prst="rect">
            <a:avLst/>
          </a:prstGeom>
          <a:noFill/>
          <a:ln/>
        </p:spPr>
        <p:txBody>
          <a:bodyPr wrap="square" lIns="0" tIns="0" rIns="0" bIns="0" rtlCol="0" anchor="ctr"/>
          <a:lstStyle/>
          <a:p>
            <a:pPr algn="ctr" indent="0" marL="0">
              <a:buNone/>
            </a:pPr>
            <a:r>
              <a:rPr lang="en-US" sz="850" b="1" dirty="0">
                <a:solidFill>
                  <a:srgbClr val="12151B"/>
                </a:solidFill>
                <a:latin typeface="Arial" pitchFamily="34" charset="0"/>
                <a:ea typeface="Arial" pitchFamily="34" charset="-122"/>
                <a:cs typeface="Arial" pitchFamily="34" charset="-120"/>
              </a:rPr>
              <a:t>BEHAVIOUR</a:t>
            </a:r>
            <a:endParaRPr lang="en-US" sz="850" dirty="0"/>
          </a:p>
        </p:txBody>
      </p:sp>
      <p:sp>
        <p:nvSpPr>
          <p:cNvPr id="18" name="Shape 16"/>
          <p:cNvSpPr/>
          <p:nvPr/>
        </p:nvSpPr>
        <p:spPr>
          <a:xfrm>
            <a:off x="8890254" y="1298448"/>
            <a:ext cx="1467783" cy="365760"/>
          </a:xfrm>
          <a:prstGeom prst="chevron">
            <a:avLst/>
          </a:prstGeom>
          <a:solidFill>
            <a:srgbClr val="12151B"/>
          </a:solidFill>
          <a:ln w="12700">
            <a:solidFill>
              <a:srgbClr val="FFFFFF"/>
            </a:solidFill>
            <a:prstDash val="solid"/>
          </a:ln>
        </p:spPr>
      </p:sp>
      <p:sp>
        <p:nvSpPr>
          <p:cNvPr id="19" name="Text 17"/>
          <p:cNvSpPr txBox="1"/>
          <p:nvPr/>
        </p:nvSpPr>
        <p:spPr>
          <a:xfrm>
            <a:off x="8890254"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LATTICE</a:t>
            </a:r>
            <a:endParaRPr lang="en-US" sz="850" dirty="0"/>
          </a:p>
        </p:txBody>
      </p:sp>
      <p:sp>
        <p:nvSpPr>
          <p:cNvPr id="20" name="Shape 18"/>
          <p:cNvSpPr/>
          <p:nvPr/>
        </p:nvSpPr>
        <p:spPr>
          <a:xfrm>
            <a:off x="10288143" y="1298448"/>
            <a:ext cx="1467783" cy="365760"/>
          </a:xfrm>
          <a:prstGeom prst="chevron">
            <a:avLst/>
          </a:prstGeom>
          <a:solidFill>
            <a:srgbClr val="12151B"/>
          </a:solidFill>
          <a:ln w="12700">
            <a:solidFill>
              <a:srgbClr val="FFFFFF"/>
            </a:solidFill>
            <a:prstDash val="solid"/>
          </a:ln>
        </p:spPr>
      </p:sp>
      <p:sp>
        <p:nvSpPr>
          <p:cNvPr id="21" name="Text 19"/>
          <p:cNvSpPr txBox="1"/>
          <p:nvPr/>
        </p:nvSpPr>
        <p:spPr>
          <a:xfrm>
            <a:off x="10288143"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RSS + CBF</a:t>
            </a:r>
            <a:endParaRPr lang="en-US" sz="850" dirty="0"/>
          </a:p>
        </p:txBody>
      </p:sp>
      <p:sp>
        <p:nvSpPr>
          <p:cNvPr id="22" name="Shape 20"/>
          <p:cNvSpPr/>
          <p:nvPr/>
        </p:nvSpPr>
        <p:spPr>
          <a:xfrm>
            <a:off x="502920" y="1965960"/>
            <a:ext cx="5440680" cy="804672"/>
          </a:xfrm>
          <a:prstGeom prst="roundRect">
            <a:avLst>
              <a:gd name="adj" fmla="val 6818"/>
            </a:avLst>
          </a:prstGeom>
          <a:solidFill>
            <a:srgbClr val="F2F4F7"/>
          </a:solidFill>
          <a:ln w="12700">
            <a:solidFill>
              <a:srgbClr val="F2F4F7"/>
            </a:solidFill>
            <a:prstDash val="solid"/>
          </a:ln>
        </p:spPr>
      </p:sp>
      <p:sp>
        <p:nvSpPr>
          <p:cNvPr id="23" name="Text 21"/>
          <p:cNvSpPr txBox="1"/>
          <p:nvPr/>
        </p:nvSpPr>
        <p:spPr>
          <a:xfrm>
            <a:off x="667512" y="2084832"/>
            <a:ext cx="5111496" cy="566928"/>
          </a:xfrm>
          <a:prstGeom prst="rect">
            <a:avLst/>
          </a:prstGeom>
          <a:noFill/>
          <a:ln/>
        </p:spPr>
        <p:txBody>
          <a:bodyPr wrap="square" lIns="0" tIns="0" rIns="0" bIns="0" rtlCol="0" anchor="t"/>
          <a:lstStyle/>
          <a:p>
            <a:pPr indent="0" marL="0">
              <a:lnSpc>
                <a:spcPct val="106000"/>
              </a:lnSpc>
              <a:spcAft>
                <a:spcPts val="400"/>
              </a:spcAft>
              <a:buNone/>
            </a:pPr>
            <a:r>
              <a:rPr lang="en-US" sz="1200" b="1" dirty="0">
                <a:solidFill>
                  <a:srgbClr val="12151B"/>
                </a:solidFill>
                <a:latin typeface="Arial" pitchFamily="34" charset="0"/>
                <a:ea typeface="Arial" pitchFamily="34" charset="-122"/>
                <a:cs typeface="Arial" pitchFamily="34" charset="-120"/>
              </a:rPr>
              <a:t>CRUISE</a:t>
            </a:r>
            <a:endParaRPr lang="en-US" sz="1200" dirty="0"/>
          </a:p>
          <a:p>
            <a:pPr indent="0" marL="0">
              <a:lnSpc>
                <a:spcPct val="106000"/>
              </a:lnSpc>
              <a:spcAft>
                <a:spcPts val="400"/>
              </a:spcAft>
              <a:buNone/>
            </a:pPr>
            <a:r>
              <a:rPr lang="en-US" sz="1100" dirty="0">
                <a:solidFill>
                  <a:srgbClr val="1A1D23"/>
                </a:solidFill>
                <a:latin typeface="Arial" pitchFamily="34" charset="0"/>
                <a:ea typeface="Arial" pitchFamily="34" charset="-122"/>
                <a:cs typeface="Arial" pitchFamily="34" charset="-120"/>
              </a:rPr>
              <a:t>free road — hold the desired speed</a:t>
            </a:r>
            <a:endParaRPr lang="en-US" sz="1200" dirty="0"/>
          </a:p>
        </p:txBody>
      </p:sp>
      <p:sp>
        <p:nvSpPr>
          <p:cNvPr id="24" name="Shape 22"/>
          <p:cNvSpPr/>
          <p:nvPr/>
        </p:nvSpPr>
        <p:spPr>
          <a:xfrm>
            <a:off x="6263640" y="1965960"/>
            <a:ext cx="5440680" cy="804672"/>
          </a:xfrm>
          <a:prstGeom prst="roundRect">
            <a:avLst>
              <a:gd name="adj" fmla="val 6818"/>
            </a:avLst>
          </a:prstGeom>
          <a:solidFill>
            <a:srgbClr val="F2F4F7"/>
          </a:solidFill>
          <a:ln w="12700">
            <a:solidFill>
              <a:srgbClr val="F2F4F7"/>
            </a:solidFill>
            <a:prstDash val="solid"/>
          </a:ln>
        </p:spPr>
      </p:sp>
      <p:sp>
        <p:nvSpPr>
          <p:cNvPr id="25" name="Text 23"/>
          <p:cNvSpPr txBox="1"/>
          <p:nvPr/>
        </p:nvSpPr>
        <p:spPr>
          <a:xfrm>
            <a:off x="6428232" y="2084832"/>
            <a:ext cx="5111496" cy="566928"/>
          </a:xfrm>
          <a:prstGeom prst="rect">
            <a:avLst/>
          </a:prstGeom>
          <a:noFill/>
          <a:ln/>
        </p:spPr>
        <p:txBody>
          <a:bodyPr wrap="square" lIns="0" tIns="0" rIns="0" bIns="0" rtlCol="0" anchor="t"/>
          <a:lstStyle/>
          <a:p>
            <a:pPr indent="0" marL="0">
              <a:lnSpc>
                <a:spcPct val="106000"/>
              </a:lnSpc>
              <a:spcAft>
                <a:spcPts val="400"/>
              </a:spcAft>
              <a:buNone/>
            </a:pPr>
            <a:r>
              <a:rPr lang="en-US" sz="1200" b="1" dirty="0">
                <a:solidFill>
                  <a:srgbClr val="12151B"/>
                </a:solidFill>
                <a:latin typeface="Arial" pitchFamily="34" charset="0"/>
                <a:ea typeface="Arial" pitchFamily="34" charset="-122"/>
                <a:cs typeface="Arial" pitchFamily="34" charset="-120"/>
              </a:rPr>
              <a:t>FOLLOW</a:t>
            </a:r>
            <a:endParaRPr lang="en-US" sz="1200" dirty="0"/>
          </a:p>
          <a:p>
            <a:pPr indent="0" marL="0">
              <a:lnSpc>
                <a:spcPct val="106000"/>
              </a:lnSpc>
              <a:spcAft>
                <a:spcPts val="400"/>
              </a:spcAft>
              <a:buNone/>
            </a:pPr>
            <a:r>
              <a:rPr lang="en-US" sz="1100" dirty="0">
                <a:solidFill>
                  <a:srgbClr val="1A1D23"/>
                </a:solidFill>
                <a:latin typeface="Arial" pitchFamily="34" charset="0"/>
                <a:ea typeface="Arial" pitchFamily="34" charset="-122"/>
                <a:cs typeface="Arial" pitchFamily="34" charset="-120"/>
              </a:rPr>
              <a:t>matched to a leader's speed and gap</a:t>
            </a:r>
            <a:endParaRPr lang="en-US" sz="1200" dirty="0"/>
          </a:p>
        </p:txBody>
      </p:sp>
      <p:sp>
        <p:nvSpPr>
          <p:cNvPr id="26" name="Shape 24"/>
          <p:cNvSpPr/>
          <p:nvPr/>
        </p:nvSpPr>
        <p:spPr>
          <a:xfrm>
            <a:off x="502920" y="2898648"/>
            <a:ext cx="5440680" cy="804672"/>
          </a:xfrm>
          <a:prstGeom prst="roundRect">
            <a:avLst>
              <a:gd name="adj" fmla="val 6818"/>
            </a:avLst>
          </a:prstGeom>
          <a:solidFill>
            <a:srgbClr val="F2F4F7"/>
          </a:solidFill>
          <a:ln w="12700">
            <a:solidFill>
              <a:srgbClr val="F2F4F7"/>
            </a:solidFill>
            <a:prstDash val="solid"/>
          </a:ln>
        </p:spPr>
      </p:sp>
      <p:sp>
        <p:nvSpPr>
          <p:cNvPr id="27" name="Text 25"/>
          <p:cNvSpPr txBox="1"/>
          <p:nvPr/>
        </p:nvSpPr>
        <p:spPr>
          <a:xfrm>
            <a:off x="667512" y="3017520"/>
            <a:ext cx="5111496" cy="566928"/>
          </a:xfrm>
          <a:prstGeom prst="rect">
            <a:avLst/>
          </a:prstGeom>
          <a:noFill/>
          <a:ln/>
        </p:spPr>
        <p:txBody>
          <a:bodyPr wrap="square" lIns="0" tIns="0" rIns="0" bIns="0" rtlCol="0" anchor="t"/>
          <a:lstStyle/>
          <a:p>
            <a:pPr indent="0" marL="0">
              <a:lnSpc>
                <a:spcPct val="106000"/>
              </a:lnSpc>
              <a:spcAft>
                <a:spcPts val="400"/>
              </a:spcAft>
              <a:buNone/>
            </a:pPr>
            <a:r>
              <a:rPr lang="en-US" sz="1200" b="1" dirty="0">
                <a:solidFill>
                  <a:srgbClr val="12151B"/>
                </a:solidFill>
                <a:latin typeface="Arial" pitchFamily="34" charset="0"/>
                <a:ea typeface="Arial" pitchFamily="34" charset="-122"/>
                <a:cs typeface="Arial" pitchFamily="34" charset="-120"/>
              </a:rPr>
              <a:t>NUDGE</a:t>
            </a:r>
            <a:endParaRPr lang="en-US" sz="1200" dirty="0"/>
          </a:p>
          <a:p>
            <a:pPr indent="0" marL="0">
              <a:lnSpc>
                <a:spcPct val="106000"/>
              </a:lnSpc>
              <a:spcAft>
                <a:spcPts val="400"/>
              </a:spcAft>
              <a:buNone/>
            </a:pPr>
            <a:r>
              <a:rPr lang="en-US" sz="1100" dirty="0">
                <a:solidFill>
                  <a:srgbClr val="1A1D23"/>
                </a:solidFill>
                <a:latin typeface="Arial" pitchFamily="34" charset="0"/>
                <a:ea typeface="Arial" pitchFamily="34" charset="-122"/>
                <a:cs typeface="Arial" pitchFamily="34" charset="-120"/>
              </a:rPr>
              <a:t>squeezing past an obstruction, speed reduced</a:t>
            </a:r>
            <a:endParaRPr lang="en-US" sz="1200" dirty="0"/>
          </a:p>
        </p:txBody>
      </p:sp>
      <p:sp>
        <p:nvSpPr>
          <p:cNvPr id="28" name="Shape 26"/>
          <p:cNvSpPr/>
          <p:nvPr/>
        </p:nvSpPr>
        <p:spPr>
          <a:xfrm>
            <a:off x="6263640" y="2898648"/>
            <a:ext cx="5440680" cy="804672"/>
          </a:xfrm>
          <a:prstGeom prst="roundRect">
            <a:avLst>
              <a:gd name="adj" fmla="val 6818"/>
            </a:avLst>
          </a:prstGeom>
          <a:solidFill>
            <a:srgbClr val="F2F4F7"/>
          </a:solidFill>
          <a:ln w="12700">
            <a:solidFill>
              <a:srgbClr val="F2F4F7"/>
            </a:solidFill>
            <a:prstDash val="solid"/>
          </a:ln>
        </p:spPr>
      </p:sp>
      <p:sp>
        <p:nvSpPr>
          <p:cNvPr id="29" name="Text 27"/>
          <p:cNvSpPr txBox="1"/>
          <p:nvPr/>
        </p:nvSpPr>
        <p:spPr>
          <a:xfrm>
            <a:off x="6428232" y="3017520"/>
            <a:ext cx="5111496" cy="566928"/>
          </a:xfrm>
          <a:prstGeom prst="rect">
            <a:avLst/>
          </a:prstGeom>
          <a:noFill/>
          <a:ln/>
        </p:spPr>
        <p:txBody>
          <a:bodyPr wrap="square" lIns="0" tIns="0" rIns="0" bIns="0" rtlCol="0" anchor="t"/>
          <a:lstStyle/>
          <a:p>
            <a:pPr indent="0" marL="0">
              <a:lnSpc>
                <a:spcPct val="106000"/>
              </a:lnSpc>
              <a:spcAft>
                <a:spcPts val="400"/>
              </a:spcAft>
              <a:buNone/>
            </a:pPr>
            <a:r>
              <a:rPr lang="en-US" sz="1200" b="1" dirty="0">
                <a:solidFill>
                  <a:srgbClr val="12151B"/>
                </a:solidFill>
                <a:latin typeface="Arial" pitchFamily="34" charset="0"/>
                <a:ea typeface="Arial" pitchFamily="34" charset="-122"/>
                <a:cs typeface="Arial" pitchFamily="34" charset="-120"/>
              </a:rPr>
              <a:t>OVERTAKE</a:t>
            </a:r>
            <a:endParaRPr lang="en-US" sz="1200" dirty="0"/>
          </a:p>
          <a:p>
            <a:pPr indent="0" marL="0">
              <a:lnSpc>
                <a:spcPct val="106000"/>
              </a:lnSpc>
              <a:spcAft>
                <a:spcPts val="400"/>
              </a:spcAft>
              <a:buNone/>
            </a:pPr>
            <a:r>
              <a:rPr lang="en-US" sz="1100" dirty="0">
                <a:solidFill>
                  <a:srgbClr val="1A1D23"/>
                </a:solidFill>
                <a:latin typeface="Arial" pitchFamily="34" charset="0"/>
                <a:ea typeface="Arial" pitchFamily="34" charset="-122"/>
                <a:cs typeface="Arial" pitchFamily="34" charset="-120"/>
              </a:rPr>
              <a:t>leader is slow and there is width to pass</a:t>
            </a:r>
            <a:endParaRPr lang="en-US" sz="1200" dirty="0"/>
          </a:p>
        </p:txBody>
      </p:sp>
      <p:sp>
        <p:nvSpPr>
          <p:cNvPr id="30" name="Shape 28"/>
          <p:cNvSpPr/>
          <p:nvPr/>
        </p:nvSpPr>
        <p:spPr>
          <a:xfrm>
            <a:off x="502920" y="3831336"/>
            <a:ext cx="5440680" cy="804672"/>
          </a:xfrm>
          <a:prstGeom prst="roundRect">
            <a:avLst>
              <a:gd name="adj" fmla="val 6818"/>
            </a:avLst>
          </a:prstGeom>
          <a:solidFill>
            <a:srgbClr val="F2F4F7"/>
          </a:solidFill>
          <a:ln w="12700">
            <a:solidFill>
              <a:srgbClr val="F2F4F7"/>
            </a:solidFill>
            <a:prstDash val="solid"/>
          </a:ln>
        </p:spPr>
      </p:sp>
      <p:sp>
        <p:nvSpPr>
          <p:cNvPr id="31" name="Text 29"/>
          <p:cNvSpPr txBox="1"/>
          <p:nvPr/>
        </p:nvSpPr>
        <p:spPr>
          <a:xfrm>
            <a:off x="667512" y="3950208"/>
            <a:ext cx="5111496" cy="566928"/>
          </a:xfrm>
          <a:prstGeom prst="rect">
            <a:avLst/>
          </a:prstGeom>
          <a:noFill/>
          <a:ln/>
        </p:spPr>
        <p:txBody>
          <a:bodyPr wrap="square" lIns="0" tIns="0" rIns="0" bIns="0" rtlCol="0" anchor="t"/>
          <a:lstStyle/>
          <a:p>
            <a:pPr indent="0" marL="0">
              <a:lnSpc>
                <a:spcPct val="106000"/>
              </a:lnSpc>
              <a:spcAft>
                <a:spcPts val="400"/>
              </a:spcAft>
              <a:buNone/>
            </a:pPr>
            <a:r>
              <a:rPr lang="en-US" sz="1200" b="1" dirty="0">
                <a:solidFill>
                  <a:srgbClr val="12151B"/>
                </a:solidFill>
                <a:latin typeface="Arial" pitchFamily="34" charset="0"/>
                <a:ea typeface="Arial" pitchFamily="34" charset="-122"/>
                <a:cs typeface="Arial" pitchFamily="34" charset="-120"/>
              </a:rPr>
              <a:t>YIELD</a:t>
            </a:r>
            <a:endParaRPr lang="en-US" sz="1200" dirty="0"/>
          </a:p>
          <a:p>
            <a:pPr indent="0" marL="0">
              <a:lnSpc>
                <a:spcPct val="106000"/>
              </a:lnSpc>
              <a:spcAft>
                <a:spcPts val="400"/>
              </a:spcAft>
              <a:buNone/>
            </a:pPr>
            <a:r>
              <a:rPr lang="en-US" sz="1100" dirty="0">
                <a:solidFill>
                  <a:srgbClr val="1A1D23"/>
                </a:solidFill>
                <a:latin typeface="Arial" pitchFamily="34" charset="0"/>
                <a:ea typeface="Arial" pitchFamily="34" charset="-122"/>
                <a:cs typeface="Arial" pitchFamily="34" charset="-120"/>
              </a:rPr>
              <a:t>giving way at a junction or to a vulnerable road user</a:t>
            </a:r>
            <a:endParaRPr lang="en-US" sz="1200" dirty="0"/>
          </a:p>
        </p:txBody>
      </p:sp>
      <p:sp>
        <p:nvSpPr>
          <p:cNvPr id="32" name="Shape 30"/>
          <p:cNvSpPr/>
          <p:nvPr/>
        </p:nvSpPr>
        <p:spPr>
          <a:xfrm>
            <a:off x="6263640" y="3831336"/>
            <a:ext cx="5440680" cy="804672"/>
          </a:xfrm>
          <a:prstGeom prst="roundRect">
            <a:avLst>
              <a:gd name="adj" fmla="val 6818"/>
            </a:avLst>
          </a:prstGeom>
          <a:solidFill>
            <a:srgbClr val="F2F4F7"/>
          </a:solidFill>
          <a:ln w="12700">
            <a:solidFill>
              <a:srgbClr val="F2F4F7"/>
            </a:solidFill>
            <a:prstDash val="solid"/>
          </a:ln>
        </p:spPr>
      </p:sp>
      <p:sp>
        <p:nvSpPr>
          <p:cNvPr id="33" name="Text 31"/>
          <p:cNvSpPr txBox="1"/>
          <p:nvPr/>
        </p:nvSpPr>
        <p:spPr>
          <a:xfrm>
            <a:off x="6428232" y="3950208"/>
            <a:ext cx="5111496" cy="566928"/>
          </a:xfrm>
          <a:prstGeom prst="rect">
            <a:avLst/>
          </a:prstGeom>
          <a:noFill/>
          <a:ln/>
        </p:spPr>
        <p:txBody>
          <a:bodyPr wrap="square" lIns="0" tIns="0" rIns="0" bIns="0" rtlCol="0" anchor="t"/>
          <a:lstStyle/>
          <a:p>
            <a:pPr indent="0" marL="0">
              <a:lnSpc>
                <a:spcPct val="106000"/>
              </a:lnSpc>
              <a:spcAft>
                <a:spcPts val="400"/>
              </a:spcAft>
              <a:buNone/>
            </a:pPr>
            <a:r>
              <a:rPr lang="en-US" sz="1200" b="1" dirty="0">
                <a:solidFill>
                  <a:srgbClr val="12151B"/>
                </a:solidFill>
                <a:latin typeface="Arial" pitchFamily="34" charset="0"/>
                <a:ea typeface="Arial" pitchFamily="34" charset="-122"/>
                <a:cs typeface="Arial" pitchFamily="34" charset="-120"/>
              </a:rPr>
              <a:t>CREEP</a:t>
            </a:r>
            <a:endParaRPr lang="en-US" sz="1200" dirty="0"/>
          </a:p>
          <a:p>
            <a:pPr indent="0" marL="0">
              <a:lnSpc>
                <a:spcPct val="106000"/>
              </a:lnSpc>
              <a:spcAft>
                <a:spcPts val="400"/>
              </a:spcAft>
              <a:buNone/>
            </a:pPr>
            <a:r>
              <a:rPr lang="en-US" sz="1100" dirty="0">
                <a:solidFill>
                  <a:srgbClr val="1A1D23"/>
                </a:solidFill>
                <a:latin typeface="Arial" pitchFamily="34" charset="0"/>
                <a:ea typeface="Arial" pitchFamily="34" charset="-122"/>
                <a:cs typeface="Arial" pitchFamily="34" charset="-120"/>
              </a:rPr>
              <a:t>dense traffic — walking pace, maximum alertness</a:t>
            </a:r>
            <a:endParaRPr lang="en-US" sz="1200" dirty="0"/>
          </a:p>
        </p:txBody>
      </p:sp>
      <p:sp>
        <p:nvSpPr>
          <p:cNvPr id="34" name="Shape 32"/>
          <p:cNvSpPr/>
          <p:nvPr/>
        </p:nvSpPr>
        <p:spPr>
          <a:xfrm>
            <a:off x="502920" y="4764024"/>
            <a:ext cx="5440680" cy="804672"/>
          </a:xfrm>
          <a:prstGeom prst="roundRect">
            <a:avLst>
              <a:gd name="adj" fmla="val 6818"/>
            </a:avLst>
          </a:prstGeom>
          <a:solidFill>
            <a:srgbClr val="FBEEE9"/>
          </a:solidFill>
          <a:ln w="12700">
            <a:solidFill>
              <a:srgbClr val="FBEEE9"/>
            </a:solidFill>
            <a:prstDash val="solid"/>
          </a:ln>
        </p:spPr>
      </p:sp>
      <p:sp>
        <p:nvSpPr>
          <p:cNvPr id="35" name="Text 33"/>
          <p:cNvSpPr txBox="1"/>
          <p:nvPr/>
        </p:nvSpPr>
        <p:spPr>
          <a:xfrm>
            <a:off x="667512" y="4882896"/>
            <a:ext cx="5111496" cy="566928"/>
          </a:xfrm>
          <a:prstGeom prst="rect">
            <a:avLst/>
          </a:prstGeom>
          <a:noFill/>
          <a:ln/>
        </p:spPr>
        <p:txBody>
          <a:bodyPr wrap="square" lIns="0" tIns="0" rIns="0" bIns="0" rtlCol="0" anchor="t"/>
          <a:lstStyle/>
          <a:p>
            <a:pPr indent="0" marL="0">
              <a:lnSpc>
                <a:spcPct val="106000"/>
              </a:lnSpc>
              <a:spcAft>
                <a:spcPts val="400"/>
              </a:spcAft>
              <a:buNone/>
            </a:pPr>
            <a:r>
              <a:rPr lang="en-US" sz="1200" b="1" dirty="0">
                <a:solidFill>
                  <a:srgbClr val="D2503C"/>
                </a:solidFill>
                <a:latin typeface="Arial" pitchFamily="34" charset="0"/>
                <a:ea typeface="Arial" pitchFamily="34" charset="-122"/>
                <a:cs typeface="Arial" pitchFamily="34" charset="-120"/>
              </a:rPr>
              <a:t>WRONG_WAY_EVADE</a:t>
            </a:r>
            <a:endParaRPr lang="en-US" sz="1200" dirty="0"/>
          </a:p>
          <a:p>
            <a:pPr indent="0" marL="0">
              <a:lnSpc>
                <a:spcPct val="106000"/>
              </a:lnSpc>
              <a:spcAft>
                <a:spcPts val="400"/>
              </a:spcAft>
              <a:buNone/>
            </a:pPr>
            <a:r>
              <a:rPr lang="en-US" sz="1100" dirty="0">
                <a:solidFill>
                  <a:srgbClr val="1A1D23"/>
                </a:solidFill>
                <a:latin typeface="Arial" pitchFamily="34" charset="0"/>
                <a:ea typeface="Arial" pitchFamily="34" charset="-122"/>
                <a:cs typeface="Arial" pitchFamily="34" charset="-120"/>
              </a:rPr>
              <a:t>a rider is coming head-on on our side</a:t>
            </a:r>
            <a:endParaRPr lang="en-US" sz="1200" dirty="0"/>
          </a:p>
        </p:txBody>
      </p:sp>
      <p:sp>
        <p:nvSpPr>
          <p:cNvPr id="36" name="Shape 34"/>
          <p:cNvSpPr/>
          <p:nvPr/>
        </p:nvSpPr>
        <p:spPr>
          <a:xfrm>
            <a:off x="6263640" y="4764024"/>
            <a:ext cx="5440680" cy="804672"/>
          </a:xfrm>
          <a:prstGeom prst="roundRect">
            <a:avLst>
              <a:gd name="adj" fmla="val 6818"/>
            </a:avLst>
          </a:prstGeom>
          <a:solidFill>
            <a:srgbClr val="FBEEE9"/>
          </a:solidFill>
          <a:ln w="12700">
            <a:solidFill>
              <a:srgbClr val="FBEEE9"/>
            </a:solidFill>
            <a:prstDash val="solid"/>
          </a:ln>
        </p:spPr>
      </p:sp>
      <p:sp>
        <p:nvSpPr>
          <p:cNvPr id="37" name="Text 35"/>
          <p:cNvSpPr txBox="1"/>
          <p:nvPr/>
        </p:nvSpPr>
        <p:spPr>
          <a:xfrm>
            <a:off x="6428232" y="4882896"/>
            <a:ext cx="5111496" cy="566928"/>
          </a:xfrm>
          <a:prstGeom prst="rect">
            <a:avLst/>
          </a:prstGeom>
          <a:noFill/>
          <a:ln/>
        </p:spPr>
        <p:txBody>
          <a:bodyPr wrap="square" lIns="0" tIns="0" rIns="0" bIns="0" rtlCol="0" anchor="t"/>
          <a:lstStyle/>
          <a:p>
            <a:pPr indent="0" marL="0">
              <a:lnSpc>
                <a:spcPct val="106000"/>
              </a:lnSpc>
              <a:spcAft>
                <a:spcPts val="400"/>
              </a:spcAft>
              <a:buNone/>
            </a:pPr>
            <a:r>
              <a:rPr lang="en-US" sz="1200" b="1" dirty="0">
                <a:solidFill>
                  <a:srgbClr val="D2503C"/>
                </a:solidFill>
                <a:latin typeface="Arial" pitchFamily="34" charset="0"/>
                <a:ea typeface="Arial" pitchFamily="34" charset="-122"/>
                <a:cs typeface="Arial" pitchFamily="34" charset="-120"/>
              </a:rPr>
              <a:t>EMERGENCY_STOP</a:t>
            </a:r>
            <a:endParaRPr lang="en-US" sz="1200" dirty="0"/>
          </a:p>
          <a:p>
            <a:pPr indent="0" marL="0">
              <a:lnSpc>
                <a:spcPct val="106000"/>
              </a:lnSpc>
              <a:spcAft>
                <a:spcPts val="400"/>
              </a:spcAft>
              <a:buNone/>
            </a:pPr>
            <a:r>
              <a:rPr lang="en-US" sz="1100" dirty="0">
                <a:solidFill>
                  <a:srgbClr val="1A1D23"/>
                </a:solidFill>
                <a:latin typeface="Arial" pitchFamily="34" charset="0"/>
                <a:ea typeface="Arial" pitchFamily="34" charset="-122"/>
                <a:cs typeface="Arial" pitchFamily="34" charset="-120"/>
              </a:rPr>
              <a:t>time-to-collision below threshold — stop now</a:t>
            </a:r>
            <a:endParaRPr lang="en-US" sz="1200" dirty="0"/>
          </a:p>
        </p:txBody>
      </p:sp>
      <p:sp>
        <p:nvSpPr>
          <p:cNvPr id="38" name="Text 36"/>
          <p:cNvSpPr txBox="1"/>
          <p:nvPr/>
        </p:nvSpPr>
        <p:spPr>
          <a:xfrm>
            <a:off x="502920" y="5852160"/>
            <a:ext cx="11183112" cy="292608"/>
          </a:xfrm>
          <a:prstGeom prst="rect">
            <a:avLst/>
          </a:prstGeom>
          <a:noFill/>
          <a:ln/>
        </p:spPr>
        <p:txBody>
          <a:bodyPr wrap="square" lIns="0" tIns="0" rIns="0" bIns="0" rtlCol="0" anchor="ctr"/>
          <a:lstStyle/>
          <a:p>
            <a:pPr indent="0" marL="0">
              <a:buNone/>
            </a:pPr>
            <a:r>
              <a:rPr lang="en-US" sz="950" i="1" dirty="0">
                <a:solidFill>
                  <a:srgbClr val="6B7280"/>
                </a:solidFill>
                <a:latin typeface="Arial" pitchFamily="34" charset="0"/>
                <a:ea typeface="Arial" pitchFamily="34" charset="-122"/>
                <a:cs typeface="Arial" pitchFamily="34" charset="-120"/>
              </a:rPr>
              <a:t>Every transition has a dwell time so the vehicle cannot chatter between states. Dwell is one of the thresholds exposed on screen.   ·   In the code: sarathi/planning/behaviour.py (ask B1).</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11</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The lattice — jerk-minimal, and scored in time</a:t>
            </a:r>
            <a:endParaRPr lang="en-US" sz="2700" dirty="0"/>
          </a:p>
        </p:txBody>
      </p:sp>
      <p:sp>
        <p:nvSpPr>
          <p:cNvPr id="5" name="Text 3"/>
          <p:cNvSpPr txBox="1"/>
          <p:nvPr/>
        </p:nvSpPr>
        <p:spPr>
          <a:xfrm>
            <a:off x="1069848" y="868680"/>
            <a:ext cx="10616184"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The part that looks like the textbook. Do not stop at the textbook.</a:t>
            </a:r>
            <a:endParaRPr lang="en-US" sz="1300" dirty="0"/>
          </a:p>
        </p:txBody>
      </p:sp>
      <p:sp>
        <p:nvSpPr>
          <p:cNvPr id="6" name="Shape 4"/>
          <p:cNvSpPr/>
          <p:nvPr/>
        </p:nvSpPr>
        <p:spPr>
          <a:xfrm>
            <a:off x="502920" y="1298448"/>
            <a:ext cx="1467783" cy="365760"/>
          </a:xfrm>
          <a:prstGeom prst="chevron">
            <a:avLst/>
          </a:prstGeom>
          <a:solidFill>
            <a:srgbClr val="12151B"/>
          </a:solidFill>
          <a:ln w="12700">
            <a:solidFill>
              <a:srgbClr val="FFFFFF"/>
            </a:solidFill>
            <a:prstDash val="solid"/>
          </a:ln>
        </p:spPr>
      </p:sp>
      <p:sp>
        <p:nvSpPr>
          <p:cNvPr id="7" name="Text 5"/>
          <p:cNvSpPr txBox="1"/>
          <p:nvPr/>
        </p:nvSpPr>
        <p:spPr>
          <a:xfrm>
            <a:off x="502920"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SENSE</a:t>
            </a:r>
            <a:endParaRPr lang="en-US" sz="850" dirty="0"/>
          </a:p>
        </p:txBody>
      </p:sp>
      <p:sp>
        <p:nvSpPr>
          <p:cNvPr id="8" name="Shape 6"/>
          <p:cNvSpPr/>
          <p:nvPr/>
        </p:nvSpPr>
        <p:spPr>
          <a:xfrm>
            <a:off x="1900809" y="1298448"/>
            <a:ext cx="1467783" cy="365760"/>
          </a:xfrm>
          <a:prstGeom prst="chevron">
            <a:avLst/>
          </a:prstGeom>
          <a:solidFill>
            <a:srgbClr val="12151B"/>
          </a:solidFill>
          <a:ln w="12700">
            <a:solidFill>
              <a:srgbClr val="FFFFFF"/>
            </a:solidFill>
            <a:prstDash val="solid"/>
          </a:ln>
        </p:spPr>
      </p:sp>
      <p:sp>
        <p:nvSpPr>
          <p:cNvPr id="9" name="Text 7"/>
          <p:cNvSpPr txBox="1"/>
          <p:nvPr/>
        </p:nvSpPr>
        <p:spPr>
          <a:xfrm>
            <a:off x="1900809"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FUSE</a:t>
            </a:r>
            <a:endParaRPr lang="en-US" sz="850" dirty="0"/>
          </a:p>
        </p:txBody>
      </p:sp>
      <p:sp>
        <p:nvSpPr>
          <p:cNvPr id="10" name="Shape 8"/>
          <p:cNvSpPr/>
          <p:nvPr/>
        </p:nvSpPr>
        <p:spPr>
          <a:xfrm>
            <a:off x="3298698" y="1298448"/>
            <a:ext cx="1467783" cy="365760"/>
          </a:xfrm>
          <a:prstGeom prst="chevron">
            <a:avLst/>
          </a:prstGeom>
          <a:solidFill>
            <a:srgbClr val="12151B"/>
          </a:solidFill>
          <a:ln w="12700">
            <a:solidFill>
              <a:srgbClr val="FFFFFF"/>
            </a:solidFill>
            <a:prstDash val="solid"/>
          </a:ln>
        </p:spPr>
      </p:sp>
      <p:sp>
        <p:nvSpPr>
          <p:cNvPr id="11" name="Text 9"/>
          <p:cNvSpPr txBox="1"/>
          <p:nvPr/>
        </p:nvSpPr>
        <p:spPr>
          <a:xfrm>
            <a:off x="3298698"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PREDICT</a:t>
            </a:r>
            <a:endParaRPr lang="en-US" sz="850" dirty="0"/>
          </a:p>
        </p:txBody>
      </p:sp>
      <p:sp>
        <p:nvSpPr>
          <p:cNvPr id="12" name="Shape 10"/>
          <p:cNvSpPr/>
          <p:nvPr/>
        </p:nvSpPr>
        <p:spPr>
          <a:xfrm>
            <a:off x="4696587" y="1298448"/>
            <a:ext cx="1467783" cy="365760"/>
          </a:xfrm>
          <a:prstGeom prst="chevron">
            <a:avLst/>
          </a:prstGeom>
          <a:solidFill>
            <a:srgbClr val="12151B"/>
          </a:solidFill>
          <a:ln w="12700">
            <a:solidFill>
              <a:srgbClr val="FFFFFF"/>
            </a:solidFill>
            <a:prstDash val="solid"/>
          </a:ln>
        </p:spPr>
      </p:sp>
      <p:sp>
        <p:nvSpPr>
          <p:cNvPr id="13" name="Text 11"/>
          <p:cNvSpPr txBox="1"/>
          <p:nvPr/>
        </p:nvSpPr>
        <p:spPr>
          <a:xfrm>
            <a:off x="4696587"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RISK FIELD</a:t>
            </a:r>
            <a:endParaRPr lang="en-US" sz="850" dirty="0"/>
          </a:p>
        </p:txBody>
      </p:sp>
      <p:sp>
        <p:nvSpPr>
          <p:cNvPr id="14" name="Shape 12"/>
          <p:cNvSpPr/>
          <p:nvPr/>
        </p:nvSpPr>
        <p:spPr>
          <a:xfrm>
            <a:off x="6094476" y="1298448"/>
            <a:ext cx="1467783" cy="365760"/>
          </a:xfrm>
          <a:prstGeom prst="chevron">
            <a:avLst/>
          </a:prstGeom>
          <a:solidFill>
            <a:srgbClr val="12151B"/>
          </a:solidFill>
          <a:ln w="12700">
            <a:solidFill>
              <a:srgbClr val="FFFFFF"/>
            </a:solidFill>
            <a:prstDash val="solid"/>
          </a:ln>
        </p:spPr>
      </p:sp>
      <p:sp>
        <p:nvSpPr>
          <p:cNvPr id="15" name="Text 13"/>
          <p:cNvSpPr txBox="1"/>
          <p:nvPr/>
        </p:nvSpPr>
        <p:spPr>
          <a:xfrm>
            <a:off x="6094476"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CORRIDOR</a:t>
            </a:r>
            <a:endParaRPr lang="en-US" sz="850" dirty="0"/>
          </a:p>
        </p:txBody>
      </p:sp>
      <p:sp>
        <p:nvSpPr>
          <p:cNvPr id="16" name="Shape 14"/>
          <p:cNvSpPr/>
          <p:nvPr/>
        </p:nvSpPr>
        <p:spPr>
          <a:xfrm>
            <a:off x="7492365" y="1298448"/>
            <a:ext cx="1467783" cy="365760"/>
          </a:xfrm>
          <a:prstGeom prst="chevron">
            <a:avLst/>
          </a:prstGeom>
          <a:solidFill>
            <a:srgbClr val="12151B"/>
          </a:solidFill>
          <a:ln w="12700">
            <a:solidFill>
              <a:srgbClr val="FFFFFF"/>
            </a:solidFill>
            <a:prstDash val="solid"/>
          </a:ln>
        </p:spPr>
      </p:sp>
      <p:sp>
        <p:nvSpPr>
          <p:cNvPr id="17" name="Text 15"/>
          <p:cNvSpPr txBox="1"/>
          <p:nvPr/>
        </p:nvSpPr>
        <p:spPr>
          <a:xfrm>
            <a:off x="7492365"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BEHAVIOUR</a:t>
            </a:r>
            <a:endParaRPr lang="en-US" sz="850" dirty="0"/>
          </a:p>
        </p:txBody>
      </p:sp>
      <p:sp>
        <p:nvSpPr>
          <p:cNvPr id="18" name="Shape 16"/>
          <p:cNvSpPr/>
          <p:nvPr/>
        </p:nvSpPr>
        <p:spPr>
          <a:xfrm>
            <a:off x="8890254" y="1298448"/>
            <a:ext cx="1467783" cy="365760"/>
          </a:xfrm>
          <a:prstGeom prst="chevron">
            <a:avLst/>
          </a:prstGeom>
          <a:solidFill>
            <a:srgbClr val="E8A33D"/>
          </a:solidFill>
          <a:ln w="12700">
            <a:solidFill>
              <a:srgbClr val="FFFFFF"/>
            </a:solidFill>
            <a:prstDash val="solid"/>
          </a:ln>
        </p:spPr>
      </p:sp>
      <p:sp>
        <p:nvSpPr>
          <p:cNvPr id="19" name="Text 17"/>
          <p:cNvSpPr txBox="1"/>
          <p:nvPr/>
        </p:nvSpPr>
        <p:spPr>
          <a:xfrm>
            <a:off x="8890254" y="1298448"/>
            <a:ext cx="1467783" cy="365760"/>
          </a:xfrm>
          <a:prstGeom prst="rect">
            <a:avLst/>
          </a:prstGeom>
          <a:noFill/>
          <a:ln/>
        </p:spPr>
        <p:txBody>
          <a:bodyPr wrap="square" lIns="0" tIns="0" rIns="0" bIns="0" rtlCol="0" anchor="ctr"/>
          <a:lstStyle/>
          <a:p>
            <a:pPr algn="ctr" indent="0" marL="0">
              <a:buNone/>
            </a:pPr>
            <a:r>
              <a:rPr lang="en-US" sz="850" b="1" dirty="0">
                <a:solidFill>
                  <a:srgbClr val="12151B"/>
                </a:solidFill>
                <a:latin typeface="Arial" pitchFamily="34" charset="0"/>
                <a:ea typeface="Arial" pitchFamily="34" charset="-122"/>
                <a:cs typeface="Arial" pitchFamily="34" charset="-120"/>
              </a:rPr>
              <a:t>LATTICE</a:t>
            </a:r>
            <a:endParaRPr lang="en-US" sz="850" dirty="0"/>
          </a:p>
        </p:txBody>
      </p:sp>
      <p:sp>
        <p:nvSpPr>
          <p:cNvPr id="20" name="Shape 18"/>
          <p:cNvSpPr/>
          <p:nvPr/>
        </p:nvSpPr>
        <p:spPr>
          <a:xfrm>
            <a:off x="10288143" y="1298448"/>
            <a:ext cx="1467783" cy="365760"/>
          </a:xfrm>
          <a:prstGeom prst="chevron">
            <a:avLst/>
          </a:prstGeom>
          <a:solidFill>
            <a:srgbClr val="12151B"/>
          </a:solidFill>
          <a:ln w="12700">
            <a:solidFill>
              <a:srgbClr val="FFFFFF"/>
            </a:solidFill>
            <a:prstDash val="solid"/>
          </a:ln>
        </p:spPr>
      </p:sp>
      <p:sp>
        <p:nvSpPr>
          <p:cNvPr id="21" name="Text 19"/>
          <p:cNvSpPr txBox="1"/>
          <p:nvPr/>
        </p:nvSpPr>
        <p:spPr>
          <a:xfrm>
            <a:off x="10288143"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RSS + CBF</a:t>
            </a:r>
            <a:endParaRPr lang="en-US" sz="850" dirty="0"/>
          </a:p>
        </p:txBody>
      </p:sp>
      <p:sp>
        <p:nvSpPr>
          <p:cNvPr id="22" name="Text 20"/>
          <p:cNvSpPr txBox="1"/>
          <p:nvPr/>
        </p:nvSpPr>
        <p:spPr>
          <a:xfrm>
            <a:off x="502920" y="1965960"/>
            <a:ext cx="5989320" cy="3108960"/>
          </a:xfrm>
          <a:prstGeom prst="rect">
            <a:avLst/>
          </a:prstGeom>
          <a:noFill/>
          <a:ln/>
        </p:spPr>
        <p:txBody>
          <a:bodyPr wrap="square" lIns="0" tIns="0" rIns="0" bIns="0" rtlCol="0" anchor="t"/>
          <a:lstStyle/>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Quintic laterally, quartic longitudinally,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in the Frenet frame of the corridor reference — the classical jerk-minimal form (Werling).</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We sample terminal states,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not controls: lateral offsets across the corridor, terminal speeds, and durations.</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Scoring is against the time-indexed risk field,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plus jerk, curvature, offset and speed shortfall. Weights are on screen.</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Batched in NumPy.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Evaluating candidates one at a time cost 71 ms; batching brought the same work to 7.5 ms.</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Infeasible is not the same as unsafe.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Candidates that break curvature or acceleration limits are dropped before scoring; the count is on screen as 'feasible n/m'.</a:t>
            </a:r>
            <a:endParaRPr lang="en-US" sz="1300" dirty="0"/>
          </a:p>
        </p:txBody>
      </p:sp>
      <p:sp>
        <p:nvSpPr>
          <p:cNvPr id="23" name="Shape 21"/>
          <p:cNvSpPr/>
          <p:nvPr/>
        </p:nvSpPr>
        <p:spPr>
          <a:xfrm>
            <a:off x="6766560" y="1965960"/>
            <a:ext cx="4919472" cy="3000121"/>
          </a:xfrm>
          <a:prstGeom prst="roundRect">
            <a:avLst>
              <a:gd name="adj" fmla="val 1829"/>
            </a:avLst>
          </a:prstGeom>
          <a:solidFill>
            <a:srgbClr val="F2F4F7"/>
          </a:solidFill>
          <a:ln w="12700">
            <a:solidFill>
              <a:srgbClr val="F2F4F7"/>
            </a:solidFill>
            <a:prstDash val="solid"/>
          </a:ln>
        </p:spPr>
      </p:sp>
      <p:sp>
        <p:nvSpPr>
          <p:cNvPr id="24" name="Text 22"/>
          <p:cNvSpPr txBox="1"/>
          <p:nvPr/>
        </p:nvSpPr>
        <p:spPr>
          <a:xfrm>
            <a:off x="6931152" y="2084832"/>
            <a:ext cx="4590288" cy="2762377"/>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12151B"/>
                </a:solidFill>
                <a:latin typeface="Arial" pitchFamily="34" charset="0"/>
                <a:ea typeface="Arial" pitchFamily="34" charset="-122"/>
                <a:cs typeface="Arial" pitchFamily="34" charset="-120"/>
              </a:rPr>
              <a:t>The sampling bug that cost us most</a:t>
            </a:r>
            <a:endParaRPr lang="en-US" sz="1300" dirty="0"/>
          </a:p>
          <a:p>
            <a:pPr indent="0" marL="0">
              <a:lnSpc>
                <a:spcPct val="106000"/>
              </a:lnSpc>
              <a:spcAft>
                <a:spcPts val="400"/>
              </a:spcAft>
              <a:buNone/>
            </a:pPr>
            <a:r>
              <a:rPr lang="en-US" sz="1250" dirty="0">
                <a:solidFill>
                  <a:srgbClr val="1A1D23"/>
                </a:solidFill>
                <a:latin typeface="Arial" pitchFamily="34" charset="0"/>
                <a:ea typeface="Arial" pitchFamily="34" charset="-122"/>
                <a:cs typeface="Arial" pitchFamily="34" charset="-120"/>
              </a:rPr>
              <a:t>At a standstill, 81 of 131 candidates were rejected for exceeding the acceleration limit and 49 more for curvature — one usable trajectory left. Both were self-inflicted: we sampled terminal speeds the car cannot reach in the time given, and we advanced the lateral profile with the clock, so a stopped car was asked to move sideways before it had moved at all.</a:t>
            </a:r>
            <a:endParaRPr lang="en-US" sz="1300" dirty="0"/>
          </a:p>
          <a:p>
            <a:pPr indent="0" marL="0">
              <a:lnSpc>
                <a:spcPct val="106000"/>
              </a:lnSpc>
              <a:spcAft>
                <a:spcPts val="400"/>
              </a:spcAft>
              <a:buNone/>
            </a:pPr>
            <a:r>
              <a:rPr lang="en-US" sz="1250" dirty="0">
                <a:solidFill>
                  <a:srgbClr val="1A1D23"/>
                </a:solidFill>
                <a:latin typeface="Arial" pitchFamily="34" charset="0"/>
                <a:ea typeface="Arial" pitchFamily="34" charset="-122"/>
                <a:cs typeface="Arial" pitchFamily="34" charset="-120"/>
              </a:rPr>
              <a:t>Fixed by sampling inside the reachable set (peak accel of the quartic is 1.5·Δv/T) and advancing the lateral with distance travelled instead — Werling's own low-speed form. Usable fan: 1 → 35-50.</a:t>
            </a:r>
            <a:endParaRPr lang="en-US" sz="1300" dirty="0"/>
          </a:p>
        </p:txBody>
      </p:sp>
      <p:sp>
        <p:nvSpPr>
          <p:cNvPr id="25" name="Shape 23"/>
          <p:cNvSpPr/>
          <p:nvPr/>
        </p:nvSpPr>
        <p:spPr>
          <a:xfrm>
            <a:off x="502920" y="5349240"/>
            <a:ext cx="11183112" cy="777240"/>
          </a:xfrm>
          <a:prstGeom prst="roundRect">
            <a:avLst>
              <a:gd name="adj" fmla="val 7059"/>
            </a:avLst>
          </a:prstGeom>
          <a:solidFill>
            <a:srgbClr val="12151B"/>
          </a:solidFill>
          <a:ln w="12700">
            <a:solidFill>
              <a:srgbClr val="333333"/>
            </a:solidFill>
            <a:prstDash val="solid"/>
          </a:ln>
        </p:spPr>
      </p:sp>
      <p:sp>
        <p:nvSpPr>
          <p:cNvPr id="26" name="Text 24"/>
          <p:cNvSpPr txBox="1"/>
          <p:nvPr/>
        </p:nvSpPr>
        <p:spPr>
          <a:xfrm>
            <a:off x="685800" y="5349240"/>
            <a:ext cx="10817352" cy="777240"/>
          </a:xfrm>
          <a:prstGeom prst="rect">
            <a:avLst/>
          </a:prstGeom>
          <a:noFill/>
          <a:ln/>
        </p:spPr>
        <p:txBody>
          <a:bodyPr wrap="square" lIns="0" tIns="0" rIns="0" bIns="0" rtlCol="0" anchor="ctr"/>
          <a:lstStyle/>
          <a:p>
            <a:pPr indent="0" marL="0">
              <a:buNone/>
            </a:pPr>
            <a:r>
              <a:rPr lang="en-US" sz="1050" b="1" dirty="0">
                <a:solidFill>
                  <a:srgbClr val="E8A33D"/>
                </a:solidFill>
                <a:latin typeface="Arial" pitchFamily="34" charset="0"/>
                <a:ea typeface="Arial" pitchFamily="34" charset="-122"/>
                <a:cs typeface="Arial" pitchFamily="34" charset="-120"/>
              </a:rPr>
              <a:t>In the code   </a:t>
            </a:r>
            <a:pPr indent="0" marL="0">
              <a:buNone/>
            </a:pPr>
            <a:r>
              <a:rPr lang="en-US" sz="1100" dirty="0">
                <a:solidFill>
                  <a:srgbClr val="E6E8EC"/>
                </a:solidFill>
                <a:latin typeface="Arial" pitchFamily="34" charset="0"/>
                <a:ea typeface="Arial" pitchFamily="34" charset="-122"/>
                <a:cs typeface="Arial" pitchFamily="34" charset="-120"/>
              </a:rPr>
              <a:t>sarathi/planning/lattice.py        </a:t>
            </a:r>
            <a:pPr indent="0" marL="0">
              <a:buNone/>
            </a:pPr>
            <a:r>
              <a:rPr lang="en-US" sz="1050" b="1" dirty="0">
                <a:solidFill>
                  <a:srgbClr val="E8A33D"/>
                </a:solidFill>
                <a:latin typeface="Arial" pitchFamily="34" charset="0"/>
                <a:ea typeface="Arial" pitchFamily="34" charset="-122"/>
                <a:cs typeface="Arial" pitchFamily="34" charset="-120"/>
              </a:rPr>
              <a:t>Ask   </a:t>
            </a:r>
            <a:pPr indent="0" marL="0">
              <a:buNone/>
            </a:pPr>
            <a:r>
              <a:rPr lang="en-US" sz="1100" dirty="0">
                <a:solidFill>
                  <a:srgbClr val="E6E8EC"/>
                </a:solidFill>
                <a:latin typeface="Arial" pitchFamily="34" charset="0"/>
                <a:ea typeface="Arial" pitchFamily="34" charset="-122"/>
                <a:cs typeface="Arial" pitchFamily="34" charset="-120"/>
              </a:rPr>
              <a:t>B1</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12</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RSS + control barrier — the supervisor</a:t>
            </a:r>
            <a:endParaRPr lang="en-US" sz="2700" dirty="0"/>
          </a:p>
        </p:txBody>
      </p:sp>
      <p:sp>
        <p:nvSpPr>
          <p:cNvPr id="5" name="Text 3"/>
          <p:cNvSpPr txBox="1"/>
          <p:nvPr/>
        </p:nvSpPr>
        <p:spPr>
          <a:xfrm>
            <a:off x="1069848" y="868680"/>
            <a:ext cx="10616184"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The answer to 'how do you know it is safe?'</a:t>
            </a:r>
            <a:endParaRPr lang="en-US" sz="1300" dirty="0"/>
          </a:p>
        </p:txBody>
      </p:sp>
      <p:sp>
        <p:nvSpPr>
          <p:cNvPr id="6" name="Shape 4"/>
          <p:cNvSpPr/>
          <p:nvPr/>
        </p:nvSpPr>
        <p:spPr>
          <a:xfrm>
            <a:off x="502920" y="1298448"/>
            <a:ext cx="1467783" cy="365760"/>
          </a:xfrm>
          <a:prstGeom prst="chevron">
            <a:avLst/>
          </a:prstGeom>
          <a:solidFill>
            <a:srgbClr val="12151B"/>
          </a:solidFill>
          <a:ln w="12700">
            <a:solidFill>
              <a:srgbClr val="FFFFFF"/>
            </a:solidFill>
            <a:prstDash val="solid"/>
          </a:ln>
        </p:spPr>
      </p:sp>
      <p:sp>
        <p:nvSpPr>
          <p:cNvPr id="7" name="Text 5"/>
          <p:cNvSpPr txBox="1"/>
          <p:nvPr/>
        </p:nvSpPr>
        <p:spPr>
          <a:xfrm>
            <a:off x="502920"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SENSE</a:t>
            </a:r>
            <a:endParaRPr lang="en-US" sz="850" dirty="0"/>
          </a:p>
        </p:txBody>
      </p:sp>
      <p:sp>
        <p:nvSpPr>
          <p:cNvPr id="8" name="Shape 6"/>
          <p:cNvSpPr/>
          <p:nvPr/>
        </p:nvSpPr>
        <p:spPr>
          <a:xfrm>
            <a:off x="1900809" y="1298448"/>
            <a:ext cx="1467783" cy="365760"/>
          </a:xfrm>
          <a:prstGeom prst="chevron">
            <a:avLst/>
          </a:prstGeom>
          <a:solidFill>
            <a:srgbClr val="12151B"/>
          </a:solidFill>
          <a:ln w="12700">
            <a:solidFill>
              <a:srgbClr val="FFFFFF"/>
            </a:solidFill>
            <a:prstDash val="solid"/>
          </a:ln>
        </p:spPr>
      </p:sp>
      <p:sp>
        <p:nvSpPr>
          <p:cNvPr id="9" name="Text 7"/>
          <p:cNvSpPr txBox="1"/>
          <p:nvPr/>
        </p:nvSpPr>
        <p:spPr>
          <a:xfrm>
            <a:off x="1900809"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FUSE</a:t>
            </a:r>
            <a:endParaRPr lang="en-US" sz="850" dirty="0"/>
          </a:p>
        </p:txBody>
      </p:sp>
      <p:sp>
        <p:nvSpPr>
          <p:cNvPr id="10" name="Shape 8"/>
          <p:cNvSpPr/>
          <p:nvPr/>
        </p:nvSpPr>
        <p:spPr>
          <a:xfrm>
            <a:off x="3298698" y="1298448"/>
            <a:ext cx="1467783" cy="365760"/>
          </a:xfrm>
          <a:prstGeom prst="chevron">
            <a:avLst/>
          </a:prstGeom>
          <a:solidFill>
            <a:srgbClr val="12151B"/>
          </a:solidFill>
          <a:ln w="12700">
            <a:solidFill>
              <a:srgbClr val="FFFFFF"/>
            </a:solidFill>
            <a:prstDash val="solid"/>
          </a:ln>
        </p:spPr>
      </p:sp>
      <p:sp>
        <p:nvSpPr>
          <p:cNvPr id="11" name="Text 9"/>
          <p:cNvSpPr txBox="1"/>
          <p:nvPr/>
        </p:nvSpPr>
        <p:spPr>
          <a:xfrm>
            <a:off x="3298698"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PREDICT</a:t>
            </a:r>
            <a:endParaRPr lang="en-US" sz="850" dirty="0"/>
          </a:p>
        </p:txBody>
      </p:sp>
      <p:sp>
        <p:nvSpPr>
          <p:cNvPr id="12" name="Shape 10"/>
          <p:cNvSpPr/>
          <p:nvPr/>
        </p:nvSpPr>
        <p:spPr>
          <a:xfrm>
            <a:off x="4696587" y="1298448"/>
            <a:ext cx="1467783" cy="365760"/>
          </a:xfrm>
          <a:prstGeom prst="chevron">
            <a:avLst/>
          </a:prstGeom>
          <a:solidFill>
            <a:srgbClr val="12151B"/>
          </a:solidFill>
          <a:ln w="12700">
            <a:solidFill>
              <a:srgbClr val="FFFFFF"/>
            </a:solidFill>
            <a:prstDash val="solid"/>
          </a:ln>
        </p:spPr>
      </p:sp>
      <p:sp>
        <p:nvSpPr>
          <p:cNvPr id="13" name="Text 11"/>
          <p:cNvSpPr txBox="1"/>
          <p:nvPr/>
        </p:nvSpPr>
        <p:spPr>
          <a:xfrm>
            <a:off x="4696587"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RISK FIELD</a:t>
            </a:r>
            <a:endParaRPr lang="en-US" sz="850" dirty="0"/>
          </a:p>
        </p:txBody>
      </p:sp>
      <p:sp>
        <p:nvSpPr>
          <p:cNvPr id="14" name="Shape 12"/>
          <p:cNvSpPr/>
          <p:nvPr/>
        </p:nvSpPr>
        <p:spPr>
          <a:xfrm>
            <a:off x="6094476" y="1298448"/>
            <a:ext cx="1467783" cy="365760"/>
          </a:xfrm>
          <a:prstGeom prst="chevron">
            <a:avLst/>
          </a:prstGeom>
          <a:solidFill>
            <a:srgbClr val="12151B"/>
          </a:solidFill>
          <a:ln w="12700">
            <a:solidFill>
              <a:srgbClr val="FFFFFF"/>
            </a:solidFill>
            <a:prstDash val="solid"/>
          </a:ln>
        </p:spPr>
      </p:sp>
      <p:sp>
        <p:nvSpPr>
          <p:cNvPr id="15" name="Text 13"/>
          <p:cNvSpPr txBox="1"/>
          <p:nvPr/>
        </p:nvSpPr>
        <p:spPr>
          <a:xfrm>
            <a:off x="6094476"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CORRIDOR</a:t>
            </a:r>
            <a:endParaRPr lang="en-US" sz="850" dirty="0"/>
          </a:p>
        </p:txBody>
      </p:sp>
      <p:sp>
        <p:nvSpPr>
          <p:cNvPr id="16" name="Shape 14"/>
          <p:cNvSpPr/>
          <p:nvPr/>
        </p:nvSpPr>
        <p:spPr>
          <a:xfrm>
            <a:off x="7492365" y="1298448"/>
            <a:ext cx="1467783" cy="365760"/>
          </a:xfrm>
          <a:prstGeom prst="chevron">
            <a:avLst/>
          </a:prstGeom>
          <a:solidFill>
            <a:srgbClr val="12151B"/>
          </a:solidFill>
          <a:ln w="12700">
            <a:solidFill>
              <a:srgbClr val="FFFFFF"/>
            </a:solidFill>
            <a:prstDash val="solid"/>
          </a:ln>
        </p:spPr>
      </p:sp>
      <p:sp>
        <p:nvSpPr>
          <p:cNvPr id="17" name="Text 15"/>
          <p:cNvSpPr txBox="1"/>
          <p:nvPr/>
        </p:nvSpPr>
        <p:spPr>
          <a:xfrm>
            <a:off x="7492365"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BEHAVIOUR</a:t>
            </a:r>
            <a:endParaRPr lang="en-US" sz="850" dirty="0"/>
          </a:p>
        </p:txBody>
      </p:sp>
      <p:sp>
        <p:nvSpPr>
          <p:cNvPr id="18" name="Shape 16"/>
          <p:cNvSpPr/>
          <p:nvPr/>
        </p:nvSpPr>
        <p:spPr>
          <a:xfrm>
            <a:off x="8890254" y="1298448"/>
            <a:ext cx="1467783" cy="365760"/>
          </a:xfrm>
          <a:prstGeom prst="chevron">
            <a:avLst/>
          </a:prstGeom>
          <a:solidFill>
            <a:srgbClr val="12151B"/>
          </a:solidFill>
          <a:ln w="12700">
            <a:solidFill>
              <a:srgbClr val="FFFFFF"/>
            </a:solidFill>
            <a:prstDash val="solid"/>
          </a:ln>
        </p:spPr>
      </p:sp>
      <p:sp>
        <p:nvSpPr>
          <p:cNvPr id="19" name="Text 17"/>
          <p:cNvSpPr txBox="1"/>
          <p:nvPr/>
        </p:nvSpPr>
        <p:spPr>
          <a:xfrm>
            <a:off x="8890254" y="1298448"/>
            <a:ext cx="1467783"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LATTICE</a:t>
            </a:r>
            <a:endParaRPr lang="en-US" sz="850" dirty="0"/>
          </a:p>
        </p:txBody>
      </p:sp>
      <p:sp>
        <p:nvSpPr>
          <p:cNvPr id="20" name="Shape 18"/>
          <p:cNvSpPr/>
          <p:nvPr/>
        </p:nvSpPr>
        <p:spPr>
          <a:xfrm>
            <a:off x="10288143" y="1298448"/>
            <a:ext cx="1467783" cy="365760"/>
          </a:xfrm>
          <a:prstGeom prst="chevron">
            <a:avLst/>
          </a:prstGeom>
          <a:solidFill>
            <a:srgbClr val="E8A33D"/>
          </a:solidFill>
          <a:ln w="12700">
            <a:solidFill>
              <a:srgbClr val="FFFFFF"/>
            </a:solidFill>
            <a:prstDash val="solid"/>
          </a:ln>
        </p:spPr>
      </p:sp>
      <p:sp>
        <p:nvSpPr>
          <p:cNvPr id="21" name="Text 19"/>
          <p:cNvSpPr txBox="1"/>
          <p:nvPr/>
        </p:nvSpPr>
        <p:spPr>
          <a:xfrm>
            <a:off x="10288143" y="1298448"/>
            <a:ext cx="1467783" cy="365760"/>
          </a:xfrm>
          <a:prstGeom prst="rect">
            <a:avLst/>
          </a:prstGeom>
          <a:noFill/>
          <a:ln/>
        </p:spPr>
        <p:txBody>
          <a:bodyPr wrap="square" lIns="0" tIns="0" rIns="0" bIns="0" rtlCol="0" anchor="ctr"/>
          <a:lstStyle/>
          <a:p>
            <a:pPr algn="ctr" indent="0" marL="0">
              <a:buNone/>
            </a:pPr>
            <a:r>
              <a:rPr lang="en-US" sz="850" b="1" dirty="0">
                <a:solidFill>
                  <a:srgbClr val="12151B"/>
                </a:solidFill>
                <a:latin typeface="Arial" pitchFamily="34" charset="0"/>
                <a:ea typeface="Arial" pitchFamily="34" charset="-122"/>
                <a:cs typeface="Arial" pitchFamily="34" charset="-120"/>
              </a:rPr>
              <a:t>RSS + CBF</a:t>
            </a:r>
            <a:endParaRPr lang="en-US" sz="850" dirty="0"/>
          </a:p>
        </p:txBody>
      </p:sp>
      <p:sp>
        <p:nvSpPr>
          <p:cNvPr id="22" name="Text 20"/>
          <p:cNvSpPr txBox="1"/>
          <p:nvPr/>
        </p:nvSpPr>
        <p:spPr>
          <a:xfrm>
            <a:off x="502920" y="1965960"/>
            <a:ext cx="5989320" cy="3108960"/>
          </a:xfrm>
          <a:prstGeom prst="rect">
            <a:avLst/>
          </a:prstGeom>
          <a:noFill/>
          <a:ln/>
        </p:spPr>
        <p:txBody>
          <a:bodyPr wrap="square" lIns="0" tIns="0" rIns="0" bIns="0" rtlCol="0" anchor="t"/>
          <a:lstStyle/>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RSS gives a formal condition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for a safe longitudinal gap given both speeds, reaction time and braking limits.</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We invert it in closed form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to get a safe speed directly, instead of proposing a speed and testing it.</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Parameters are recalibrated for India.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Western reaction time and gap acceptance would make the vehicle undriveable here — and pretending otherwise would be dishonest.</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A control-barrier filter caps the result,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so the commanded speed can only ever be reduced by the supervisor.</a:t>
            </a:r>
            <a:endParaRPr lang="en-US" sz="1300" dirty="0"/>
          </a:p>
          <a:p>
            <a:pPr marL="342900" indent="-342900">
              <a:lnSpc>
                <a:spcPct val="108000"/>
              </a:lnSpc>
              <a:buSzPct val="100000"/>
              <a:buChar char="•"/>
            </a:pPr>
            <a:r>
              <a:rPr lang="en-US" sz="1300" b="1" dirty="0">
                <a:solidFill>
                  <a:srgbClr val="12151B"/>
                </a:solidFill>
                <a:latin typeface="Arial" pitchFamily="34" charset="0"/>
                <a:ea typeface="Arial" pitchFamily="34" charset="-122"/>
                <a:cs typeface="Arial" pitchFamily="34" charset="-120"/>
              </a:rPr>
              <a:t>Monotone by construction. </a:t>
            </a:r>
            <a:pPr indent="0" marL="0">
              <a:lnSpc>
                <a:spcPct val="108000"/>
              </a:lnSpc>
              <a:spcAft>
                <a:spcPts val="1000"/>
              </a:spcAft>
              <a:buNone/>
            </a:pPr>
            <a:r>
              <a:rPr lang="en-US" sz="1300" dirty="0">
                <a:solidFill>
                  <a:srgbClr val="1A1D23"/>
                </a:solidFill>
                <a:latin typeface="Arial" pitchFamily="34" charset="0"/>
                <a:ea typeface="Arial" pitchFamily="34" charset="-122"/>
                <a:cs typeface="Arial" pitchFamily="34" charset="-120"/>
              </a:rPr>
              <a:t>That single property is why the supervisor cannot cause a collision, and it is the sentence to say.</a:t>
            </a:r>
            <a:endParaRPr lang="en-US" sz="1300" dirty="0"/>
          </a:p>
        </p:txBody>
      </p:sp>
      <p:sp>
        <p:nvSpPr>
          <p:cNvPr id="23" name="Shape 21"/>
          <p:cNvSpPr/>
          <p:nvPr/>
        </p:nvSpPr>
        <p:spPr>
          <a:xfrm>
            <a:off x="6766560" y="1965960"/>
            <a:ext cx="4919472" cy="1668907"/>
          </a:xfrm>
          <a:prstGeom prst="roundRect">
            <a:avLst>
              <a:gd name="adj" fmla="val 3287"/>
            </a:avLst>
          </a:prstGeom>
          <a:solidFill>
            <a:srgbClr val="F2F4F7"/>
          </a:solidFill>
          <a:ln w="12700">
            <a:solidFill>
              <a:srgbClr val="F2F4F7"/>
            </a:solidFill>
            <a:prstDash val="solid"/>
          </a:ln>
        </p:spPr>
      </p:sp>
      <p:sp>
        <p:nvSpPr>
          <p:cNvPr id="24" name="Text 22"/>
          <p:cNvSpPr txBox="1"/>
          <p:nvPr/>
        </p:nvSpPr>
        <p:spPr>
          <a:xfrm>
            <a:off x="6931152" y="2084832"/>
            <a:ext cx="4590288" cy="1431163"/>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12151B"/>
                </a:solidFill>
                <a:latin typeface="Arial" pitchFamily="34" charset="0"/>
                <a:ea typeface="Arial" pitchFamily="34" charset="-122"/>
                <a:cs typeface="Arial" pitchFamily="34" charset="-120"/>
              </a:rPr>
              <a:t>The hard question, and the answer</a:t>
            </a:r>
            <a:endParaRPr lang="en-US" sz="1300" dirty="0"/>
          </a:p>
          <a:p>
            <a:pPr indent="0" marL="0">
              <a:lnSpc>
                <a:spcPct val="106000"/>
              </a:lnSpc>
              <a:spcAft>
                <a:spcPts val="400"/>
              </a:spcAft>
              <a:buNone/>
            </a:pPr>
            <a:r>
              <a:rPr lang="en-US" sz="1250" dirty="0">
                <a:solidFill>
                  <a:srgbClr val="1A1D23"/>
                </a:solidFill>
                <a:latin typeface="Arial" pitchFamily="34" charset="0"/>
                <a:ea typeface="Arial" pitchFamily="34" charset="-122"/>
                <a:cs typeface="Arial" pitchFamily="34" charset="-120"/>
              </a:rPr>
              <a:t>“RSS assumes everyone else follows RSS. Nobody here does.” — Correct. We use RSS as a lower bound on our own behaviour, not as a prediction of theirs. Their behaviour is handled in the prediction stage, which assumes they will do the worst plausible thing.</a:t>
            </a:r>
            <a:endParaRPr lang="en-US" sz="1300" dirty="0"/>
          </a:p>
        </p:txBody>
      </p:sp>
      <p:sp>
        <p:nvSpPr>
          <p:cNvPr id="25" name="Shape 23"/>
          <p:cNvSpPr/>
          <p:nvPr/>
        </p:nvSpPr>
        <p:spPr>
          <a:xfrm>
            <a:off x="502920" y="5349240"/>
            <a:ext cx="11183112" cy="777240"/>
          </a:xfrm>
          <a:prstGeom prst="roundRect">
            <a:avLst>
              <a:gd name="adj" fmla="val 7059"/>
            </a:avLst>
          </a:prstGeom>
          <a:solidFill>
            <a:srgbClr val="12151B"/>
          </a:solidFill>
          <a:ln w="12700">
            <a:solidFill>
              <a:srgbClr val="333333"/>
            </a:solidFill>
            <a:prstDash val="solid"/>
          </a:ln>
        </p:spPr>
      </p:sp>
      <p:sp>
        <p:nvSpPr>
          <p:cNvPr id="26" name="Text 24"/>
          <p:cNvSpPr txBox="1"/>
          <p:nvPr/>
        </p:nvSpPr>
        <p:spPr>
          <a:xfrm>
            <a:off x="685800" y="5349240"/>
            <a:ext cx="10817352" cy="777240"/>
          </a:xfrm>
          <a:prstGeom prst="rect">
            <a:avLst/>
          </a:prstGeom>
          <a:noFill/>
          <a:ln/>
        </p:spPr>
        <p:txBody>
          <a:bodyPr wrap="square" lIns="0" tIns="0" rIns="0" bIns="0" rtlCol="0" anchor="ctr"/>
          <a:lstStyle/>
          <a:p>
            <a:pPr indent="0" marL="0">
              <a:buNone/>
            </a:pPr>
            <a:r>
              <a:rPr lang="en-US" sz="1050" b="1" dirty="0">
                <a:solidFill>
                  <a:srgbClr val="E8A33D"/>
                </a:solidFill>
                <a:latin typeface="Arial" pitchFamily="34" charset="0"/>
                <a:ea typeface="Arial" pitchFamily="34" charset="-122"/>
                <a:cs typeface="Arial" pitchFamily="34" charset="-120"/>
              </a:rPr>
              <a:t>In the code   </a:t>
            </a:r>
            <a:pPr indent="0" marL="0">
              <a:buNone/>
            </a:pPr>
            <a:r>
              <a:rPr lang="en-US" sz="1100" dirty="0">
                <a:solidFill>
                  <a:srgbClr val="E6E8EC"/>
                </a:solidFill>
                <a:latin typeface="Arial" pitchFamily="34" charset="0"/>
                <a:ea typeface="Arial" pitchFamily="34" charset="-122"/>
                <a:cs typeface="Arial" pitchFamily="34" charset="-120"/>
              </a:rPr>
              <a:t>sarathi/safety/rss.py        </a:t>
            </a:r>
            <a:pPr indent="0" marL="0">
              <a:buNone/>
            </a:pPr>
            <a:r>
              <a:rPr lang="en-US" sz="1050" b="1" dirty="0">
                <a:solidFill>
                  <a:srgbClr val="E8A33D"/>
                </a:solidFill>
                <a:latin typeface="Arial" pitchFamily="34" charset="0"/>
                <a:ea typeface="Arial" pitchFamily="34" charset="-122"/>
                <a:cs typeface="Arial" pitchFamily="34" charset="-120"/>
              </a:rPr>
              <a:t>Ask   </a:t>
            </a:r>
            <a:pPr indent="0" marL="0">
              <a:buNone/>
            </a:pPr>
            <a:r>
              <a:rPr lang="en-US" sz="1100" dirty="0">
                <a:solidFill>
                  <a:srgbClr val="E6E8EC"/>
                </a:solidFill>
                <a:latin typeface="Arial" pitchFamily="34" charset="0"/>
                <a:ea typeface="Arial" pitchFamily="34" charset="-122"/>
                <a:cs typeface="Arial" pitchFamily="34" charset="-120"/>
              </a:rPr>
              <a:t>B1</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13</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The traffic around us is the other half of the work</a:t>
            </a:r>
            <a:endParaRPr lang="en-US" sz="2700" dirty="0"/>
          </a:p>
        </p:txBody>
      </p:sp>
      <p:sp>
        <p:nvSpPr>
          <p:cNvPr id="5" name="Text 3"/>
          <p:cNvSpPr txBox="1"/>
          <p:nvPr/>
        </p:nvSpPr>
        <p:spPr>
          <a:xfrm>
            <a:off x="1069848" y="868680"/>
            <a:ext cx="10616184"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A planner is only as honest as the traffic it is tested against.</a:t>
            </a:r>
            <a:endParaRPr lang="en-US" sz="1300" dirty="0"/>
          </a:p>
        </p:txBody>
      </p:sp>
      <p:sp>
        <p:nvSpPr>
          <p:cNvPr id="6" name="Text 4"/>
          <p:cNvSpPr txBox="1"/>
          <p:nvPr/>
        </p:nvSpPr>
        <p:spPr>
          <a:xfrm>
            <a:off x="502920" y="1417320"/>
            <a:ext cx="6309360" cy="4389120"/>
          </a:xfrm>
          <a:prstGeom prst="rect">
            <a:avLst/>
          </a:prstGeom>
          <a:noFill/>
          <a:ln/>
        </p:spPr>
        <p:txBody>
          <a:bodyPr wrap="square" lIns="0" tIns="0" rIns="0" bIns="0" rtlCol="0" anchor="t"/>
          <a:lstStyle/>
          <a:p>
            <a:pPr marL="342900" indent="-342900">
              <a:lnSpc>
                <a:spcPct val="108000"/>
              </a:lnSpc>
              <a:buSzPct val="100000"/>
              <a:buChar char="•"/>
            </a:pPr>
            <a:r>
              <a:rPr lang="en-US" sz="1200" b="1" dirty="0">
                <a:solidFill>
                  <a:srgbClr val="12151B"/>
                </a:solidFill>
                <a:latin typeface="Arial" pitchFamily="34" charset="0"/>
                <a:ea typeface="Arial" pitchFamily="34" charset="-122"/>
                <a:cs typeface="Arial" pitchFamily="34" charset="-120"/>
              </a:rPr>
              <a:t>Non-lane-based car following (NLB-IDM). </a:t>
            </a:r>
            <a:pPr indent="0" marL="0">
              <a:lnSpc>
                <a:spcPct val="108000"/>
              </a:lnSpc>
              <a:spcAft>
                <a:spcPts val="900"/>
              </a:spcAft>
              <a:buNone/>
            </a:pPr>
            <a:r>
              <a:rPr lang="en-US" sz="1200" dirty="0">
                <a:solidFill>
                  <a:srgbClr val="1A1D23"/>
                </a:solidFill>
                <a:latin typeface="Arial" pitchFamily="34" charset="0"/>
                <a:ea typeface="Arial" pitchFamily="34" charset="-122"/>
                <a:cs typeface="Arial" pitchFamily="34" charset="-120"/>
              </a:rPr>
              <a:t>Agents form dynamic pseudo-lanes: the interaction strength between two vehicles depends on how much their bodies overlap laterally, not on which lane they are in.</a:t>
            </a:r>
            <a:endParaRPr lang="en-US" sz="1200" dirty="0"/>
          </a:p>
          <a:p>
            <a:pPr marL="342900" indent="-342900">
              <a:lnSpc>
                <a:spcPct val="108000"/>
              </a:lnSpc>
              <a:buSzPct val="100000"/>
              <a:buChar char="•"/>
            </a:pPr>
            <a:r>
              <a:rPr lang="en-US" sz="1200" b="1" dirty="0">
                <a:solidFill>
                  <a:srgbClr val="12151B"/>
                </a:solidFill>
                <a:latin typeface="Arial" pitchFamily="34" charset="0"/>
                <a:ea typeface="Arial" pitchFamily="34" charset="-122"/>
                <a:cs typeface="Arial" pitchFamily="34" charset="-120"/>
              </a:rPr>
              <a:t>Class-specific lateral clearance. </a:t>
            </a:r>
            <a:pPr indent="0" marL="0">
              <a:lnSpc>
                <a:spcPct val="108000"/>
              </a:lnSpc>
              <a:spcAft>
                <a:spcPts val="900"/>
              </a:spcAft>
              <a:buNone/>
            </a:pPr>
            <a:r>
              <a:rPr lang="en-US" sz="1200" dirty="0">
                <a:solidFill>
                  <a:srgbClr val="1A1D23"/>
                </a:solidFill>
                <a:latin typeface="Arial" pitchFamily="34" charset="0"/>
                <a:ea typeface="Arial" pitchFamily="34" charset="-122"/>
                <a:cs typeface="Arial" pitchFamily="34" charset="-120"/>
              </a:rPr>
              <a:t>A two-wheeler will pass a bus with 0.4 m. A car will not.</a:t>
            </a:r>
            <a:endParaRPr lang="en-US" sz="1200" dirty="0"/>
          </a:p>
          <a:p>
            <a:pPr marL="342900" indent="-342900">
              <a:lnSpc>
                <a:spcPct val="108000"/>
              </a:lnSpc>
              <a:buSzPct val="100000"/>
              <a:buChar char="•"/>
            </a:pPr>
            <a:r>
              <a:rPr lang="en-US" sz="1200" b="1" dirty="0">
                <a:solidFill>
                  <a:srgbClr val="12151B"/>
                </a:solidFill>
                <a:latin typeface="Arial" pitchFamily="34" charset="0"/>
                <a:ea typeface="Arial" pitchFamily="34" charset="-122"/>
                <a:cs typeface="Arial" pitchFamily="34" charset="-120"/>
              </a:rPr>
              <a:t>Gap seeking. </a:t>
            </a:r>
            <a:pPr indent="0" marL="0">
              <a:lnSpc>
                <a:spcPct val="108000"/>
              </a:lnSpc>
              <a:spcAft>
                <a:spcPts val="900"/>
              </a:spcAft>
              <a:buNone/>
            </a:pPr>
            <a:r>
              <a:rPr lang="en-US" sz="1200" dirty="0">
                <a:solidFill>
                  <a:srgbClr val="1A1D23"/>
                </a:solidFill>
                <a:latin typeface="Arial" pitchFamily="34" charset="0"/>
                <a:ea typeface="Arial" pitchFamily="34" charset="-122"/>
                <a:cs typeface="Arial" pitchFamily="34" charset="-120"/>
              </a:rPr>
              <a:t>Riders actively hunt for gaps rather than queueing — which is why our market and bus-stop scenarios are hard.</a:t>
            </a:r>
            <a:endParaRPr lang="en-US" sz="1200" dirty="0"/>
          </a:p>
          <a:p>
            <a:pPr marL="342900" indent="-342900">
              <a:lnSpc>
                <a:spcPct val="108000"/>
              </a:lnSpc>
              <a:buSzPct val="100000"/>
              <a:buChar char="•"/>
            </a:pPr>
            <a:r>
              <a:rPr lang="en-US" sz="1200" b="1" dirty="0">
                <a:solidFill>
                  <a:srgbClr val="12151B"/>
                </a:solidFill>
                <a:latin typeface="Arial" pitchFamily="34" charset="0"/>
                <a:ea typeface="Arial" pitchFamily="34" charset="-122"/>
                <a:cs typeface="Arial" pitchFamily="34" charset="-120"/>
              </a:rPr>
              <a:t>Twelve road-user classes, </a:t>
            </a:r>
            <a:pPr indent="0" marL="0">
              <a:lnSpc>
                <a:spcPct val="108000"/>
              </a:lnSpc>
              <a:spcAft>
                <a:spcPts val="900"/>
              </a:spcAft>
              <a:buNone/>
            </a:pPr>
            <a:r>
              <a:rPr lang="en-US" sz="1200" dirty="0">
                <a:solidFill>
                  <a:srgbClr val="1A1D23"/>
                </a:solidFill>
                <a:latin typeface="Arial" pitchFamily="34" charset="0"/>
                <a:ea typeface="Arial" pitchFamily="34" charset="-122"/>
                <a:cs typeface="Arial" pitchFamily="34" charset="-120"/>
              </a:rPr>
              <a:t>car, bus, truck, auto-rickshaw, two-wheeler, bicycle, pedestrian, pushcart, cattle, stray dog, barricade, parked vehicle.</a:t>
            </a:r>
            <a:endParaRPr lang="en-US" sz="1200" dirty="0"/>
          </a:p>
          <a:p>
            <a:pPr marL="342900" indent="-342900">
              <a:lnSpc>
                <a:spcPct val="108000"/>
              </a:lnSpc>
              <a:buSzPct val="100000"/>
              <a:buChar char="•"/>
            </a:pPr>
            <a:r>
              <a:rPr lang="en-US" sz="1200" b="1" dirty="0">
                <a:solidFill>
                  <a:srgbClr val="12151B"/>
                </a:solidFill>
                <a:latin typeface="Arial" pitchFamily="34" charset="0"/>
                <a:ea typeface="Arial" pitchFamily="34" charset="-122"/>
                <a:cs typeface="Arial" pitchFamily="34" charset="-120"/>
              </a:rPr>
              <a:t>Wrong-way riders are a policy, not a script. </a:t>
            </a:r>
            <a:pPr indent="0" marL="0">
              <a:lnSpc>
                <a:spcPct val="108000"/>
              </a:lnSpc>
              <a:spcAft>
                <a:spcPts val="900"/>
              </a:spcAft>
              <a:buNone/>
            </a:pPr>
            <a:r>
              <a:rPr lang="en-US" sz="1200" dirty="0">
                <a:solidFill>
                  <a:srgbClr val="1A1D23"/>
                </a:solidFill>
                <a:latin typeface="Arial" pitchFamily="34" charset="0"/>
                <a:ea typeface="Arial" pitchFamily="34" charset="-122"/>
                <a:cs typeface="Arial" pitchFamily="34" charset="-120"/>
              </a:rPr>
              <a:t>They hug the verge, crawl, and seek gaps against the flow — and they do not politely turn around when we approach.</a:t>
            </a:r>
            <a:endParaRPr lang="en-US" sz="1200" dirty="0"/>
          </a:p>
        </p:txBody>
      </p:sp>
      <p:sp>
        <p:nvSpPr>
          <p:cNvPr id="7" name="Shape 5"/>
          <p:cNvSpPr/>
          <p:nvPr/>
        </p:nvSpPr>
        <p:spPr>
          <a:xfrm>
            <a:off x="7086600" y="1417320"/>
            <a:ext cx="4599432" cy="2148840"/>
          </a:xfrm>
          <a:prstGeom prst="roundRect">
            <a:avLst>
              <a:gd name="adj" fmla="val 2553"/>
            </a:avLst>
          </a:prstGeom>
          <a:solidFill>
            <a:srgbClr val="12151B"/>
          </a:solidFill>
          <a:ln w="12700">
            <a:solidFill>
              <a:srgbClr val="12151B"/>
            </a:solidFill>
            <a:prstDash val="solid"/>
          </a:ln>
        </p:spPr>
      </p:sp>
      <p:sp>
        <p:nvSpPr>
          <p:cNvPr id="8" name="Text 6"/>
          <p:cNvSpPr txBox="1"/>
          <p:nvPr/>
        </p:nvSpPr>
        <p:spPr>
          <a:xfrm>
            <a:off x="7251192" y="1536192"/>
            <a:ext cx="4270248" cy="191109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E8A33D"/>
                </a:solidFill>
                <a:latin typeface="Arial" pitchFamily="34" charset="0"/>
                <a:ea typeface="Arial" pitchFamily="34" charset="-122"/>
                <a:cs typeface="Arial" pitchFamily="34" charset="-120"/>
              </a:rPr>
              <a:t>Why this matters for marks</a:t>
            </a:r>
            <a:endParaRPr lang="en-US" sz="1300" dirty="0"/>
          </a:p>
          <a:p>
            <a:pPr indent="0" marL="0">
              <a:lnSpc>
                <a:spcPct val="106000"/>
              </a:lnSpc>
              <a:spcAft>
                <a:spcPts val="400"/>
              </a:spcAft>
              <a:buNone/>
            </a:pPr>
            <a:r>
              <a:rPr lang="en-US" sz="1150" dirty="0">
                <a:solidFill>
                  <a:srgbClr val="E6E8EC"/>
                </a:solidFill>
                <a:latin typeface="Arial" pitchFamily="34" charset="0"/>
                <a:ea typeface="Arial" pitchFamily="34" charset="-122"/>
                <a:cs typeface="Arial" pitchFamily="34" charset="-120"/>
              </a:rPr>
              <a:t>If our traffic were polite, our planner would look brilliant and mean nothing. The scenarios are adversarial on purpose, and we should invite the judge to make them worse.</a:t>
            </a:r>
            <a:endParaRPr lang="en-US" sz="1300" dirty="0"/>
          </a:p>
        </p:txBody>
      </p:sp>
      <p:pic>
        <p:nvPicPr>
          <p:cNvPr id="9" name="Image 0" descr="/home/user/automated-driving/artifacts/fig-cow.png">    </p:cNvPr>
          <p:cNvPicPr>
            <a:picLocks noChangeAspect="1"/>
          </p:cNvPicPr>
          <p:nvPr/>
        </p:nvPicPr>
        <p:blipFill>
          <a:blip r:embed="rId1"/>
          <a:stretch>
            <a:fillRect/>
          </a:stretch>
        </p:blipFill>
        <p:spPr>
          <a:xfrm>
            <a:off x="7086600" y="3794760"/>
            <a:ext cx="4599432" cy="2874645"/>
          </a:xfrm>
          <a:prstGeom prst="rect">
            <a:avLst/>
          </a:prstGeom>
        </p:spPr>
      </p:pic>
      <p:sp>
        <p:nvSpPr>
          <p:cNvPr id="10" name="Text 7"/>
          <p:cNvSpPr txBox="1"/>
          <p:nvPr/>
        </p:nvSpPr>
        <p:spPr>
          <a:xfrm>
            <a:off x="7086600" y="6446520"/>
            <a:ext cx="4599432" cy="292608"/>
          </a:xfrm>
          <a:prstGeom prst="rect">
            <a:avLst/>
          </a:prstGeom>
          <a:noFill/>
          <a:ln/>
        </p:spPr>
        <p:txBody>
          <a:bodyPr wrap="square" lIns="0" tIns="0" rIns="0" bIns="0" rtlCol="0" anchor="ctr"/>
          <a:lstStyle/>
          <a:p>
            <a:pPr indent="0" marL="0">
              <a:buNone/>
            </a:pPr>
            <a:r>
              <a:rPr lang="en-US" sz="950" i="1" dirty="0">
                <a:solidFill>
                  <a:srgbClr val="6B7280"/>
                </a:solidFill>
                <a:latin typeface="Arial" pitchFamily="34" charset="0"/>
                <a:ea typeface="Arial" pitchFamily="34" charset="-122"/>
                <a:cs typeface="Arial" pitchFamily="34" charset="-120"/>
              </a:rPr>
              <a:t>Cattle: high variance, low speed, no compliance.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502920" y="2377440"/>
            <a:ext cx="5486400" cy="548640"/>
          </a:xfrm>
          <a:prstGeom prst="rect">
            <a:avLst/>
          </a:prstGeom>
          <a:noFill/>
          <a:ln/>
        </p:spPr>
        <p:txBody>
          <a:bodyPr wrap="square" lIns="0" tIns="0" rIns="0" bIns="0" rtlCol="0" anchor="ctr"/>
          <a:lstStyle/>
          <a:p>
            <a:pPr indent="0" marL="0">
              <a:buNone/>
            </a:pPr>
            <a:r>
              <a:rPr lang="en-US" sz="1500" spc="300" kern="0" dirty="0">
                <a:solidFill>
                  <a:srgbClr val="E8A33D"/>
                </a:solidFill>
                <a:latin typeface="Arial" pitchFamily="34" charset="0"/>
                <a:ea typeface="Arial" pitchFamily="34" charset="-122"/>
                <a:cs typeface="Arial" pitchFamily="34" charset="-120"/>
              </a:rPr>
              <a:t>Part 2</a:t>
            </a:r>
            <a:endParaRPr lang="en-US" sz="1500" dirty="0"/>
          </a:p>
        </p:txBody>
      </p:sp>
      <p:sp>
        <p:nvSpPr>
          <p:cNvPr id="3" name="Text 1"/>
          <p:cNvSpPr txBox="1"/>
          <p:nvPr/>
        </p:nvSpPr>
        <p:spPr>
          <a:xfrm>
            <a:off x="502920" y="283464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Running it in front of a judge</a:t>
            </a:r>
            <a:endParaRPr lang="en-US" sz="4400" dirty="0"/>
          </a:p>
        </p:txBody>
      </p:sp>
      <p:sp>
        <p:nvSpPr>
          <p:cNvPr id="4" name="Text 2"/>
          <p:cNvSpPr txBox="1"/>
          <p:nvPr/>
        </p:nvSpPr>
        <p:spPr>
          <a:xfrm>
            <a:off x="502920" y="3840480"/>
            <a:ext cx="8686800" cy="457200"/>
          </a:xfrm>
          <a:prstGeom prst="rect">
            <a:avLst/>
          </a:prstGeom>
          <a:noFill/>
          <a:ln/>
        </p:spPr>
        <p:txBody>
          <a:bodyPr wrap="square" lIns="0" tIns="0" rIns="0" bIns="0" rtlCol="0" anchor="ctr"/>
          <a:lstStyle/>
          <a:p>
            <a:pPr indent="0" marL="0">
              <a:buNone/>
            </a:pPr>
            <a:r>
              <a:rPr lang="en-US" sz="1300" dirty="0">
                <a:solidFill>
                  <a:srgbClr val="AEB4BF"/>
                </a:solidFill>
                <a:latin typeface="Arial" pitchFamily="34" charset="0"/>
                <a:ea typeface="Arial" pitchFamily="34" charset="-122"/>
                <a:cs typeface="Arial" pitchFamily="34" charset="-120"/>
              </a:rPr>
              <a:t>The demo is the argument. Everything else is supporting evidence.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14</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The scenario library — what each one proves</a:t>
            </a:r>
            <a:endParaRPr lang="en-US" sz="2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2103120"/>
                <a:gridCol w="777240"/>
                <a:gridCol w="3794760"/>
                <a:gridCol w="1463040"/>
              </a:tblGrid>
              <a:tr h="384048">
                <a:tc>
                  <a:txBody>
                    <a:bodyPr/>
                    <a:lstStyle/>
                    <a:p>
                      <a:pPr indent="0" marL="0">
                        <a:buNone/>
                      </a:pPr>
                      <a:r>
                        <a:rPr lang="en-US" sz="1050" b="1" dirty="0">
                          <a:solidFill>
                            <a:srgbClr val="FFFFFF"/>
                          </a:solidFill>
                          <a:latin typeface="Arial" pitchFamily="34" charset="0"/>
                          <a:ea typeface="Arial" pitchFamily="34" charset="-122"/>
                          <a:cs typeface="Arial" pitchFamily="34" charset="-120"/>
                        </a:rPr>
                        <a:t>Scenario</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12151B"/>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Origin</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12151B"/>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What it is there to prove</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12151B"/>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Progress · clean</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12151B"/>
                    </a:solidFill>
                  </a:tcPr>
                </a:tc>
              </a:tr>
              <a:tr h="384048">
                <a:tc>
                  <a:txBody>
                    <a:bodyPr/>
                    <a:lstStyle/>
                    <a:p>
                      <a:pPr indent="0" marL="0">
                        <a:buNone/>
                      </a:pPr>
                      <a:r>
                        <a:rPr lang="en-US" sz="1050" b="1" dirty="0">
                          <a:solidFill>
                            <a:srgbClr val="12151B"/>
                          </a:solidFill>
                          <a:latin typeface="Arial" pitchFamily="34" charset="0"/>
                          <a:ea typeface="Arial" pitchFamily="34" charset="-122"/>
                          <a:cs typeface="Arial" pitchFamily="34" charset="-120"/>
                        </a:rPr>
                        <a:t>Village road, unmarked</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required</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No markings at all; narrow, two-way</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48%  ·  2/3</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2151B"/>
                          </a:solidFill>
                          <a:latin typeface="Arial" pitchFamily="34" charset="0"/>
                          <a:ea typeface="Arial" pitchFamily="34" charset="-122"/>
                          <a:cs typeface="Arial" pitchFamily="34" charset="-120"/>
                        </a:rPr>
                        <a:t>Cattle crossing</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required</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Sudden high-variance hazard at speed</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50%  ·  3/3</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r>
              <a:tr h="384048">
                <a:tc>
                  <a:txBody>
                    <a:bodyPr/>
                    <a:lstStyle/>
                    <a:p>
                      <a:pPr indent="0" marL="0">
                        <a:buNone/>
                      </a:pPr>
                      <a:r>
                        <a:rPr lang="en-US" sz="1050" b="1" dirty="0">
                          <a:solidFill>
                            <a:srgbClr val="12151B"/>
                          </a:solidFill>
                          <a:latin typeface="Arial" pitchFamily="34" charset="0"/>
                          <a:ea typeface="Arial" pitchFamily="34" charset="-122"/>
                          <a:cs typeface="Arial" pitchFamily="34" charset="-120"/>
                        </a:rPr>
                        <a:t>Dense market</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required</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Encroachment, pedestrians, walking pace</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22%  ·  3/3</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2151B"/>
                          </a:solidFill>
                          <a:latin typeface="Arial" pitchFamily="34" charset="0"/>
                          <a:ea typeface="Arial" pitchFamily="34" charset="-122"/>
                          <a:cs typeface="Arial" pitchFamily="34" charset="-120"/>
                        </a:rPr>
                        <a:t>Highway merge</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required</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Large speed differential</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40%  ·  3/3</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r>
              <a:tr h="384048">
                <a:tc>
                  <a:txBody>
                    <a:bodyPr/>
                    <a:lstStyle/>
                    <a:p>
                      <a:pPr indent="0" marL="0">
                        <a:buNone/>
                      </a:pPr>
                      <a:r>
                        <a:rPr lang="en-US" sz="1050" b="1" dirty="0">
                          <a:solidFill>
                            <a:srgbClr val="12151B"/>
                          </a:solidFill>
                          <a:latin typeface="Arial" pitchFamily="34" charset="0"/>
                          <a:ea typeface="Arial" pitchFamily="34" charset="-122"/>
                          <a:cs typeface="Arial" pitchFamily="34" charset="-120"/>
                        </a:rPr>
                        <a:t>Unsignalled junction</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required</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Negotiation with no right of way</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48%  ·  1/3</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2151B"/>
                          </a:solidFill>
                          <a:latin typeface="Arial" pitchFamily="34" charset="0"/>
                          <a:ea typeface="Arial" pitchFamily="34" charset="-122"/>
                          <a:cs typeface="Arial" pitchFamily="34" charset="-120"/>
                        </a:rPr>
                        <a:t>Narrow bridge, oncoming</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ours</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Committed oncoming bus, no room for both</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61%  ·  3/3</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r>
              <a:tr h="384048">
                <a:tc>
                  <a:txBody>
                    <a:bodyPr/>
                    <a:lstStyle/>
                    <a:p>
                      <a:pPr indent="0" marL="0">
                        <a:buNone/>
                      </a:pPr>
                      <a:r>
                        <a:rPr lang="en-US" sz="1050" b="1" dirty="0">
                          <a:solidFill>
                            <a:srgbClr val="12151B"/>
                          </a:solidFill>
                          <a:latin typeface="Arial" pitchFamily="34" charset="0"/>
                          <a:ea typeface="Arial" pitchFamily="34" charset="-122"/>
                          <a:cs typeface="Arial" pitchFamily="34" charset="-120"/>
                        </a:rPr>
                        <a:t>Bus stop overtake</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ours</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Overtaking into oncoming traffic</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35%  ·  3/3</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2151B"/>
                          </a:solidFill>
                          <a:latin typeface="Arial" pitchFamily="34" charset="0"/>
                          <a:ea typeface="Arial" pitchFamily="34" charset="-122"/>
                          <a:cs typeface="Arial" pitchFamily="34" charset="-120"/>
                        </a:rPr>
                        <a:t>Night, wrong-way rider</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ours</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Degraded sensing plus a head-on rider</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40%  ·  1/3</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r>
              <a:tr h="384048">
                <a:tc>
                  <a:txBody>
                    <a:bodyPr/>
                    <a:lstStyle/>
                    <a:p>
                      <a:pPr indent="0" marL="0">
                        <a:buNone/>
                      </a:pPr>
                      <a:r>
                        <a:rPr lang="en-US" sz="1050" b="1" dirty="0">
                          <a:solidFill>
                            <a:srgbClr val="12151B"/>
                          </a:solidFill>
                          <a:latin typeface="Arial" pitchFamily="34" charset="0"/>
                          <a:ea typeface="Arial" pitchFamily="34" charset="-122"/>
                          <a:cs typeface="Arial" pitchFamily="34" charset="-120"/>
                        </a:rPr>
                        <a:t>Construction diversion</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ours</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Barricade slalom, corridor bent hard</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27%  ·  3/3</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2151B"/>
                          </a:solidFill>
                          <a:latin typeface="Arial" pitchFamily="34" charset="0"/>
                          <a:ea typeface="Arial" pitchFamily="34" charset="-122"/>
                          <a:cs typeface="Arial" pitchFamily="34" charset="-120"/>
                        </a:rPr>
                        <a:t>School zone</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ours</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Restraint: many VRUs, low speed, no heroics</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62%  ·  3/3</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r>
            </a:tbl>
          </a:graphicData>
        </a:graphic>
      </p:graphicFrame>
      <p:sp>
        <p:nvSpPr>
          <p:cNvPr id="6" name="Text 3"/>
          <p:cNvSpPr txBox="1"/>
          <p:nvPr/>
        </p:nvSpPr>
        <p:spPr>
          <a:xfrm>
            <a:off x="502920" y="5760720"/>
            <a:ext cx="8138160" cy="292608"/>
          </a:xfrm>
          <a:prstGeom prst="rect">
            <a:avLst/>
          </a:prstGeom>
          <a:noFill/>
          <a:ln/>
        </p:spPr>
        <p:txBody>
          <a:bodyPr wrap="square" lIns="0" tIns="0" rIns="0" bIns="0" rtlCol="0" anchor="ctr"/>
          <a:lstStyle/>
          <a:p>
            <a:pPr indent="0" marL="0">
              <a:buNone/>
            </a:pPr>
            <a:r>
              <a:rPr lang="en-US" sz="950" i="1" dirty="0">
                <a:solidFill>
                  <a:srgbClr val="6B7280"/>
                </a:solidFill>
                <a:latin typeface="Arial" pitchFamily="34" charset="0"/>
                <a:ea typeface="Arial" pitchFamily="34" charset="-122"/>
                <a:cs typeface="Arial" pitchFamily="34" charset="-120"/>
              </a:rPr>
              <a:t>Mean route progress and collision-free runs out of 3, from the same campaign as slide 17.</a:t>
            </a:r>
            <a:endParaRPr lang="en-US" sz="950" dirty="0"/>
          </a:p>
        </p:txBody>
      </p:sp>
      <p:sp>
        <p:nvSpPr>
          <p:cNvPr id="7" name="Shape 4"/>
          <p:cNvSpPr/>
          <p:nvPr/>
        </p:nvSpPr>
        <p:spPr>
          <a:xfrm>
            <a:off x="8869680" y="1371600"/>
            <a:ext cx="2816352" cy="2377440"/>
          </a:xfrm>
          <a:prstGeom prst="roundRect">
            <a:avLst>
              <a:gd name="adj" fmla="val 2308"/>
            </a:avLst>
          </a:prstGeom>
          <a:solidFill>
            <a:srgbClr val="F2F4F7"/>
          </a:solidFill>
          <a:ln w="12700">
            <a:solidFill>
              <a:srgbClr val="F2F4F7"/>
            </a:solidFill>
            <a:prstDash val="solid"/>
          </a:ln>
        </p:spPr>
      </p:sp>
      <p:sp>
        <p:nvSpPr>
          <p:cNvPr id="8" name="Text 5"/>
          <p:cNvSpPr txBox="1"/>
          <p:nvPr/>
        </p:nvSpPr>
        <p:spPr>
          <a:xfrm>
            <a:off x="9034272" y="1490472"/>
            <a:ext cx="2487168" cy="213969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12151B"/>
                </a:solidFill>
                <a:latin typeface="Arial" pitchFamily="34" charset="0"/>
                <a:ea typeface="Arial" pitchFamily="34" charset="-122"/>
                <a:cs typeface="Arial" pitchFamily="34" charset="-120"/>
              </a:rPr>
              <a:t>Five of these are ours, not theirs</a:t>
            </a:r>
            <a:endParaRPr lang="en-US" sz="1300" dirty="0"/>
          </a:p>
          <a:p>
            <a:pPr indent="0" marL="0">
              <a:lnSpc>
                <a:spcPct val="106000"/>
              </a:lnSpc>
              <a:spcAft>
                <a:spcPts val="400"/>
              </a:spcAft>
              <a:buNone/>
            </a:pPr>
            <a:r>
              <a:rPr lang="en-US" sz="1150" dirty="0">
                <a:solidFill>
                  <a:srgbClr val="1A1D23"/>
                </a:solidFill>
                <a:latin typeface="Arial" pitchFamily="34" charset="0"/>
                <a:ea typeface="Arial" pitchFamily="34" charset="-122"/>
                <a:cs typeface="Arial" pitchFamily="34" charset="-120"/>
              </a:rPr>
              <a:t>The problem statement names five situations. We added five harder ones and report them the same way. Volunteering a scenario you do not always win is worth more than a clean sweep of easy ones.</a:t>
            </a:r>
            <a:endParaRPr lang="en-US" sz="1300" dirty="0"/>
          </a:p>
        </p:txBody>
      </p:sp>
      <p:sp>
        <p:nvSpPr>
          <p:cNvPr id="9" name="Shape 6"/>
          <p:cNvSpPr/>
          <p:nvPr/>
        </p:nvSpPr>
        <p:spPr>
          <a:xfrm>
            <a:off x="8869680" y="3931920"/>
            <a:ext cx="2816352" cy="2194560"/>
          </a:xfrm>
          <a:prstGeom prst="roundRect">
            <a:avLst>
              <a:gd name="adj" fmla="val 2500"/>
            </a:avLst>
          </a:prstGeom>
          <a:solidFill>
            <a:srgbClr val="12151B"/>
          </a:solidFill>
          <a:ln w="12700">
            <a:solidFill>
              <a:srgbClr val="12151B"/>
            </a:solidFill>
            <a:prstDash val="solid"/>
          </a:ln>
        </p:spPr>
      </p:sp>
      <p:sp>
        <p:nvSpPr>
          <p:cNvPr id="10" name="Text 7"/>
          <p:cNvSpPr txBox="1"/>
          <p:nvPr/>
        </p:nvSpPr>
        <p:spPr>
          <a:xfrm>
            <a:off x="9034272" y="4050792"/>
            <a:ext cx="2487168" cy="195681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E8A33D"/>
                </a:solidFill>
                <a:latin typeface="Arial" pitchFamily="34" charset="0"/>
                <a:ea typeface="Arial" pitchFamily="34" charset="-122"/>
                <a:cs typeface="Arial" pitchFamily="34" charset="-120"/>
              </a:rPr>
              <a:t>One scenario file, two runtimes</a:t>
            </a:r>
            <a:endParaRPr lang="en-US" sz="1300" dirty="0"/>
          </a:p>
          <a:p>
            <a:pPr indent="0" marL="0">
              <a:lnSpc>
                <a:spcPct val="106000"/>
              </a:lnSpc>
              <a:spcAft>
                <a:spcPts val="400"/>
              </a:spcAft>
              <a:buNone/>
            </a:pPr>
            <a:r>
              <a:rPr lang="en-US" sz="1150" dirty="0">
                <a:solidFill>
                  <a:srgbClr val="E6E8EC"/>
                </a:solidFill>
                <a:latin typeface="Arial" pitchFamily="34" charset="0"/>
                <a:ea typeface="Arial" pitchFamily="34" charset="-122"/>
                <a:cs typeface="Arial" pitchFamily="34" charset="-120"/>
              </a:rPr>
              <a:t>The same YAML drives the Python stack and the MATLAB/Simulink port. When a judge asks whether the MATLAB side is real, that is the answer: it runs the same scenario definitions, not a re-implementation.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15</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Mission Control, part by part</a:t>
            </a:r>
            <a:endParaRPr lang="en-US" sz="2700" dirty="0"/>
          </a:p>
        </p:txBody>
      </p:sp>
      <p:sp>
        <p:nvSpPr>
          <p:cNvPr id="5" name="Text 3"/>
          <p:cNvSpPr txBox="1"/>
          <p:nvPr/>
        </p:nvSpPr>
        <p:spPr>
          <a:xfrm>
            <a:off x="1069848" y="868680"/>
            <a:ext cx="10616184"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Know every panel. A judge will point at one and ask.</a:t>
            </a:r>
            <a:endParaRPr lang="en-US" sz="1300" dirty="0"/>
          </a:p>
        </p:txBody>
      </p:sp>
      <p:pic>
        <p:nvPicPr>
          <p:cNvPr id="6" name="Image 0" descr="/home/user/automated-driving/artifacts/fig-console.png">    </p:cNvPr>
          <p:cNvPicPr>
            <a:picLocks noChangeAspect="1"/>
          </p:cNvPicPr>
          <p:nvPr/>
        </p:nvPicPr>
        <p:blipFill>
          <a:blip r:embed="rId1"/>
          <a:stretch>
            <a:fillRect/>
          </a:stretch>
        </p:blipFill>
        <p:spPr>
          <a:xfrm>
            <a:off x="502920" y="1325880"/>
            <a:ext cx="7223760" cy="4289644"/>
          </a:xfrm>
          <a:prstGeom prst="rect">
            <a:avLst/>
          </a:prstGeom>
        </p:spPr>
      </p:pic>
      <p:sp>
        <p:nvSpPr>
          <p:cNvPr id="7" name="Text 4"/>
          <p:cNvSpPr txBox="1"/>
          <p:nvPr/>
        </p:nvSpPr>
        <p:spPr>
          <a:xfrm>
            <a:off x="7955280" y="1371600"/>
            <a:ext cx="3749040" cy="2926080"/>
          </a:xfrm>
          <a:prstGeom prst="rect">
            <a:avLst/>
          </a:prstGeom>
          <a:noFill/>
          <a:ln/>
        </p:spPr>
        <p:txBody>
          <a:bodyPr wrap="square" lIns="0" tIns="0" rIns="0" bIns="0" rtlCol="0" anchor="t"/>
          <a:lstStyle/>
          <a:p>
            <a:pPr marL="342900" indent="-342900">
              <a:lnSpc>
                <a:spcPct val="108000"/>
              </a:lnSpc>
              <a:buSzPct val="100000"/>
              <a:buChar char="•"/>
            </a:pPr>
            <a:r>
              <a:rPr lang="en-US" sz="1100" b="1" dirty="0">
                <a:solidFill>
                  <a:srgbClr val="12151B"/>
                </a:solidFill>
                <a:latin typeface="Arial" pitchFamily="34" charset="0"/>
                <a:ea typeface="Arial" pitchFamily="34" charset="-122"/>
                <a:cs typeface="Arial" pitchFamily="34" charset="-120"/>
              </a:rPr>
              <a:t>Behaviour card </a:t>
            </a:r>
            <a:pPr indent="0" marL="0">
              <a:lnSpc>
                <a:spcPct val="108000"/>
              </a:lnSpc>
              <a:spcAft>
                <a:spcPts val="800"/>
              </a:spcAft>
              <a:buNone/>
            </a:pPr>
            <a:r>
              <a:rPr lang="en-US" sz="1100" dirty="0">
                <a:solidFill>
                  <a:srgbClr val="1A1D23"/>
                </a:solidFill>
                <a:latin typeface="Arial" pitchFamily="34" charset="0"/>
                <a:ea typeface="Arial" pitchFamily="34" charset="-122"/>
                <a:cs typeface="Arial" pitchFamily="34" charset="-120"/>
              </a:rPr>
              <a:t>which of the eight states we are in, and the reason for it</a:t>
            </a:r>
            <a:endParaRPr lang="en-US" sz="1100" dirty="0"/>
          </a:p>
          <a:p>
            <a:pPr marL="342900" indent="-342900">
              <a:lnSpc>
                <a:spcPct val="108000"/>
              </a:lnSpc>
              <a:buSzPct val="100000"/>
              <a:buChar char="•"/>
            </a:pPr>
            <a:r>
              <a:rPr lang="en-US" sz="1100" b="1" dirty="0">
                <a:solidFill>
                  <a:srgbClr val="12151B"/>
                </a:solidFill>
                <a:latin typeface="Arial" pitchFamily="34" charset="0"/>
                <a:ea typeface="Arial" pitchFamily="34" charset="-122"/>
                <a:cs typeface="Arial" pitchFamily="34" charset="-120"/>
              </a:rPr>
              <a:t>Telemetry </a:t>
            </a:r>
            <a:pPr indent="0" marL="0">
              <a:lnSpc>
                <a:spcPct val="108000"/>
              </a:lnSpc>
              <a:spcAft>
                <a:spcPts val="800"/>
              </a:spcAft>
              <a:buNone/>
            </a:pPr>
            <a:r>
              <a:rPr lang="en-US" sz="1100" dirty="0">
                <a:solidFill>
                  <a:srgbClr val="1A1D23"/>
                </a:solidFill>
                <a:latin typeface="Arial" pitchFamily="34" charset="0"/>
                <a:ea typeface="Arial" pitchFamily="34" charset="-122"/>
                <a:cs typeface="Arial" pitchFamily="34" charset="-120"/>
              </a:rPr>
              <a:t>speed, target, min TTC, path clearance, replan time, plan risk</a:t>
            </a:r>
            <a:endParaRPr lang="en-US" sz="1100" dirty="0"/>
          </a:p>
          <a:p>
            <a:pPr marL="342900" indent="-342900">
              <a:lnSpc>
                <a:spcPct val="108000"/>
              </a:lnSpc>
              <a:buSzPct val="100000"/>
              <a:buChar char="•"/>
            </a:pPr>
            <a:r>
              <a:rPr lang="en-US" sz="1100" b="1" dirty="0">
                <a:solidFill>
                  <a:srgbClr val="12151B"/>
                </a:solidFill>
                <a:latin typeface="Arial" pitchFamily="34" charset="0"/>
                <a:ea typeface="Arial" pitchFamily="34" charset="-122"/>
                <a:cs typeface="Arial" pitchFamily="34" charset="-120"/>
              </a:rPr>
              <a:t>Drop a road user </a:t>
            </a:r>
            <a:pPr indent="0" marL="0">
              <a:lnSpc>
                <a:spcPct val="108000"/>
              </a:lnSpc>
              <a:spcAft>
                <a:spcPts val="800"/>
              </a:spcAft>
              <a:buNone/>
            </a:pPr>
            <a:r>
              <a:rPr lang="en-US" sz="1100" dirty="0">
                <a:solidFill>
                  <a:srgbClr val="1A1D23"/>
                </a:solidFill>
                <a:latin typeface="Arial" pitchFamily="34" charset="0"/>
                <a:ea typeface="Arial" pitchFamily="34" charset="-122"/>
                <a:cs typeface="Arial" pitchFamily="34" charset="-120"/>
              </a:rPr>
              <a:t>click to place, drag to move, shift-click to remove — live</a:t>
            </a:r>
            <a:endParaRPr lang="en-US" sz="1100" dirty="0"/>
          </a:p>
          <a:p>
            <a:pPr marL="342900" indent="-342900">
              <a:lnSpc>
                <a:spcPct val="108000"/>
              </a:lnSpc>
              <a:buSzPct val="100000"/>
              <a:buChar char="•"/>
            </a:pPr>
            <a:r>
              <a:rPr lang="en-US" sz="1100" b="1" dirty="0">
                <a:solidFill>
                  <a:srgbClr val="12151B"/>
                </a:solidFill>
                <a:latin typeface="Arial" pitchFamily="34" charset="0"/>
                <a:ea typeface="Arial" pitchFamily="34" charset="-122"/>
                <a:cs typeface="Arial" pitchFamily="34" charset="-120"/>
              </a:rPr>
              <a:t>Thresholds </a:t>
            </a:r>
            <a:pPr indent="0" marL="0">
              <a:lnSpc>
                <a:spcPct val="108000"/>
              </a:lnSpc>
              <a:spcAft>
                <a:spcPts val="800"/>
              </a:spcAft>
              <a:buNone/>
            </a:pPr>
            <a:r>
              <a:rPr lang="en-US" sz="1100" dirty="0">
                <a:solidFill>
                  <a:srgbClr val="1A1D23"/>
                </a:solidFill>
                <a:latin typeface="Arial" pitchFamily="34" charset="0"/>
                <a:ea typeface="Arial" pitchFamily="34" charset="-122"/>
                <a:cs typeface="Arial" pitchFamily="34" charset="-120"/>
              </a:rPr>
              <a:t>every tunable in the system, changeable while it drives</a:t>
            </a:r>
            <a:endParaRPr lang="en-US" sz="1100" dirty="0"/>
          </a:p>
          <a:p>
            <a:pPr marL="342900" indent="-342900">
              <a:lnSpc>
                <a:spcPct val="108000"/>
              </a:lnSpc>
              <a:buSzPct val="100000"/>
              <a:buChar char="•"/>
            </a:pPr>
            <a:r>
              <a:rPr lang="en-US" sz="1100" b="1" dirty="0">
                <a:solidFill>
                  <a:srgbClr val="12151B"/>
                </a:solidFill>
                <a:latin typeface="Arial" pitchFamily="34" charset="0"/>
                <a:ea typeface="Arial" pitchFamily="34" charset="-122"/>
                <a:cs typeface="Arial" pitchFamily="34" charset="-120"/>
              </a:rPr>
              <a:t>Ablations </a:t>
            </a:r>
            <a:pPr indent="0" marL="0">
              <a:lnSpc>
                <a:spcPct val="108000"/>
              </a:lnSpc>
              <a:spcAft>
                <a:spcPts val="800"/>
              </a:spcAft>
              <a:buNone/>
            </a:pPr>
            <a:r>
              <a:rPr lang="en-US" sz="1100" dirty="0">
                <a:solidFill>
                  <a:srgbClr val="1A1D23"/>
                </a:solidFill>
                <a:latin typeface="Arial" pitchFamily="34" charset="0"/>
                <a:ea typeface="Arial" pitchFamily="34" charset="-122"/>
                <a:cs typeface="Arial" pitchFamily="34" charset="-120"/>
              </a:rPr>
              <a:t>switch off the risk field, the prediction or RSS and watch it degrade</a:t>
            </a:r>
            <a:endParaRPr lang="en-US" sz="1100" dirty="0"/>
          </a:p>
          <a:p>
            <a:pPr marL="342900" indent="-342900">
              <a:lnSpc>
                <a:spcPct val="108000"/>
              </a:lnSpc>
              <a:buSzPct val="100000"/>
              <a:buChar char="•"/>
            </a:pPr>
            <a:r>
              <a:rPr lang="en-US" sz="1100" b="1" dirty="0">
                <a:solidFill>
                  <a:srgbClr val="12151B"/>
                </a:solidFill>
                <a:latin typeface="Arial" pitchFamily="34" charset="0"/>
                <a:ea typeface="Arial" pitchFamily="34" charset="-122"/>
                <a:cs typeface="Arial" pitchFamily="34" charset="-120"/>
              </a:rPr>
              <a:t>Chips, bottom left </a:t>
            </a:r>
            <a:pPr indent="0" marL="0">
              <a:lnSpc>
                <a:spcPct val="108000"/>
              </a:lnSpc>
              <a:spcAft>
                <a:spcPts val="800"/>
              </a:spcAft>
              <a:buNone/>
            </a:pPr>
            <a:r>
              <a:rPr lang="en-US" sz="1100" dirty="0">
                <a:solidFill>
                  <a:srgbClr val="1A1D23"/>
                </a:solidFill>
                <a:latin typeface="Arial" pitchFamily="34" charset="0"/>
                <a:ea typeface="Arial" pitchFamily="34" charset="-122"/>
                <a:cs typeface="Arial" pitchFamily="34" charset="-120"/>
              </a:rPr>
              <a:t>tracked objects, feasible candidates, margin relief, safety cap</a:t>
            </a:r>
            <a:endParaRPr lang="en-US" sz="1100" dirty="0"/>
          </a:p>
        </p:txBody>
      </p:sp>
      <p:sp>
        <p:nvSpPr>
          <p:cNvPr id="8" name="Shape 5"/>
          <p:cNvSpPr/>
          <p:nvPr/>
        </p:nvSpPr>
        <p:spPr>
          <a:xfrm>
            <a:off x="7955280" y="4526280"/>
            <a:ext cx="3749040" cy="1354074"/>
          </a:xfrm>
          <a:prstGeom prst="roundRect">
            <a:avLst>
              <a:gd name="adj" fmla="val 4052"/>
            </a:avLst>
          </a:prstGeom>
          <a:solidFill>
            <a:srgbClr val="F2F4F7"/>
          </a:solidFill>
          <a:ln w="12700">
            <a:solidFill>
              <a:srgbClr val="F2F4F7"/>
            </a:solidFill>
            <a:prstDash val="solid"/>
          </a:ln>
        </p:spPr>
      </p:sp>
      <p:sp>
        <p:nvSpPr>
          <p:cNvPr id="9" name="Text 6"/>
          <p:cNvSpPr txBox="1"/>
          <p:nvPr/>
        </p:nvSpPr>
        <p:spPr>
          <a:xfrm>
            <a:off x="8119872" y="4645152"/>
            <a:ext cx="3419856" cy="1116330"/>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12151B"/>
                </a:solidFill>
                <a:latin typeface="Arial" pitchFamily="34" charset="0"/>
                <a:ea typeface="Arial" pitchFamily="34" charset="-122"/>
                <a:cs typeface="Arial" pitchFamily="34" charset="-120"/>
              </a:rPr>
              <a:t>Point at these, in this order</a:t>
            </a:r>
            <a:endParaRPr lang="en-US" sz="1300" dirty="0"/>
          </a:p>
          <a:p>
            <a:pPr indent="0" marL="0">
              <a:lnSpc>
                <a:spcPct val="106000"/>
              </a:lnSpc>
              <a:spcAft>
                <a:spcPts val="400"/>
              </a:spcAft>
              <a:buNone/>
            </a:pPr>
            <a:r>
              <a:rPr lang="en-US" sz="1100" dirty="0">
                <a:solidFill>
                  <a:srgbClr val="1A1D23"/>
                </a:solidFill>
                <a:latin typeface="Arial" pitchFamily="34" charset="0"/>
                <a:ea typeface="Arial" pitchFamily="34" charset="-122"/>
                <a:cs typeface="Arial" pitchFamily="34" charset="-120"/>
              </a:rPr>
              <a:t>The behaviour card, so they know the machine has states. Then path clearance, so they know it is measuring, not guessing. Then hand over the mouse before they ask whether any of it is real.</a:t>
            </a:r>
            <a:endParaRPr lang="en-US" sz="1300" dirty="0"/>
          </a:p>
        </p:txBody>
      </p:sp>
      <p:sp>
        <p:nvSpPr>
          <p:cNvPr id="10" name="Text 7"/>
          <p:cNvSpPr txBox="1"/>
          <p:nvPr/>
        </p:nvSpPr>
        <p:spPr>
          <a:xfrm>
            <a:off x="502920" y="5715000"/>
            <a:ext cx="7223760" cy="292608"/>
          </a:xfrm>
          <a:prstGeom prst="rect">
            <a:avLst/>
          </a:prstGeom>
          <a:noFill/>
          <a:ln/>
        </p:spPr>
        <p:txBody>
          <a:bodyPr wrap="square" lIns="0" tIns="0" rIns="0" bIns="0" rtlCol="0" anchor="ctr"/>
          <a:lstStyle/>
          <a:p>
            <a:pPr indent="0" marL="0">
              <a:buNone/>
            </a:pPr>
            <a:r>
              <a:rPr lang="en-US" sz="950" i="1" dirty="0">
                <a:solidFill>
                  <a:srgbClr val="6B7280"/>
                </a:solidFill>
                <a:latin typeface="Arial" pitchFamily="34" charset="0"/>
                <a:ea typeface="Arial" pitchFamily="34" charset="-122"/>
                <a:cs typeface="Arial" pitchFamily="34" charset="-120"/>
              </a:rPr>
              <a:t>The whole interface is one HTML file served by the same process that runs the simulation — nothing to install, nothing to build.</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16</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The demo runbook</a:t>
            </a:r>
            <a:endParaRPr lang="en-US" sz="2700" dirty="0"/>
          </a:p>
        </p:txBody>
      </p:sp>
      <p:sp>
        <p:nvSpPr>
          <p:cNvPr id="5" name="Text 3"/>
          <p:cNvSpPr txBox="1"/>
          <p:nvPr/>
        </p:nvSpPr>
        <p:spPr>
          <a:xfrm>
            <a:off x="1069848" y="868680"/>
            <a:ext cx="10616184"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Rehearse this until it is boring.</a:t>
            </a:r>
            <a:endParaRPr lang="en-US" sz="1300" dirty="0"/>
          </a:p>
        </p:txBody>
      </p:sp>
      <p:sp>
        <p:nvSpPr>
          <p:cNvPr id="6" name="Shape 4"/>
          <p:cNvSpPr/>
          <p:nvPr/>
        </p:nvSpPr>
        <p:spPr>
          <a:xfrm>
            <a:off x="502920" y="1389888"/>
            <a:ext cx="347472" cy="347472"/>
          </a:xfrm>
          <a:prstGeom prst="ellipse">
            <a:avLst/>
          </a:prstGeom>
          <a:solidFill>
            <a:srgbClr val="6B7280"/>
          </a:solidFill>
          <a:ln/>
        </p:spPr>
      </p:sp>
      <p:sp>
        <p:nvSpPr>
          <p:cNvPr id="7" name="Text 5"/>
          <p:cNvSpPr txBox="1"/>
          <p:nvPr/>
        </p:nvSpPr>
        <p:spPr>
          <a:xfrm>
            <a:off x="502920" y="13898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a:t>
            </a:r>
            <a:endParaRPr lang="en-US" sz="1200" dirty="0"/>
          </a:p>
        </p:txBody>
      </p:sp>
      <p:sp>
        <p:nvSpPr>
          <p:cNvPr id="8" name="Text 6"/>
          <p:cNvSpPr txBox="1"/>
          <p:nvPr/>
        </p:nvSpPr>
        <p:spPr>
          <a:xfrm>
            <a:off x="1005840" y="1371600"/>
            <a:ext cx="7040880" cy="713232"/>
          </a:xfrm>
          <a:prstGeom prst="rect">
            <a:avLst/>
          </a:prstGeom>
          <a:noFill/>
          <a:ln/>
        </p:spPr>
        <p:txBody>
          <a:bodyPr wrap="square" lIns="0" tIns="0" rIns="0" bIns="0" rtlCol="0" anchor="t"/>
          <a:lstStyle/>
          <a:p>
            <a:pPr indent="0" marL="0">
              <a:lnSpc>
                <a:spcPct val="105000"/>
              </a:lnSpc>
              <a:buNone/>
            </a:pPr>
            <a:r>
              <a:rPr lang="en-US" sz="1250" b="1" dirty="0">
                <a:solidFill>
                  <a:srgbClr val="12151B"/>
                </a:solidFill>
                <a:latin typeface="Arial" pitchFamily="34" charset="0"/>
                <a:ea typeface="Arial" pitchFamily="34" charset="-122"/>
                <a:cs typeface="Arial" pitchFamily="34" charset="-120"/>
              </a:rPr>
              <a:t>Before they arrive  </a:t>
            </a:r>
            <a:pPr indent="0" marL="0">
              <a:lnSpc>
                <a:spcPct val="105000"/>
              </a:lnSpc>
              <a:buNone/>
            </a:pPr>
            <a:r>
              <a:rPr lang="en-US" sz="1150" dirty="0">
                <a:solidFill>
                  <a:srgbClr val="1A1D23"/>
                </a:solidFill>
                <a:latin typeface="Arial" pitchFamily="34" charset="0"/>
                <a:ea typeface="Arial" pitchFamily="34" charset="-122"/>
                <a:cs typeface="Arial" pitchFamily="34" charset="-120"/>
              </a:rPr>
              <a:t>uv run sarathi serve. Check the browser is on the narrow bridge scenario, follow-cam on, 1× speed. Have a second terminal ready.</a:t>
            </a:r>
            <a:endParaRPr lang="en-US" sz="1250" dirty="0"/>
          </a:p>
        </p:txBody>
      </p:sp>
      <p:sp>
        <p:nvSpPr>
          <p:cNvPr id="9" name="Shape 7"/>
          <p:cNvSpPr/>
          <p:nvPr/>
        </p:nvSpPr>
        <p:spPr>
          <a:xfrm>
            <a:off x="502920" y="2112264"/>
            <a:ext cx="347472" cy="347472"/>
          </a:xfrm>
          <a:prstGeom prst="ellipse">
            <a:avLst/>
          </a:prstGeom>
          <a:solidFill>
            <a:srgbClr val="E8A33D"/>
          </a:solidFill>
          <a:ln/>
        </p:spPr>
      </p:sp>
      <p:sp>
        <p:nvSpPr>
          <p:cNvPr id="10" name="Text 8"/>
          <p:cNvSpPr txBox="1"/>
          <p:nvPr/>
        </p:nvSpPr>
        <p:spPr>
          <a:xfrm>
            <a:off x="502920" y="2112264"/>
            <a:ext cx="347472" cy="347472"/>
          </a:xfrm>
          <a:prstGeom prst="rect">
            <a:avLst/>
          </a:prstGeom>
          <a:noFill/>
          <a:ln/>
        </p:spPr>
        <p:txBody>
          <a:bodyPr wrap="square" lIns="0" tIns="0" rIns="0" bIns="0" rtlCol="0" anchor="ctr"/>
          <a:lstStyle/>
          <a:p>
            <a:pPr algn="ctr" indent="0" marL="0">
              <a:buNone/>
            </a:pPr>
            <a:r>
              <a:rPr lang="en-US" sz="1200" b="1" dirty="0">
                <a:solidFill>
                  <a:srgbClr val="12151B"/>
                </a:solidFill>
                <a:latin typeface="Arial" pitchFamily="34" charset="0"/>
                <a:ea typeface="Arial" pitchFamily="34" charset="-122"/>
                <a:cs typeface="Arial" pitchFamily="34" charset="-120"/>
              </a:rPr>
              <a:t>1</a:t>
            </a:r>
            <a:endParaRPr lang="en-US" sz="1200" dirty="0"/>
          </a:p>
        </p:txBody>
      </p:sp>
      <p:sp>
        <p:nvSpPr>
          <p:cNvPr id="11" name="Text 9"/>
          <p:cNvSpPr txBox="1"/>
          <p:nvPr/>
        </p:nvSpPr>
        <p:spPr>
          <a:xfrm>
            <a:off x="1005840" y="2093976"/>
            <a:ext cx="7040880" cy="713232"/>
          </a:xfrm>
          <a:prstGeom prst="rect">
            <a:avLst/>
          </a:prstGeom>
          <a:noFill/>
          <a:ln/>
        </p:spPr>
        <p:txBody>
          <a:bodyPr wrap="square" lIns="0" tIns="0" rIns="0" bIns="0" rtlCol="0" anchor="t"/>
          <a:lstStyle/>
          <a:p>
            <a:pPr indent="0" marL="0">
              <a:lnSpc>
                <a:spcPct val="105000"/>
              </a:lnSpc>
              <a:buNone/>
            </a:pPr>
            <a:r>
              <a:rPr lang="en-US" sz="1250" b="1" dirty="0">
                <a:solidFill>
                  <a:srgbClr val="12151B"/>
                </a:solidFill>
                <a:latin typeface="Arial" pitchFamily="34" charset="0"/>
                <a:ea typeface="Arial" pitchFamily="34" charset="-122"/>
                <a:cs typeface="Arial" pitchFamily="34" charset="-120"/>
              </a:rPr>
              <a:t>Frame it (15 s)  </a:t>
            </a:r>
            <a:pPr indent="0" marL="0">
              <a:lnSpc>
                <a:spcPct val="105000"/>
              </a:lnSpc>
              <a:buNone/>
            </a:pPr>
            <a:r>
              <a:rPr lang="en-US" sz="1150" dirty="0">
                <a:solidFill>
                  <a:srgbClr val="1A1D23"/>
                </a:solidFill>
                <a:latin typeface="Arial" pitchFamily="34" charset="0"/>
                <a:ea typeface="Arial" pitchFamily="34" charset="-122"/>
                <a:cs typeface="Arial" pitchFamily="34" charset="-120"/>
              </a:rPr>
              <a:t>“This is running live. Nothing is pre-recorded, and the planner has no knowledge of anything we do next.”</a:t>
            </a:r>
            <a:endParaRPr lang="en-US" sz="1250" dirty="0"/>
          </a:p>
        </p:txBody>
      </p:sp>
      <p:sp>
        <p:nvSpPr>
          <p:cNvPr id="12" name="Shape 10"/>
          <p:cNvSpPr/>
          <p:nvPr/>
        </p:nvSpPr>
        <p:spPr>
          <a:xfrm>
            <a:off x="502920" y="2834640"/>
            <a:ext cx="347472" cy="347472"/>
          </a:xfrm>
          <a:prstGeom prst="ellipse">
            <a:avLst/>
          </a:prstGeom>
          <a:solidFill>
            <a:srgbClr val="E8A33D"/>
          </a:solidFill>
          <a:ln/>
        </p:spPr>
      </p:sp>
      <p:sp>
        <p:nvSpPr>
          <p:cNvPr id="13" name="Text 11"/>
          <p:cNvSpPr txBox="1"/>
          <p:nvPr/>
        </p:nvSpPr>
        <p:spPr>
          <a:xfrm>
            <a:off x="502920" y="2834640"/>
            <a:ext cx="347472" cy="347472"/>
          </a:xfrm>
          <a:prstGeom prst="rect">
            <a:avLst/>
          </a:prstGeom>
          <a:noFill/>
          <a:ln/>
        </p:spPr>
        <p:txBody>
          <a:bodyPr wrap="square" lIns="0" tIns="0" rIns="0" bIns="0" rtlCol="0" anchor="ctr"/>
          <a:lstStyle/>
          <a:p>
            <a:pPr algn="ctr" indent="0" marL="0">
              <a:buNone/>
            </a:pPr>
            <a:r>
              <a:rPr lang="en-US" sz="1200" b="1" dirty="0">
                <a:solidFill>
                  <a:srgbClr val="12151B"/>
                </a:solidFill>
                <a:latin typeface="Arial" pitchFamily="34" charset="0"/>
                <a:ea typeface="Arial" pitchFamily="34" charset="-122"/>
                <a:cs typeface="Arial" pitchFamily="34" charset="-120"/>
              </a:rPr>
              <a:t>2</a:t>
            </a:r>
            <a:endParaRPr lang="en-US" sz="1200" dirty="0"/>
          </a:p>
        </p:txBody>
      </p:sp>
      <p:sp>
        <p:nvSpPr>
          <p:cNvPr id="14" name="Text 12"/>
          <p:cNvSpPr txBox="1"/>
          <p:nvPr/>
        </p:nvSpPr>
        <p:spPr>
          <a:xfrm>
            <a:off x="1005840" y="2816352"/>
            <a:ext cx="7040880" cy="713232"/>
          </a:xfrm>
          <a:prstGeom prst="rect">
            <a:avLst/>
          </a:prstGeom>
          <a:noFill/>
          <a:ln/>
        </p:spPr>
        <p:txBody>
          <a:bodyPr wrap="square" lIns="0" tIns="0" rIns="0" bIns="0" rtlCol="0" anchor="t"/>
          <a:lstStyle/>
          <a:p>
            <a:pPr indent="0" marL="0">
              <a:lnSpc>
                <a:spcPct val="105000"/>
              </a:lnSpc>
              <a:buNone/>
            </a:pPr>
            <a:r>
              <a:rPr lang="en-US" sz="1250" b="1" dirty="0">
                <a:solidFill>
                  <a:srgbClr val="12151B"/>
                </a:solidFill>
                <a:latin typeface="Arial" pitchFamily="34" charset="0"/>
                <a:ea typeface="Arial" pitchFamily="34" charset="-122"/>
                <a:cs typeface="Arial" pitchFamily="34" charset="-120"/>
              </a:rPr>
              <a:t>Let it drive (20 s)  </a:t>
            </a:r>
            <a:pPr indent="0" marL="0">
              <a:lnSpc>
                <a:spcPct val="105000"/>
              </a:lnSpc>
              <a:buNone/>
            </a:pPr>
            <a:r>
              <a:rPr lang="en-US" sz="1150" dirty="0">
                <a:solidFill>
                  <a:srgbClr val="1A1D23"/>
                </a:solidFill>
                <a:latin typeface="Arial" pitchFamily="34" charset="0"/>
                <a:ea typeface="Arial" pitchFamily="34" charset="-122"/>
                <a:cs typeface="Arial" pitchFamily="34" charset="-120"/>
              </a:rPr>
              <a:t>Point at the behaviour card as it changes. Say the state name out loud when it switches — it makes the machine legible.</a:t>
            </a:r>
            <a:endParaRPr lang="en-US" sz="1250" dirty="0"/>
          </a:p>
        </p:txBody>
      </p:sp>
      <p:sp>
        <p:nvSpPr>
          <p:cNvPr id="15" name="Shape 13"/>
          <p:cNvSpPr/>
          <p:nvPr/>
        </p:nvSpPr>
        <p:spPr>
          <a:xfrm>
            <a:off x="502920" y="3557016"/>
            <a:ext cx="347472" cy="347472"/>
          </a:xfrm>
          <a:prstGeom prst="ellipse">
            <a:avLst/>
          </a:prstGeom>
          <a:solidFill>
            <a:srgbClr val="E8A33D"/>
          </a:solidFill>
          <a:ln/>
        </p:spPr>
      </p:sp>
      <p:sp>
        <p:nvSpPr>
          <p:cNvPr id="16" name="Text 14"/>
          <p:cNvSpPr txBox="1"/>
          <p:nvPr/>
        </p:nvSpPr>
        <p:spPr>
          <a:xfrm>
            <a:off x="502920" y="3557016"/>
            <a:ext cx="347472" cy="347472"/>
          </a:xfrm>
          <a:prstGeom prst="rect">
            <a:avLst/>
          </a:prstGeom>
          <a:noFill/>
          <a:ln/>
        </p:spPr>
        <p:txBody>
          <a:bodyPr wrap="square" lIns="0" tIns="0" rIns="0" bIns="0" rtlCol="0" anchor="ctr"/>
          <a:lstStyle/>
          <a:p>
            <a:pPr algn="ctr" indent="0" marL="0">
              <a:buNone/>
            </a:pPr>
            <a:r>
              <a:rPr lang="en-US" sz="1200" b="1" dirty="0">
                <a:solidFill>
                  <a:srgbClr val="12151B"/>
                </a:solidFill>
                <a:latin typeface="Arial" pitchFamily="34" charset="0"/>
                <a:ea typeface="Arial" pitchFamily="34" charset="-122"/>
                <a:cs typeface="Arial" pitchFamily="34" charset="-120"/>
              </a:rPr>
              <a:t>3</a:t>
            </a:r>
            <a:endParaRPr lang="en-US" sz="1200" dirty="0"/>
          </a:p>
        </p:txBody>
      </p:sp>
      <p:sp>
        <p:nvSpPr>
          <p:cNvPr id="17" name="Text 15"/>
          <p:cNvSpPr txBox="1"/>
          <p:nvPr/>
        </p:nvSpPr>
        <p:spPr>
          <a:xfrm>
            <a:off x="1005840" y="3538728"/>
            <a:ext cx="7040880" cy="713232"/>
          </a:xfrm>
          <a:prstGeom prst="rect">
            <a:avLst/>
          </a:prstGeom>
          <a:noFill/>
          <a:ln/>
        </p:spPr>
        <p:txBody>
          <a:bodyPr wrap="square" lIns="0" tIns="0" rIns="0" bIns="0" rtlCol="0" anchor="t"/>
          <a:lstStyle/>
          <a:p>
            <a:pPr indent="0" marL="0">
              <a:lnSpc>
                <a:spcPct val="105000"/>
              </a:lnSpc>
              <a:buNone/>
            </a:pPr>
            <a:r>
              <a:rPr lang="en-US" sz="1250" b="1" dirty="0">
                <a:solidFill>
                  <a:srgbClr val="12151B"/>
                </a:solidFill>
                <a:latin typeface="Arial" pitchFamily="34" charset="0"/>
                <a:ea typeface="Arial" pitchFamily="34" charset="-122"/>
                <a:cs typeface="Arial" pitchFamily="34" charset="-120"/>
              </a:rPr>
              <a:t>Hand them the mouse  </a:t>
            </a:r>
            <a:pPr indent="0" marL="0">
              <a:lnSpc>
                <a:spcPct val="105000"/>
              </a:lnSpc>
              <a:buNone/>
            </a:pPr>
            <a:r>
              <a:rPr lang="en-US" sz="1150" dirty="0">
                <a:solidFill>
                  <a:srgbClr val="1A1D23"/>
                </a:solidFill>
                <a:latin typeface="Arial" pitchFamily="34" charset="0"/>
                <a:ea typeface="Arial" pitchFamily="34" charset="-122"/>
                <a:cs typeface="Arial" pitchFamily="34" charset="-120"/>
              </a:rPr>
              <a:t>“Put something in our way.” This is the moment that wins the room. Do not narrate over it.</a:t>
            </a:r>
            <a:endParaRPr lang="en-US" sz="1250" dirty="0"/>
          </a:p>
        </p:txBody>
      </p:sp>
      <p:sp>
        <p:nvSpPr>
          <p:cNvPr id="18" name="Shape 16"/>
          <p:cNvSpPr/>
          <p:nvPr/>
        </p:nvSpPr>
        <p:spPr>
          <a:xfrm>
            <a:off x="502920" y="4279392"/>
            <a:ext cx="347472" cy="347472"/>
          </a:xfrm>
          <a:prstGeom prst="ellipse">
            <a:avLst/>
          </a:prstGeom>
          <a:solidFill>
            <a:srgbClr val="E8A33D"/>
          </a:solidFill>
          <a:ln/>
        </p:spPr>
      </p:sp>
      <p:sp>
        <p:nvSpPr>
          <p:cNvPr id="19" name="Text 17"/>
          <p:cNvSpPr txBox="1"/>
          <p:nvPr/>
        </p:nvSpPr>
        <p:spPr>
          <a:xfrm>
            <a:off x="502920" y="4279392"/>
            <a:ext cx="347472" cy="347472"/>
          </a:xfrm>
          <a:prstGeom prst="rect">
            <a:avLst/>
          </a:prstGeom>
          <a:noFill/>
          <a:ln/>
        </p:spPr>
        <p:txBody>
          <a:bodyPr wrap="square" lIns="0" tIns="0" rIns="0" bIns="0" rtlCol="0" anchor="ctr"/>
          <a:lstStyle/>
          <a:p>
            <a:pPr algn="ctr" indent="0" marL="0">
              <a:buNone/>
            </a:pPr>
            <a:r>
              <a:rPr lang="en-US" sz="1200" b="1" dirty="0">
                <a:solidFill>
                  <a:srgbClr val="12151B"/>
                </a:solidFill>
                <a:latin typeface="Arial" pitchFamily="34" charset="0"/>
                <a:ea typeface="Arial" pitchFamily="34" charset="-122"/>
                <a:cs typeface="Arial" pitchFamily="34" charset="-120"/>
              </a:rPr>
              <a:t>4</a:t>
            </a:r>
            <a:endParaRPr lang="en-US" sz="1200" dirty="0"/>
          </a:p>
        </p:txBody>
      </p:sp>
      <p:sp>
        <p:nvSpPr>
          <p:cNvPr id="20" name="Text 18"/>
          <p:cNvSpPr txBox="1"/>
          <p:nvPr/>
        </p:nvSpPr>
        <p:spPr>
          <a:xfrm>
            <a:off x="1005840" y="4261104"/>
            <a:ext cx="7040880" cy="713232"/>
          </a:xfrm>
          <a:prstGeom prst="rect">
            <a:avLst/>
          </a:prstGeom>
          <a:noFill/>
          <a:ln/>
        </p:spPr>
        <p:txBody>
          <a:bodyPr wrap="square" lIns="0" tIns="0" rIns="0" bIns="0" rtlCol="0" anchor="t"/>
          <a:lstStyle/>
          <a:p>
            <a:pPr indent="0" marL="0">
              <a:lnSpc>
                <a:spcPct val="105000"/>
              </a:lnSpc>
              <a:buNone/>
            </a:pPr>
            <a:r>
              <a:rPr lang="en-US" sz="1250" b="1" dirty="0">
                <a:solidFill>
                  <a:srgbClr val="12151B"/>
                </a:solidFill>
                <a:latin typeface="Arial" pitchFamily="34" charset="0"/>
                <a:ea typeface="Arial" pitchFamily="34" charset="-122"/>
                <a:cs typeface="Arial" pitchFamily="34" charset="-120"/>
              </a:rPr>
              <a:t>Break a threshold (30 s)  </a:t>
            </a:r>
            <a:pPr indent="0" marL="0">
              <a:lnSpc>
                <a:spcPct val="105000"/>
              </a:lnSpc>
              <a:buNone/>
            </a:pPr>
            <a:r>
              <a:rPr lang="en-US" sz="1150" dirty="0">
                <a:solidFill>
                  <a:srgbClr val="1A1D23"/>
                </a:solidFill>
                <a:latin typeface="Arial" pitchFamily="34" charset="0"/>
                <a:ea typeface="Arial" pitchFamily="34" charset="-122"/>
                <a:cs typeface="Arial" pitchFamily="34" charset="-120"/>
              </a:rPr>
              <a:t>Raise the clearance margin until the vehicle refuses to pass, then lower it. Shows the trade-off is real and ours.</a:t>
            </a:r>
            <a:endParaRPr lang="en-US" sz="1250" dirty="0"/>
          </a:p>
        </p:txBody>
      </p:sp>
      <p:sp>
        <p:nvSpPr>
          <p:cNvPr id="21" name="Shape 19"/>
          <p:cNvSpPr/>
          <p:nvPr/>
        </p:nvSpPr>
        <p:spPr>
          <a:xfrm>
            <a:off x="502920" y="5001768"/>
            <a:ext cx="347472" cy="347472"/>
          </a:xfrm>
          <a:prstGeom prst="ellipse">
            <a:avLst/>
          </a:prstGeom>
          <a:solidFill>
            <a:srgbClr val="E8A33D"/>
          </a:solidFill>
          <a:ln/>
        </p:spPr>
      </p:sp>
      <p:sp>
        <p:nvSpPr>
          <p:cNvPr id="22" name="Text 20"/>
          <p:cNvSpPr txBox="1"/>
          <p:nvPr/>
        </p:nvSpPr>
        <p:spPr>
          <a:xfrm>
            <a:off x="502920" y="5001768"/>
            <a:ext cx="347472" cy="347472"/>
          </a:xfrm>
          <a:prstGeom prst="rect">
            <a:avLst/>
          </a:prstGeom>
          <a:noFill/>
          <a:ln/>
        </p:spPr>
        <p:txBody>
          <a:bodyPr wrap="square" lIns="0" tIns="0" rIns="0" bIns="0" rtlCol="0" anchor="ctr"/>
          <a:lstStyle/>
          <a:p>
            <a:pPr algn="ctr" indent="0" marL="0">
              <a:buNone/>
            </a:pPr>
            <a:r>
              <a:rPr lang="en-US" sz="1200" b="1" dirty="0">
                <a:solidFill>
                  <a:srgbClr val="12151B"/>
                </a:solidFill>
                <a:latin typeface="Arial" pitchFamily="34" charset="0"/>
                <a:ea typeface="Arial" pitchFamily="34" charset="-122"/>
                <a:cs typeface="Arial" pitchFamily="34" charset="-120"/>
              </a:rPr>
              <a:t>5</a:t>
            </a:r>
            <a:endParaRPr lang="en-US" sz="1200" dirty="0"/>
          </a:p>
        </p:txBody>
      </p:sp>
      <p:sp>
        <p:nvSpPr>
          <p:cNvPr id="23" name="Text 21"/>
          <p:cNvSpPr txBox="1"/>
          <p:nvPr/>
        </p:nvSpPr>
        <p:spPr>
          <a:xfrm>
            <a:off x="1005840" y="4983480"/>
            <a:ext cx="7040880" cy="713232"/>
          </a:xfrm>
          <a:prstGeom prst="rect">
            <a:avLst/>
          </a:prstGeom>
          <a:noFill/>
          <a:ln/>
        </p:spPr>
        <p:txBody>
          <a:bodyPr wrap="square" lIns="0" tIns="0" rIns="0" bIns="0" rtlCol="0" anchor="t"/>
          <a:lstStyle/>
          <a:p>
            <a:pPr indent="0" marL="0">
              <a:lnSpc>
                <a:spcPct val="105000"/>
              </a:lnSpc>
              <a:buNone/>
            </a:pPr>
            <a:r>
              <a:rPr lang="en-US" sz="1250" b="1" dirty="0">
                <a:solidFill>
                  <a:srgbClr val="12151B"/>
                </a:solidFill>
                <a:latin typeface="Arial" pitchFamily="34" charset="0"/>
                <a:ea typeface="Arial" pitchFamily="34" charset="-122"/>
                <a:cs typeface="Arial" pitchFamily="34" charset="-120"/>
              </a:rPr>
              <a:t>Ablate (30 s)  </a:t>
            </a:r>
            <a:pPr indent="0" marL="0">
              <a:lnSpc>
                <a:spcPct val="105000"/>
              </a:lnSpc>
              <a:buNone/>
            </a:pPr>
            <a:r>
              <a:rPr lang="en-US" sz="1150" dirty="0">
                <a:solidFill>
                  <a:srgbClr val="1A1D23"/>
                </a:solidFill>
                <a:latin typeface="Arial" pitchFamily="34" charset="0"/>
                <a:ea typeface="Arial" pitchFamily="34" charset="-122"/>
                <a:cs typeface="Arial" pitchFamily="34" charset="-120"/>
              </a:rPr>
              <a:t>Turn the risk field off. It degrades to a lane follower and starts failing. Turn it back on.</a:t>
            </a:r>
            <a:endParaRPr lang="en-US" sz="1250" dirty="0"/>
          </a:p>
        </p:txBody>
      </p:sp>
      <p:sp>
        <p:nvSpPr>
          <p:cNvPr id="24" name="Shape 22"/>
          <p:cNvSpPr/>
          <p:nvPr/>
        </p:nvSpPr>
        <p:spPr>
          <a:xfrm>
            <a:off x="502920" y="5724144"/>
            <a:ext cx="347472" cy="347472"/>
          </a:xfrm>
          <a:prstGeom prst="ellipse">
            <a:avLst/>
          </a:prstGeom>
          <a:solidFill>
            <a:srgbClr val="E8A33D"/>
          </a:solidFill>
          <a:ln/>
        </p:spPr>
      </p:sp>
      <p:sp>
        <p:nvSpPr>
          <p:cNvPr id="25" name="Text 23"/>
          <p:cNvSpPr txBox="1"/>
          <p:nvPr/>
        </p:nvSpPr>
        <p:spPr>
          <a:xfrm>
            <a:off x="502920" y="5724144"/>
            <a:ext cx="347472" cy="347472"/>
          </a:xfrm>
          <a:prstGeom prst="rect">
            <a:avLst/>
          </a:prstGeom>
          <a:noFill/>
          <a:ln/>
        </p:spPr>
        <p:txBody>
          <a:bodyPr wrap="square" lIns="0" tIns="0" rIns="0" bIns="0" rtlCol="0" anchor="ctr"/>
          <a:lstStyle/>
          <a:p>
            <a:pPr algn="ctr" indent="0" marL="0">
              <a:buNone/>
            </a:pPr>
            <a:r>
              <a:rPr lang="en-US" sz="1200" b="1" dirty="0">
                <a:solidFill>
                  <a:srgbClr val="12151B"/>
                </a:solidFill>
                <a:latin typeface="Arial" pitchFamily="34" charset="0"/>
                <a:ea typeface="Arial" pitchFamily="34" charset="-122"/>
                <a:cs typeface="Arial" pitchFamily="34" charset="-120"/>
              </a:rPr>
              <a:t>6</a:t>
            </a:r>
            <a:endParaRPr lang="en-US" sz="1200" dirty="0"/>
          </a:p>
        </p:txBody>
      </p:sp>
      <p:sp>
        <p:nvSpPr>
          <p:cNvPr id="26" name="Text 24"/>
          <p:cNvSpPr txBox="1"/>
          <p:nvPr/>
        </p:nvSpPr>
        <p:spPr>
          <a:xfrm>
            <a:off x="1005840" y="5705856"/>
            <a:ext cx="7040880" cy="713232"/>
          </a:xfrm>
          <a:prstGeom prst="rect">
            <a:avLst/>
          </a:prstGeom>
          <a:noFill/>
          <a:ln/>
        </p:spPr>
        <p:txBody>
          <a:bodyPr wrap="square" lIns="0" tIns="0" rIns="0" bIns="0" rtlCol="0" anchor="t"/>
          <a:lstStyle/>
          <a:p>
            <a:pPr indent="0" marL="0">
              <a:lnSpc>
                <a:spcPct val="105000"/>
              </a:lnSpc>
              <a:buNone/>
            </a:pPr>
            <a:r>
              <a:rPr lang="en-US" sz="1250" b="1" dirty="0">
                <a:solidFill>
                  <a:srgbClr val="12151B"/>
                </a:solidFill>
                <a:latin typeface="Arial" pitchFamily="34" charset="0"/>
                <a:ea typeface="Arial" pitchFamily="34" charset="-122"/>
                <a:cs typeface="Arial" pitchFamily="34" charset="-120"/>
              </a:rPr>
              <a:t>Land it (15 s)  </a:t>
            </a:r>
            <a:pPr indent="0" marL="0">
              <a:lnSpc>
                <a:spcPct val="105000"/>
              </a:lnSpc>
              <a:buNone/>
            </a:pPr>
            <a:r>
              <a:rPr lang="en-US" sz="1150" dirty="0">
                <a:solidFill>
                  <a:srgbClr val="1A1D23"/>
                </a:solidFill>
                <a:latin typeface="Arial" pitchFamily="34" charset="0"/>
                <a:ea typeface="Arial" pitchFamily="34" charset="-122"/>
                <a:cs typeface="Arial" pitchFamily="34" charset="-120"/>
              </a:rPr>
              <a:t>Back to the numbers slide. “That behaviour is what these numbers measure, across ten scenarios and three seeds.”</a:t>
            </a:r>
            <a:endParaRPr lang="en-US" sz="1250" dirty="0"/>
          </a:p>
        </p:txBody>
      </p:sp>
      <p:sp>
        <p:nvSpPr>
          <p:cNvPr id="27" name="Shape 25"/>
          <p:cNvSpPr/>
          <p:nvPr/>
        </p:nvSpPr>
        <p:spPr>
          <a:xfrm>
            <a:off x="8183880" y="1371600"/>
            <a:ext cx="3502152" cy="2377440"/>
          </a:xfrm>
          <a:prstGeom prst="roundRect">
            <a:avLst>
              <a:gd name="adj" fmla="val 2308"/>
            </a:avLst>
          </a:prstGeom>
          <a:solidFill>
            <a:srgbClr val="FBEEE9"/>
          </a:solidFill>
          <a:ln w="12700">
            <a:solidFill>
              <a:srgbClr val="FBEEE9"/>
            </a:solidFill>
            <a:prstDash val="solid"/>
          </a:ln>
        </p:spPr>
      </p:sp>
      <p:sp>
        <p:nvSpPr>
          <p:cNvPr id="28" name="Text 26"/>
          <p:cNvSpPr txBox="1"/>
          <p:nvPr/>
        </p:nvSpPr>
        <p:spPr>
          <a:xfrm>
            <a:off x="8348472" y="1490472"/>
            <a:ext cx="3172968" cy="213969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D2503C"/>
                </a:solidFill>
                <a:latin typeface="Arial" pitchFamily="34" charset="0"/>
                <a:ea typeface="Arial" pitchFamily="34" charset="-122"/>
                <a:cs typeface="Arial" pitchFamily="34" charset="-120"/>
              </a:rPr>
              <a:t>If it goes wrong</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Vehicle stuck → Reset vehicle button, keep talking.</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Browser dead → reload; the session survives.</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Server dead → second terminal, same command.</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Everything dead → the recorded replay page, and say so.</a:t>
            </a:r>
            <a:endParaRPr lang="en-US" sz="1300" dirty="0"/>
          </a:p>
        </p:txBody>
      </p:sp>
      <p:sp>
        <p:nvSpPr>
          <p:cNvPr id="29" name="Shape 27"/>
          <p:cNvSpPr/>
          <p:nvPr/>
        </p:nvSpPr>
        <p:spPr>
          <a:xfrm>
            <a:off x="8183880" y="3931920"/>
            <a:ext cx="3502152" cy="2103120"/>
          </a:xfrm>
          <a:prstGeom prst="roundRect">
            <a:avLst>
              <a:gd name="adj" fmla="val 2609"/>
            </a:avLst>
          </a:prstGeom>
          <a:solidFill>
            <a:srgbClr val="F2F4F7"/>
          </a:solidFill>
          <a:ln w="12700">
            <a:solidFill>
              <a:srgbClr val="F2F4F7"/>
            </a:solidFill>
            <a:prstDash val="solid"/>
          </a:ln>
        </p:spPr>
      </p:sp>
      <p:sp>
        <p:nvSpPr>
          <p:cNvPr id="30" name="Text 28"/>
          <p:cNvSpPr txBox="1"/>
          <p:nvPr/>
        </p:nvSpPr>
        <p:spPr>
          <a:xfrm>
            <a:off x="8348472" y="4050792"/>
            <a:ext cx="3172968" cy="186537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12151B"/>
                </a:solidFill>
                <a:latin typeface="Arial" pitchFamily="34" charset="0"/>
                <a:ea typeface="Arial" pitchFamily="34" charset="-122"/>
                <a:cs typeface="Arial" pitchFamily="34" charset="-120"/>
              </a:rPr>
              <a:t>Who does what</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B2 drives the machine.</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O4 narrates and watches the clock.</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B1 answers algorithm questions only.</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O3 has the numbers open on a second screen.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17</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The numbers we quote, and where they come from</a:t>
            </a:r>
            <a:endParaRPr lang="en-US" sz="2700" dirty="0"/>
          </a:p>
        </p:txBody>
      </p:sp>
      <p:sp>
        <p:nvSpPr>
          <p:cNvPr id="5" name="Text 3"/>
          <p:cNvSpPr txBox="1"/>
          <p:nvPr/>
        </p:nvSpPr>
        <p:spPr>
          <a:xfrm>
            <a:off x="1069848" y="868680"/>
            <a:ext cx="10616184"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Every figure below is produced by scripts/benchmark.py — 3 seeds × 10 scenarios per controller, identical seeds for both.</a:t>
            </a:r>
            <a:endParaRPr lang="en-US" sz="1300" dirty="0"/>
          </a:p>
        </p:txBody>
      </p:sp>
      <p:graphicFrame>
        <p:nvGraphicFramePr>
          <p:cNvPr id="6" name="Chart 0" descr=""/>
          <p:cNvGraphicFramePr/>
          <p:nvPr/>
        </p:nvGraphicFramePr>
        <p:xfrm>
          <a:off x="502920" y="160020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02920" y="5852160"/>
            <a:ext cx="6949440" cy="292608"/>
          </a:xfrm>
          <a:prstGeom prst="rect">
            <a:avLst/>
          </a:prstGeom>
          <a:noFill/>
          <a:ln/>
        </p:spPr>
        <p:txBody>
          <a:bodyPr wrap="square" lIns="0" tIns="0" rIns="0" bIns="0" rtlCol="0" anchor="ctr"/>
          <a:lstStyle/>
          <a:p>
            <a:pPr indent="0" marL="0">
              <a:buNone/>
            </a:pPr>
            <a:r>
              <a:rPr lang="en-US" sz="950" i="1" dirty="0">
                <a:solidFill>
                  <a:srgbClr val="6B7280"/>
                </a:solidFill>
                <a:latin typeface="Arial" pitchFamily="34" charset="0"/>
                <a:ea typeface="Arial" pitchFamily="34" charset="-122"/>
                <a:cs typeface="Arial" pitchFamily="34" charset="-120"/>
              </a:rPr>
              <a:t>Mean route progress per scenario. Higher is better.</a:t>
            </a:r>
            <a:endParaRPr lang="en-US" sz="950" dirty="0"/>
          </a:p>
        </p:txBody>
      </p:sp>
      <p:sp>
        <p:nvSpPr>
          <p:cNvPr id="8" name="Text 5"/>
          <p:cNvSpPr txBox="1"/>
          <p:nvPr/>
        </p:nvSpPr>
        <p:spPr>
          <a:xfrm>
            <a:off x="7772400" y="1554480"/>
            <a:ext cx="1920240" cy="658368"/>
          </a:xfrm>
          <a:prstGeom prst="rect">
            <a:avLst/>
          </a:prstGeom>
          <a:noFill/>
          <a:ln/>
        </p:spPr>
        <p:txBody>
          <a:bodyPr wrap="square" lIns="0" tIns="0" rIns="0" bIns="0" rtlCol="0" anchor="b"/>
          <a:lstStyle/>
          <a:p>
            <a:pPr algn="l" indent="0" marL="0">
              <a:buNone/>
            </a:pPr>
            <a:r>
              <a:rPr lang="en-US" sz="3400" b="1" dirty="0">
                <a:solidFill>
                  <a:srgbClr val="12151B"/>
                </a:solidFill>
                <a:latin typeface="Arial" pitchFamily="34" charset="0"/>
                <a:ea typeface="Arial" pitchFamily="34" charset="-122"/>
                <a:cs typeface="Arial" pitchFamily="34" charset="-120"/>
              </a:rPr>
              <a:t>25/30</a:t>
            </a:r>
            <a:endParaRPr lang="en-US" sz="3400" dirty="0"/>
          </a:p>
        </p:txBody>
      </p:sp>
      <p:sp>
        <p:nvSpPr>
          <p:cNvPr id="9" name="Text 6"/>
          <p:cNvSpPr txBox="1"/>
          <p:nvPr/>
        </p:nvSpPr>
        <p:spPr>
          <a:xfrm>
            <a:off x="7772400" y="2212848"/>
            <a:ext cx="1920240" cy="457200"/>
          </a:xfrm>
          <a:prstGeom prst="rect">
            <a:avLst/>
          </a:prstGeom>
          <a:noFill/>
          <a:ln/>
        </p:spPr>
        <p:txBody>
          <a:bodyPr wrap="square" lIns="0" tIns="0" rIns="0" bIns="0" rtlCol="0" anchor="ctr"/>
          <a:lstStyle/>
          <a:p>
            <a:pPr algn="l" indent="0" marL="0">
              <a:buNone/>
            </a:pPr>
            <a:r>
              <a:rPr lang="en-US" sz="1050" dirty="0">
                <a:solidFill>
                  <a:srgbClr val="6B7280"/>
                </a:solidFill>
                <a:latin typeface="Arial" pitchFamily="34" charset="0"/>
                <a:ea typeface="Arial" pitchFamily="34" charset="-122"/>
                <a:cs typeface="Arial" pitchFamily="34" charset="-120"/>
              </a:rPr>
              <a:t>our runs collision-free</a:t>
            </a:r>
            <a:endParaRPr lang="en-US" sz="1050" dirty="0"/>
          </a:p>
        </p:txBody>
      </p:sp>
      <p:sp>
        <p:nvSpPr>
          <p:cNvPr id="10" name="Text 7"/>
          <p:cNvSpPr txBox="1"/>
          <p:nvPr/>
        </p:nvSpPr>
        <p:spPr>
          <a:xfrm>
            <a:off x="9784080" y="1554480"/>
            <a:ext cx="1920240" cy="658368"/>
          </a:xfrm>
          <a:prstGeom prst="rect">
            <a:avLst/>
          </a:prstGeom>
          <a:noFill/>
          <a:ln/>
        </p:spPr>
        <p:txBody>
          <a:bodyPr wrap="square" lIns="0" tIns="0" rIns="0" bIns="0" rtlCol="0" anchor="b"/>
          <a:lstStyle/>
          <a:p>
            <a:pPr algn="l" indent="0" marL="0">
              <a:buNone/>
            </a:pPr>
            <a:r>
              <a:rPr lang="en-US" sz="3400" b="1" dirty="0">
                <a:solidFill>
                  <a:srgbClr val="6B7280"/>
                </a:solidFill>
                <a:latin typeface="Arial" pitchFamily="34" charset="0"/>
                <a:ea typeface="Arial" pitchFamily="34" charset="-122"/>
                <a:cs typeface="Arial" pitchFamily="34" charset="-120"/>
              </a:rPr>
              <a:t>27/30</a:t>
            </a:r>
            <a:endParaRPr lang="en-US" sz="3400" dirty="0"/>
          </a:p>
        </p:txBody>
      </p:sp>
      <p:sp>
        <p:nvSpPr>
          <p:cNvPr id="11" name="Text 8"/>
          <p:cNvSpPr txBox="1"/>
          <p:nvPr/>
        </p:nvSpPr>
        <p:spPr>
          <a:xfrm>
            <a:off x="9784080" y="2212848"/>
            <a:ext cx="1920240" cy="457200"/>
          </a:xfrm>
          <a:prstGeom prst="rect">
            <a:avLst/>
          </a:prstGeom>
          <a:noFill/>
          <a:ln/>
        </p:spPr>
        <p:txBody>
          <a:bodyPr wrap="square" lIns="0" tIns="0" rIns="0" bIns="0" rtlCol="0" anchor="ctr"/>
          <a:lstStyle/>
          <a:p>
            <a:pPr algn="l" indent="0" marL="0">
              <a:buNone/>
            </a:pPr>
            <a:r>
              <a:rPr lang="en-US" sz="1050" dirty="0">
                <a:solidFill>
                  <a:srgbClr val="6B7280"/>
                </a:solidFill>
                <a:latin typeface="Arial" pitchFamily="34" charset="0"/>
                <a:ea typeface="Arial" pitchFamily="34" charset="-122"/>
                <a:cs typeface="Arial" pitchFamily="34" charset="-120"/>
              </a:rPr>
              <a:t>baseline, same seeds</a:t>
            </a:r>
            <a:endParaRPr lang="en-US" sz="1050" dirty="0"/>
          </a:p>
        </p:txBody>
      </p:sp>
      <p:sp>
        <p:nvSpPr>
          <p:cNvPr id="12" name="Text 9"/>
          <p:cNvSpPr txBox="1"/>
          <p:nvPr/>
        </p:nvSpPr>
        <p:spPr>
          <a:xfrm>
            <a:off x="7772400" y="2880360"/>
            <a:ext cx="1920240" cy="658368"/>
          </a:xfrm>
          <a:prstGeom prst="rect">
            <a:avLst/>
          </a:prstGeom>
          <a:noFill/>
          <a:ln/>
        </p:spPr>
        <p:txBody>
          <a:bodyPr wrap="square" lIns="0" tIns="0" rIns="0" bIns="0" rtlCol="0" anchor="b"/>
          <a:lstStyle/>
          <a:p>
            <a:pPr algn="l" indent="0" marL="0">
              <a:buNone/>
            </a:pPr>
            <a:r>
              <a:rPr lang="en-US" sz="3400" b="1" dirty="0">
                <a:solidFill>
                  <a:srgbClr val="12151B"/>
                </a:solidFill>
                <a:latin typeface="Arial" pitchFamily="34" charset="0"/>
                <a:ea typeface="Arial" pitchFamily="34" charset="-122"/>
                <a:cs typeface="Arial" pitchFamily="34" charset="-120"/>
              </a:rPr>
              <a:t>43%</a:t>
            </a:r>
            <a:endParaRPr lang="en-US" sz="3400" dirty="0"/>
          </a:p>
        </p:txBody>
      </p:sp>
      <p:sp>
        <p:nvSpPr>
          <p:cNvPr id="13" name="Text 10"/>
          <p:cNvSpPr txBox="1"/>
          <p:nvPr/>
        </p:nvSpPr>
        <p:spPr>
          <a:xfrm>
            <a:off x="7772400" y="3538728"/>
            <a:ext cx="1920240" cy="457200"/>
          </a:xfrm>
          <a:prstGeom prst="rect">
            <a:avLst/>
          </a:prstGeom>
          <a:noFill/>
          <a:ln/>
        </p:spPr>
        <p:txBody>
          <a:bodyPr wrap="square" lIns="0" tIns="0" rIns="0" bIns="0" rtlCol="0" anchor="ctr"/>
          <a:lstStyle/>
          <a:p>
            <a:pPr algn="l" indent="0" marL="0">
              <a:buNone/>
            </a:pPr>
            <a:r>
              <a:rPr lang="en-US" sz="1050" dirty="0">
                <a:solidFill>
                  <a:srgbClr val="6B7280"/>
                </a:solidFill>
                <a:latin typeface="Arial" pitchFamily="34" charset="0"/>
                <a:ea typeface="Arial" pitchFamily="34" charset="-122"/>
                <a:cs typeface="Arial" pitchFamily="34" charset="-120"/>
              </a:rPr>
              <a:t>mean route progress</a:t>
            </a:r>
            <a:endParaRPr lang="en-US" sz="1050" dirty="0"/>
          </a:p>
        </p:txBody>
      </p:sp>
      <p:sp>
        <p:nvSpPr>
          <p:cNvPr id="14" name="Text 11"/>
          <p:cNvSpPr txBox="1"/>
          <p:nvPr/>
        </p:nvSpPr>
        <p:spPr>
          <a:xfrm>
            <a:off x="9784080" y="2880360"/>
            <a:ext cx="1920240" cy="658368"/>
          </a:xfrm>
          <a:prstGeom prst="rect">
            <a:avLst/>
          </a:prstGeom>
          <a:noFill/>
          <a:ln/>
        </p:spPr>
        <p:txBody>
          <a:bodyPr wrap="square" lIns="0" tIns="0" rIns="0" bIns="0" rtlCol="0" anchor="b"/>
          <a:lstStyle/>
          <a:p>
            <a:pPr algn="l" indent="0" marL="0">
              <a:buNone/>
            </a:pPr>
            <a:r>
              <a:rPr lang="en-US" sz="3400" b="1" dirty="0">
                <a:solidFill>
                  <a:srgbClr val="6B7280"/>
                </a:solidFill>
                <a:latin typeface="Arial" pitchFamily="34" charset="0"/>
                <a:ea typeface="Arial" pitchFamily="34" charset="-122"/>
                <a:cs typeface="Arial" pitchFamily="34" charset="-120"/>
              </a:rPr>
              <a:t>36%</a:t>
            </a:r>
            <a:endParaRPr lang="en-US" sz="3400" dirty="0"/>
          </a:p>
        </p:txBody>
      </p:sp>
      <p:sp>
        <p:nvSpPr>
          <p:cNvPr id="15" name="Text 12"/>
          <p:cNvSpPr txBox="1"/>
          <p:nvPr/>
        </p:nvSpPr>
        <p:spPr>
          <a:xfrm>
            <a:off x="9784080" y="3538728"/>
            <a:ext cx="1920240" cy="457200"/>
          </a:xfrm>
          <a:prstGeom prst="rect">
            <a:avLst/>
          </a:prstGeom>
          <a:noFill/>
          <a:ln/>
        </p:spPr>
        <p:txBody>
          <a:bodyPr wrap="square" lIns="0" tIns="0" rIns="0" bIns="0" rtlCol="0" anchor="ctr"/>
          <a:lstStyle/>
          <a:p>
            <a:pPr algn="l" indent="0" marL="0">
              <a:buNone/>
            </a:pPr>
            <a:r>
              <a:rPr lang="en-US" sz="1050" dirty="0">
                <a:solidFill>
                  <a:srgbClr val="6B7280"/>
                </a:solidFill>
                <a:latin typeface="Arial" pitchFamily="34" charset="0"/>
                <a:ea typeface="Arial" pitchFamily="34" charset="-122"/>
                <a:cs typeface="Arial" pitchFamily="34" charset="-120"/>
              </a:rPr>
              <a:t>baseline, same seeds</a:t>
            </a:r>
            <a:endParaRPr lang="en-US" sz="1050" dirty="0"/>
          </a:p>
        </p:txBody>
      </p:sp>
      <p:sp>
        <p:nvSpPr>
          <p:cNvPr id="16" name="Text 13"/>
          <p:cNvSpPr txBox="1"/>
          <p:nvPr/>
        </p:nvSpPr>
        <p:spPr>
          <a:xfrm>
            <a:off x="7772400" y="4206240"/>
            <a:ext cx="1920240" cy="658368"/>
          </a:xfrm>
          <a:prstGeom prst="rect">
            <a:avLst/>
          </a:prstGeom>
          <a:noFill/>
          <a:ln/>
        </p:spPr>
        <p:txBody>
          <a:bodyPr wrap="square" lIns="0" tIns="0" rIns="0" bIns="0" rtlCol="0" anchor="b"/>
          <a:lstStyle/>
          <a:p>
            <a:pPr algn="l" indent="0" marL="0">
              <a:buNone/>
            </a:pPr>
            <a:r>
              <a:rPr lang="en-US" sz="3400" b="1" dirty="0">
                <a:solidFill>
                  <a:srgbClr val="12151B"/>
                </a:solidFill>
                <a:latin typeface="Arial" pitchFamily="34" charset="0"/>
                <a:ea typeface="Arial" pitchFamily="34" charset="-122"/>
                <a:cs typeface="Arial" pitchFamily="34" charset="-120"/>
              </a:rPr>
              <a:t>46 ms</a:t>
            </a:r>
            <a:endParaRPr lang="en-US" sz="3400" dirty="0"/>
          </a:p>
        </p:txBody>
      </p:sp>
      <p:sp>
        <p:nvSpPr>
          <p:cNvPr id="17" name="Text 14"/>
          <p:cNvSpPr txBox="1"/>
          <p:nvPr/>
        </p:nvSpPr>
        <p:spPr>
          <a:xfrm>
            <a:off x="7772400" y="4864608"/>
            <a:ext cx="3913632" cy="777240"/>
          </a:xfrm>
          <a:prstGeom prst="rect">
            <a:avLst/>
          </a:prstGeom>
          <a:noFill/>
          <a:ln/>
        </p:spPr>
        <p:txBody>
          <a:bodyPr wrap="square" lIns="0" tIns="0" rIns="0" bIns="0" rtlCol="0" anchor="ctr"/>
          <a:lstStyle/>
          <a:p>
            <a:pPr algn="l" indent="0" marL="0">
              <a:buNone/>
            </a:pPr>
            <a:r>
              <a:rPr lang="en-US" sz="1050" dirty="0">
                <a:solidFill>
                  <a:srgbClr val="6B7280"/>
                </a:solidFill>
                <a:latin typeface="Arial" pitchFamily="34" charset="0"/>
                <a:ea typeface="Arial" pitchFamily="34" charset="-122"/>
                <a:cs typeface="Arial" pitchFamily="34" charset="-120"/>
              </a:rPr>
              <a:t>median scenario replan; 8 of 10 under 50 ms, worst 72 ms in the dense market</a:t>
            </a:r>
            <a:endParaRPr lang="en-US" sz="1050" dirty="0"/>
          </a:p>
        </p:txBody>
      </p:sp>
      <p:sp>
        <p:nvSpPr>
          <p:cNvPr id="18" name="Text 15"/>
          <p:cNvSpPr txBox="1"/>
          <p:nvPr/>
        </p:nvSpPr>
        <p:spPr>
          <a:xfrm>
            <a:off x="9784080" y="4206240"/>
            <a:ext cx="1920240" cy="658368"/>
          </a:xfrm>
          <a:prstGeom prst="rect">
            <a:avLst/>
          </a:prstGeom>
          <a:noFill/>
          <a:ln/>
        </p:spPr>
        <p:txBody>
          <a:bodyPr wrap="square" lIns="0" tIns="0" rIns="0" bIns="0" rtlCol="0" anchor="b"/>
          <a:lstStyle/>
          <a:p>
            <a:pPr algn="l" indent="0" marL="0">
              <a:buNone/>
            </a:pPr>
            <a:r>
              <a:rPr lang="en-US" sz="3400" b="1" dirty="0">
                <a:solidFill>
                  <a:srgbClr val="12151B"/>
                </a:solidFill>
                <a:latin typeface="Arial" pitchFamily="34" charset="0"/>
                <a:ea typeface="Arial" pitchFamily="34" charset="-122"/>
                <a:cs typeface="Arial" pitchFamily="34" charset="-120"/>
              </a:rPr>
              <a:t>20 Hz</a:t>
            </a:r>
            <a:endParaRPr lang="en-US" sz="3400" dirty="0"/>
          </a:p>
        </p:txBody>
      </p:sp>
      <p:sp>
        <p:nvSpPr>
          <p:cNvPr id="19" name="Text 16"/>
          <p:cNvSpPr txBox="1"/>
          <p:nvPr/>
        </p:nvSpPr>
        <p:spPr>
          <a:xfrm>
            <a:off x="9784080" y="4864608"/>
            <a:ext cx="1920240" cy="457200"/>
          </a:xfrm>
          <a:prstGeom prst="rect">
            <a:avLst/>
          </a:prstGeom>
          <a:noFill/>
          <a:ln/>
        </p:spPr>
        <p:txBody>
          <a:bodyPr wrap="square" lIns="0" tIns="0" rIns="0" bIns="0" rtlCol="0" anchor="ctr"/>
          <a:lstStyle/>
          <a:p>
            <a:pPr algn="l" indent="0" marL="0">
              <a:buNone/>
            </a:pPr>
            <a:r>
              <a:rPr lang="en-US" sz="1050" dirty="0">
                <a:solidFill>
                  <a:srgbClr val="6B7280"/>
                </a:solidFill>
                <a:latin typeface="Arial" pitchFamily="34" charset="0"/>
                <a:ea typeface="Arial" pitchFamily="34" charset="-122"/>
                <a:cs typeface="Arial" pitchFamily="34" charset="-120"/>
              </a:rPr>
              <a:t>closed loop, no GPU</a:t>
            </a:r>
            <a:endParaRPr lang="en-US" sz="1050" dirty="0"/>
          </a:p>
        </p:txBody>
      </p:sp>
      <p:sp>
        <p:nvSpPr>
          <p:cNvPr id="20" name="Shape 17"/>
          <p:cNvSpPr/>
          <p:nvPr/>
        </p:nvSpPr>
        <p:spPr>
          <a:xfrm>
            <a:off x="7772400" y="5303520"/>
            <a:ext cx="3913632" cy="1143000"/>
          </a:xfrm>
          <a:prstGeom prst="roundRect">
            <a:avLst>
              <a:gd name="adj" fmla="val 4800"/>
            </a:avLst>
          </a:prstGeom>
          <a:solidFill>
            <a:srgbClr val="F2F4F7"/>
          </a:solidFill>
          <a:ln w="12700">
            <a:solidFill>
              <a:srgbClr val="F2F4F7"/>
            </a:solidFill>
            <a:prstDash val="solid"/>
          </a:ln>
        </p:spPr>
      </p:sp>
      <p:sp>
        <p:nvSpPr>
          <p:cNvPr id="21" name="Text 18"/>
          <p:cNvSpPr txBox="1"/>
          <p:nvPr/>
        </p:nvSpPr>
        <p:spPr>
          <a:xfrm>
            <a:off x="7936992" y="5422392"/>
            <a:ext cx="3584448" cy="90525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12151B"/>
                </a:solidFill>
                <a:latin typeface="Arial" pitchFamily="34" charset="0"/>
                <a:ea typeface="Arial" pitchFamily="34" charset="-122"/>
                <a:cs typeface="Arial" pitchFamily="34" charset="-120"/>
              </a:rPr>
              <a:t>Rule for all of us</a:t>
            </a:r>
            <a:endParaRPr lang="en-US" sz="1300" dirty="0"/>
          </a:p>
          <a:p>
            <a:pPr indent="0" marL="0">
              <a:lnSpc>
                <a:spcPct val="106000"/>
              </a:lnSpc>
              <a:spcAft>
                <a:spcPts val="400"/>
              </a:spcAft>
              <a:buNone/>
            </a:pPr>
            <a:r>
              <a:rPr lang="en-US" sz="1150" dirty="0">
                <a:solidFill>
                  <a:srgbClr val="1A1D23"/>
                </a:solidFill>
                <a:latin typeface="Arial" pitchFamily="34" charset="0"/>
                <a:ea typeface="Arial" pitchFamily="34" charset="-122"/>
                <a:cs typeface="Arial" pitchFamily="34" charset="-120"/>
              </a:rPr>
              <a:t>If a number is not on this slide, do not say it. If a judge asks for one we do not have, say we will measure it.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18</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What is still wrong — say it before they find it</a:t>
            </a:r>
            <a:endParaRPr lang="en-US" sz="2700" dirty="0"/>
          </a:p>
        </p:txBody>
      </p:sp>
      <p:sp>
        <p:nvSpPr>
          <p:cNvPr id="5" name="Text 3"/>
          <p:cNvSpPr txBox="1"/>
          <p:nvPr/>
        </p:nvSpPr>
        <p:spPr>
          <a:xfrm>
            <a:off x="1069848" y="868680"/>
            <a:ext cx="10616184"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Volunteered limitations read as rigour. Discovered ones read as spin.</a:t>
            </a:r>
            <a:endParaRPr lang="en-US" sz="1300" dirty="0"/>
          </a:p>
        </p:txBody>
      </p:sp>
      <p:sp>
        <p:nvSpPr>
          <p:cNvPr id="6" name="Text 4"/>
          <p:cNvSpPr txBox="1"/>
          <p:nvPr/>
        </p:nvSpPr>
        <p:spPr>
          <a:xfrm>
            <a:off x="502920" y="1417320"/>
            <a:ext cx="6858000" cy="3108960"/>
          </a:xfrm>
          <a:prstGeom prst="rect">
            <a:avLst/>
          </a:prstGeom>
          <a:noFill/>
          <a:ln/>
        </p:spPr>
        <p:txBody>
          <a:bodyPr wrap="square" lIns="0" tIns="0" rIns="0" bIns="0" rtlCol="0" anchor="t"/>
          <a:lstStyle/>
          <a:p>
            <a:pPr marL="342900" indent="-342900">
              <a:lnSpc>
                <a:spcPct val="108000"/>
              </a:lnSpc>
              <a:buSzPct val="100000"/>
              <a:buChar char="•"/>
            </a:pPr>
            <a:r>
              <a:rPr lang="en-US" sz="1250" b="1" dirty="0">
                <a:solidFill>
                  <a:srgbClr val="12151B"/>
                </a:solidFill>
                <a:latin typeface="Arial" pitchFamily="34" charset="0"/>
                <a:ea typeface="Arial" pitchFamily="34" charset="-122"/>
                <a:cs typeface="Arial" pitchFamily="34" charset="-120"/>
              </a:rPr>
              <a:t>It is too cautious in dense traffic. </a:t>
            </a:r>
            <a:pPr indent="0" marL="0">
              <a:lnSpc>
                <a:spcPct val="108000"/>
              </a:lnSpc>
              <a:spcAft>
                <a:spcPts val="1000"/>
              </a:spcAft>
              <a:buNone/>
            </a:pPr>
            <a:r>
              <a:rPr lang="en-US" sz="1250" dirty="0">
                <a:solidFill>
                  <a:srgbClr val="1A1D23"/>
                </a:solidFill>
                <a:latin typeface="Arial" pitchFamily="34" charset="0"/>
                <a:ea typeface="Arial" pitchFamily="34" charset="-122"/>
                <a:cs typeface="Arial" pitchFamily="34" charset="-120"/>
              </a:rPr>
              <a:t>Mean route progress across all runs is 43%. On the hardest scenarios the vehicle spends much of the run stopped. We know why: from a standstill the sampled terminal speeds do not match what the acceleration limit can deliver over the sampled horizons, so the candidate fan is too narrow exactly when it needs to be wide.</a:t>
            </a:r>
            <a:endParaRPr lang="en-US" sz="1250" dirty="0"/>
          </a:p>
          <a:p>
            <a:pPr marL="342900" indent="-342900">
              <a:lnSpc>
                <a:spcPct val="108000"/>
              </a:lnSpc>
              <a:buSzPct val="100000"/>
              <a:buChar char="•"/>
            </a:pPr>
            <a:r>
              <a:rPr lang="en-US" sz="1250" b="1" dirty="0">
                <a:solidFill>
                  <a:srgbClr val="12151B"/>
                </a:solidFill>
                <a:latin typeface="Arial" pitchFamily="34" charset="0"/>
                <a:ea typeface="Arial" pitchFamily="34" charset="-122"/>
                <a:cs typeface="Arial" pitchFamily="34" charset="-120"/>
              </a:rPr>
              <a:t>Not every run is collision-free: 25 of 30. </a:t>
            </a:r>
            <a:pPr indent="0" marL="0">
              <a:lnSpc>
                <a:spcPct val="108000"/>
              </a:lnSpc>
              <a:spcAft>
                <a:spcPts val="1000"/>
              </a:spcAft>
              <a:buNone/>
            </a:pPr>
            <a:r>
              <a:rPr lang="en-US" sz="1250" dirty="0">
                <a:solidFill>
                  <a:srgbClr val="1A1D23"/>
                </a:solidFill>
                <a:latin typeface="Arial" pitchFamily="34" charset="0"/>
                <a:ea typeface="Arial" pitchFamily="34" charset="-122"/>
                <a:cs typeface="Arial" pitchFamily="34" charset="-120"/>
              </a:rPr>
              <a:t>Of the 5 contacts, 3 happened with the vehicle stationary and another road user driving into it; the rest we drove into and they are ours to fix. We report the split rather than the flattering half.</a:t>
            </a:r>
            <a:endParaRPr lang="en-US" sz="1250" dirty="0"/>
          </a:p>
          <a:p>
            <a:pPr marL="342900" indent="-342900">
              <a:lnSpc>
                <a:spcPct val="108000"/>
              </a:lnSpc>
              <a:buSzPct val="100000"/>
              <a:buChar char="•"/>
            </a:pPr>
            <a:r>
              <a:rPr lang="en-US" sz="1250" b="1" dirty="0">
                <a:solidFill>
                  <a:srgbClr val="12151B"/>
                </a:solidFill>
                <a:latin typeface="Arial" pitchFamily="34" charset="0"/>
                <a:ea typeface="Arial" pitchFamily="34" charset="-122"/>
                <a:cs typeface="Arial" pitchFamily="34" charset="-120"/>
              </a:rPr>
              <a:t>Prediction priors are hand-built, </a:t>
            </a:r>
            <a:pPr indent="0" marL="0">
              <a:lnSpc>
                <a:spcPct val="108000"/>
              </a:lnSpc>
              <a:spcAft>
                <a:spcPts val="1000"/>
              </a:spcAft>
              <a:buNone/>
            </a:pPr>
            <a:r>
              <a:rPr lang="en-US" sz="1250" dirty="0">
                <a:solidFill>
                  <a:srgbClr val="1A1D23"/>
                </a:solidFill>
                <a:latin typeface="Arial" pitchFamily="34" charset="0"/>
                <a:ea typeface="Arial" pitchFamily="34" charset="-122"/>
                <a:cs typeface="Arial" pitchFamily="34" charset="-120"/>
              </a:rPr>
              <a:t>not fitted to data. Defensible, but it is the first thing a research judge will push on.</a:t>
            </a:r>
            <a:endParaRPr lang="en-US" sz="1250" dirty="0"/>
          </a:p>
          <a:p>
            <a:pPr marL="342900" indent="-342900">
              <a:lnSpc>
                <a:spcPct val="108000"/>
              </a:lnSpc>
              <a:buSzPct val="100000"/>
              <a:buChar char="•"/>
            </a:pPr>
            <a:r>
              <a:rPr lang="en-US" sz="1250" b="1" dirty="0">
                <a:solidFill>
                  <a:srgbClr val="12151B"/>
                </a:solidFill>
                <a:latin typeface="Arial" pitchFamily="34" charset="0"/>
                <a:ea typeface="Arial" pitchFamily="34" charset="-122"/>
                <a:cs typeface="Arial" pitchFamily="34" charset="-120"/>
              </a:rPr>
              <a:t>The MATLAB port is a two-tier design. </a:t>
            </a:r>
            <a:pPr indent="0" marL="0">
              <a:lnSpc>
                <a:spcPct val="108000"/>
              </a:lnSpc>
              <a:spcAft>
                <a:spcPts val="1000"/>
              </a:spcAft>
              <a:buNone/>
            </a:pPr>
            <a:r>
              <a:rPr lang="en-US" sz="1250" dirty="0">
                <a:solidFill>
                  <a:srgbClr val="1A1D23"/>
                </a:solidFill>
                <a:latin typeface="Arial" pitchFamily="34" charset="0"/>
                <a:ea typeface="Arial" pitchFamily="34" charset="-122"/>
                <a:cs typeface="Arial" pitchFamily="34" charset="-120"/>
              </a:rPr>
              <a:t>Full toolchain where licensed, base products otherwise. Be straight about which tier we are demonstrating.</a:t>
            </a:r>
            <a:endParaRPr lang="en-US" sz="1250" dirty="0"/>
          </a:p>
        </p:txBody>
      </p:sp>
      <p:sp>
        <p:nvSpPr>
          <p:cNvPr id="7" name="Shape 5"/>
          <p:cNvSpPr/>
          <p:nvPr/>
        </p:nvSpPr>
        <p:spPr>
          <a:xfrm>
            <a:off x="502920" y="4617720"/>
            <a:ext cx="6858000" cy="1600200"/>
          </a:xfrm>
          <a:prstGeom prst="roundRect">
            <a:avLst>
              <a:gd name="adj" fmla="val 3429"/>
            </a:avLst>
          </a:prstGeom>
          <a:solidFill>
            <a:srgbClr val="F2F4F7"/>
          </a:solidFill>
          <a:ln w="12700">
            <a:solidFill>
              <a:srgbClr val="F2F4F7"/>
            </a:solidFill>
            <a:prstDash val="solid"/>
          </a:ln>
        </p:spPr>
      </p:sp>
      <p:sp>
        <p:nvSpPr>
          <p:cNvPr id="8" name="Text 6"/>
          <p:cNvSpPr txBox="1"/>
          <p:nvPr/>
        </p:nvSpPr>
        <p:spPr>
          <a:xfrm>
            <a:off x="667512" y="4736592"/>
            <a:ext cx="6528816" cy="136245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12151B"/>
                </a:solidFill>
                <a:latin typeface="Arial" pitchFamily="34" charset="0"/>
                <a:ea typeface="Arial" pitchFamily="34" charset="-122"/>
                <a:cs typeface="Arial" pitchFamily="34" charset="-120"/>
              </a:rPr>
              <a:t>If a judge says “so it doesn't really work yet”</a:t>
            </a:r>
            <a:endParaRPr lang="en-US" sz="1300" dirty="0"/>
          </a:p>
          <a:p>
            <a:pPr indent="0" marL="0">
              <a:lnSpc>
                <a:spcPct val="106000"/>
              </a:lnSpc>
              <a:spcAft>
                <a:spcPts val="400"/>
              </a:spcAft>
              <a:buNone/>
            </a:pPr>
            <a:r>
              <a:rPr lang="en-US" sz="1250" dirty="0">
                <a:solidFill>
                  <a:srgbClr val="1A1D23"/>
                </a:solidFill>
                <a:latin typeface="Arial" pitchFamily="34" charset="0"/>
                <a:ea typeface="Arial" pitchFamily="34" charset="-122"/>
                <a:cs typeface="Arial" pitchFamily="34" charset="-120"/>
              </a:rPr>
              <a:t>“It drives every scenario and it is collision-free in most runs. Where it is weak, it is weak by being slow rather than by being unsafe — which is the failure mode we chose. We can show you the exact cause on the screen right now, and the fix is a sampling change, not a rewrite.”</a:t>
            </a:r>
            <a:endParaRPr lang="en-US" sz="1300" dirty="0"/>
          </a:p>
        </p:txBody>
      </p:sp>
      <p:sp>
        <p:nvSpPr>
          <p:cNvPr id="9" name="Shape 7"/>
          <p:cNvSpPr/>
          <p:nvPr/>
        </p:nvSpPr>
        <p:spPr>
          <a:xfrm>
            <a:off x="7635240" y="1417320"/>
            <a:ext cx="4050792" cy="3108960"/>
          </a:xfrm>
          <a:prstGeom prst="roundRect">
            <a:avLst>
              <a:gd name="adj" fmla="val 1765"/>
            </a:avLst>
          </a:prstGeom>
          <a:solidFill>
            <a:srgbClr val="12151B"/>
          </a:solidFill>
          <a:ln w="12700">
            <a:solidFill>
              <a:srgbClr val="12151B"/>
            </a:solidFill>
            <a:prstDash val="solid"/>
          </a:ln>
        </p:spPr>
      </p:sp>
      <p:sp>
        <p:nvSpPr>
          <p:cNvPr id="10" name="Text 8"/>
          <p:cNvSpPr txBox="1"/>
          <p:nvPr/>
        </p:nvSpPr>
        <p:spPr>
          <a:xfrm>
            <a:off x="7799832" y="1536192"/>
            <a:ext cx="3721608" cy="287121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E8A33D"/>
                </a:solidFill>
                <a:latin typeface="Arial" pitchFamily="34" charset="0"/>
                <a:ea typeface="Arial" pitchFamily="34" charset="-122"/>
                <a:cs typeface="Arial" pitchFamily="34" charset="-120"/>
              </a:rPr>
              <a:t>The bug worth telling them about</a:t>
            </a:r>
            <a:endParaRPr lang="en-US" sz="1300" dirty="0"/>
          </a:p>
          <a:p>
            <a:pPr indent="0" marL="0">
              <a:lnSpc>
                <a:spcPct val="106000"/>
              </a:lnSpc>
              <a:spcAft>
                <a:spcPts val="400"/>
              </a:spcAft>
              <a:buNone/>
            </a:pPr>
            <a:r>
              <a:rPr lang="en-US" sz="1150" dirty="0">
                <a:solidFill>
                  <a:srgbClr val="E6E8EC"/>
                </a:solidFill>
                <a:latin typeface="Arial" pitchFamily="34" charset="0"/>
                <a:ea typeface="Arial" pitchFamily="34" charset="-122"/>
                <a:cs typeface="Arial" pitchFamily="34" charset="-120"/>
              </a:rPr>
              <a:t>The vehicle would not pull away from a stopped bus. Rather than tune the thresholds, we counted why each candidate trajectory was thrown away: at a standstill, 81 of 131 failed the acceleration limit and 49 failed curvature. One survived.</a:t>
            </a:r>
            <a:endParaRPr lang="en-US" sz="1300" dirty="0"/>
          </a:p>
          <a:p>
            <a:pPr indent="0" marL="0">
              <a:lnSpc>
                <a:spcPct val="106000"/>
              </a:lnSpc>
              <a:spcAft>
                <a:spcPts val="400"/>
              </a:spcAft>
              <a:buNone/>
            </a:pPr>
            <a:r>
              <a:rPr lang="en-US" sz="1150" dirty="0">
                <a:solidFill>
                  <a:srgbClr val="E6E8EC"/>
                </a:solidFill>
                <a:latin typeface="Arial" pitchFamily="34" charset="0"/>
                <a:ea typeface="Arial" pitchFamily="34" charset="-122"/>
                <a:cs typeface="Arial" pitchFamily="34" charset="-120"/>
              </a:rPr>
              <a:t>Both were our own doing — we were sampling terminal speeds the car cannot reach, and moving the lateral profile on the clock rather than on distance travelled.</a:t>
            </a:r>
            <a:endParaRPr lang="en-US" sz="1300" dirty="0"/>
          </a:p>
          <a:p>
            <a:pPr indent="0" marL="0">
              <a:lnSpc>
                <a:spcPct val="106000"/>
              </a:lnSpc>
              <a:spcAft>
                <a:spcPts val="400"/>
              </a:spcAft>
              <a:buNone/>
            </a:pPr>
            <a:r>
              <a:rPr lang="en-US" sz="1150" dirty="0">
                <a:solidFill>
                  <a:srgbClr val="E6E8EC"/>
                </a:solidFill>
                <a:latin typeface="Arial" pitchFamily="34" charset="0"/>
                <a:ea typeface="Arial" pitchFamily="34" charset="-122"/>
                <a:cs typeface="Arial" pitchFamily="34" charset="-120"/>
              </a:rPr>
              <a:t>Say this one out loud. It shows we debug by measuring, which is the thing most hackathon teams cannot demonstrate.</a:t>
            </a:r>
            <a:endParaRPr lang="en-US" sz="1300" dirty="0"/>
          </a:p>
        </p:txBody>
      </p:sp>
      <p:sp>
        <p:nvSpPr>
          <p:cNvPr id="11" name="Shape 9"/>
          <p:cNvSpPr/>
          <p:nvPr/>
        </p:nvSpPr>
        <p:spPr>
          <a:xfrm>
            <a:off x="7635240" y="4709160"/>
            <a:ext cx="4050792" cy="1371600"/>
          </a:xfrm>
          <a:prstGeom prst="roundRect">
            <a:avLst>
              <a:gd name="adj" fmla="val 4000"/>
            </a:avLst>
          </a:prstGeom>
          <a:solidFill>
            <a:srgbClr val="FBEEE9"/>
          </a:solidFill>
          <a:ln w="12700">
            <a:solidFill>
              <a:srgbClr val="FBEEE9"/>
            </a:solidFill>
            <a:prstDash val="solid"/>
          </a:ln>
        </p:spPr>
      </p:sp>
      <p:sp>
        <p:nvSpPr>
          <p:cNvPr id="12" name="Text 10"/>
          <p:cNvSpPr txBox="1"/>
          <p:nvPr/>
        </p:nvSpPr>
        <p:spPr>
          <a:xfrm>
            <a:off x="7799832" y="4828032"/>
            <a:ext cx="3721608" cy="113385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D2503C"/>
                </a:solidFill>
                <a:latin typeface="Arial" pitchFamily="34" charset="0"/>
                <a:ea typeface="Arial" pitchFamily="34" charset="-122"/>
                <a:cs typeface="Arial" pitchFamily="34" charset="-120"/>
              </a:rPr>
              <a:t>Never say</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“It always works.”</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“That's just a simulation artefact.”</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“We'll fix that later.” — say when, and how.</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19</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Q&amp;A drill — the twelve questions we will actually get</a:t>
            </a:r>
            <a:endParaRPr lang="en-US" sz="2700" dirty="0"/>
          </a:p>
        </p:txBody>
      </p:sp>
      <p:sp>
        <p:nvSpPr>
          <p:cNvPr id="5" name="Text 3"/>
          <p:cNvSpPr txBox="1"/>
          <p:nvPr/>
        </p:nvSpPr>
        <p:spPr>
          <a:xfrm>
            <a:off x="1069848" y="868680"/>
            <a:ext cx="10616184"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One sentence each. Learn the shape of the answer, not the words.</a:t>
            </a:r>
            <a:endParaRPr lang="en-US" sz="1300" dirty="0"/>
          </a:p>
        </p:txBody>
      </p:sp>
      <p:sp>
        <p:nvSpPr>
          <p:cNvPr id="6" name="Text 4"/>
          <p:cNvSpPr txBox="1"/>
          <p:nvPr/>
        </p:nvSpPr>
        <p:spPr>
          <a:xfrm>
            <a:off x="502920" y="1371600"/>
            <a:ext cx="5440680" cy="804672"/>
          </a:xfrm>
          <a:prstGeom prst="rect">
            <a:avLst/>
          </a:prstGeom>
          <a:noFill/>
          <a:ln/>
        </p:spPr>
        <p:txBody>
          <a:bodyPr wrap="square" lIns="0" tIns="0" rIns="0" bIns="0" rtlCol="0" anchor="t"/>
          <a:lstStyle/>
          <a:p>
            <a:pPr indent="0" marL="0">
              <a:lnSpc>
                <a:spcPct val="103000"/>
              </a:lnSpc>
              <a:buNone/>
            </a:pPr>
            <a:r>
              <a:rPr lang="en-US" sz="1100" b="1" dirty="0">
                <a:solidFill>
                  <a:srgbClr val="12151B"/>
                </a:solidFill>
                <a:latin typeface="Arial" pitchFamily="34" charset="0"/>
                <a:ea typeface="Arial" pitchFamily="34" charset="-122"/>
                <a:cs typeface="Arial" pitchFamily="34" charset="-120"/>
              </a:rPr>
              <a:t>Isn't this the Frenet planner from the ADT example?
</a:t>
            </a:r>
            <a:pPr indent="0" marL="0">
              <a:lnSpc>
                <a:spcPct val="103000"/>
              </a:lnSpc>
              <a:buNone/>
            </a:pPr>
            <a:r>
              <a:rPr lang="en-US" sz="1050" dirty="0">
                <a:solidFill>
                  <a:srgbClr val="1A1D23"/>
                </a:solidFill>
                <a:latin typeface="Arial" pitchFamily="34" charset="0"/>
                <a:ea typeface="Arial" pitchFamily="34" charset="-122"/>
                <a:cs typeface="Arial" pitchFamily="34" charset="-120"/>
              </a:rPr>
              <a:t>That example is one of our eight stages; the corridor and the risk field are what it does not have.</a:t>
            </a:r>
            <a:endParaRPr lang="en-US" sz="1100" dirty="0"/>
          </a:p>
        </p:txBody>
      </p:sp>
      <p:sp>
        <p:nvSpPr>
          <p:cNvPr id="7" name="Text 5"/>
          <p:cNvSpPr txBox="1"/>
          <p:nvPr/>
        </p:nvSpPr>
        <p:spPr>
          <a:xfrm>
            <a:off x="6263640" y="1371600"/>
            <a:ext cx="5440680" cy="804672"/>
          </a:xfrm>
          <a:prstGeom prst="rect">
            <a:avLst/>
          </a:prstGeom>
          <a:noFill/>
          <a:ln/>
        </p:spPr>
        <p:txBody>
          <a:bodyPr wrap="square" lIns="0" tIns="0" rIns="0" bIns="0" rtlCol="0" anchor="t"/>
          <a:lstStyle/>
          <a:p>
            <a:pPr indent="0" marL="0">
              <a:lnSpc>
                <a:spcPct val="103000"/>
              </a:lnSpc>
              <a:buNone/>
            </a:pPr>
            <a:r>
              <a:rPr lang="en-US" sz="1100" b="1" dirty="0">
                <a:solidFill>
                  <a:srgbClr val="12151B"/>
                </a:solidFill>
                <a:latin typeface="Arial" pitchFamily="34" charset="0"/>
                <a:ea typeface="Arial" pitchFamily="34" charset="-122"/>
                <a:cs typeface="Arial" pitchFamily="34" charset="-120"/>
              </a:rPr>
              <a:t>Why not end-to-end learning?
</a:t>
            </a:r>
            <a:pPr indent="0" marL="0">
              <a:lnSpc>
                <a:spcPct val="103000"/>
              </a:lnSpc>
              <a:buNone/>
            </a:pPr>
            <a:r>
              <a:rPr lang="en-US" sz="1050" dirty="0">
                <a:solidFill>
                  <a:srgbClr val="1A1D23"/>
                </a:solidFill>
                <a:latin typeface="Arial" pitchFamily="34" charset="0"/>
                <a:ea typeface="Arial" pitchFamily="34" charset="-122"/>
                <a:cs typeface="Arial" pitchFamily="34" charset="-120"/>
              </a:rPr>
              <a:t>No Indian dataset large enough to be safe, and no way to explain a failure to a regulator.</a:t>
            </a:r>
            <a:endParaRPr lang="en-US" sz="1100" dirty="0"/>
          </a:p>
        </p:txBody>
      </p:sp>
      <p:sp>
        <p:nvSpPr>
          <p:cNvPr id="8" name="Text 6"/>
          <p:cNvSpPr txBox="1"/>
          <p:nvPr/>
        </p:nvSpPr>
        <p:spPr>
          <a:xfrm>
            <a:off x="502920" y="2221992"/>
            <a:ext cx="5440680" cy="804672"/>
          </a:xfrm>
          <a:prstGeom prst="rect">
            <a:avLst/>
          </a:prstGeom>
          <a:noFill/>
          <a:ln/>
        </p:spPr>
        <p:txBody>
          <a:bodyPr wrap="square" lIns="0" tIns="0" rIns="0" bIns="0" rtlCol="0" anchor="t"/>
          <a:lstStyle/>
          <a:p>
            <a:pPr indent="0" marL="0">
              <a:lnSpc>
                <a:spcPct val="103000"/>
              </a:lnSpc>
              <a:buNone/>
            </a:pPr>
            <a:r>
              <a:rPr lang="en-US" sz="1100" b="1" dirty="0">
                <a:solidFill>
                  <a:srgbClr val="12151B"/>
                </a:solidFill>
                <a:latin typeface="Arial" pitchFamily="34" charset="0"/>
                <a:ea typeface="Arial" pitchFamily="34" charset="-122"/>
                <a:cs typeface="Arial" pitchFamily="34" charset="-120"/>
              </a:rPr>
              <a:t>Isn't your risk field just a blurred occupancy grid?
</a:t>
            </a:r>
            <a:pPr indent="0" marL="0">
              <a:lnSpc>
                <a:spcPct val="103000"/>
              </a:lnSpc>
              <a:buNone/>
            </a:pPr>
            <a:r>
              <a:rPr lang="en-US" sz="1050" dirty="0">
                <a:solidFill>
                  <a:srgbClr val="1A1D23"/>
                </a:solidFill>
                <a:latin typeface="Arial" pitchFamily="34" charset="0"/>
                <a:ea typeface="Arial" pitchFamily="34" charset="-122"/>
                <a:cs typeface="Arial" pitchFamily="34" charset="-120"/>
              </a:rPr>
              <a:t>It is class-conditioned, harm-weighted and indexed by time — a grid has none of those three.</a:t>
            </a:r>
            <a:endParaRPr lang="en-US" sz="1100" dirty="0"/>
          </a:p>
        </p:txBody>
      </p:sp>
      <p:sp>
        <p:nvSpPr>
          <p:cNvPr id="9" name="Text 7"/>
          <p:cNvSpPr txBox="1"/>
          <p:nvPr/>
        </p:nvSpPr>
        <p:spPr>
          <a:xfrm>
            <a:off x="6263640" y="2221992"/>
            <a:ext cx="5440680" cy="804672"/>
          </a:xfrm>
          <a:prstGeom prst="rect">
            <a:avLst/>
          </a:prstGeom>
          <a:noFill/>
          <a:ln/>
        </p:spPr>
        <p:txBody>
          <a:bodyPr wrap="square" lIns="0" tIns="0" rIns="0" bIns="0" rtlCol="0" anchor="t"/>
          <a:lstStyle/>
          <a:p>
            <a:pPr indent="0" marL="0">
              <a:lnSpc>
                <a:spcPct val="103000"/>
              </a:lnSpc>
              <a:buNone/>
            </a:pPr>
            <a:r>
              <a:rPr lang="en-US" sz="1100" b="1" dirty="0">
                <a:solidFill>
                  <a:srgbClr val="12151B"/>
                </a:solidFill>
                <a:latin typeface="Arial" pitchFamily="34" charset="0"/>
                <a:ea typeface="Arial" pitchFamily="34" charset="-122"/>
                <a:cs typeface="Arial" pitchFamily="34" charset="-120"/>
              </a:rPr>
              <a:t>What if perception is wrong?
</a:t>
            </a:r>
            <a:pPr indent="0" marL="0">
              <a:lnSpc>
                <a:spcPct val="103000"/>
              </a:lnSpc>
              <a:buNone/>
            </a:pPr>
            <a:r>
              <a:rPr lang="en-US" sz="1050" dirty="0">
                <a:solidFill>
                  <a:srgbClr val="1A1D23"/>
                </a:solidFill>
                <a:latin typeface="Arial" pitchFamily="34" charset="0"/>
                <a:ea typeface="Arial" pitchFamily="34" charset="-122"/>
                <a:cs typeface="Arial" pitchFamily="34" charset="-120"/>
              </a:rPr>
              <a:t>It is wrong, deliberately, in every run: noise, dropout, occlusion and class confusion are all on.</a:t>
            </a:r>
            <a:endParaRPr lang="en-US" sz="1100" dirty="0"/>
          </a:p>
        </p:txBody>
      </p:sp>
      <p:sp>
        <p:nvSpPr>
          <p:cNvPr id="10" name="Text 8"/>
          <p:cNvSpPr txBox="1"/>
          <p:nvPr/>
        </p:nvSpPr>
        <p:spPr>
          <a:xfrm>
            <a:off x="502920" y="3072384"/>
            <a:ext cx="5440680" cy="804672"/>
          </a:xfrm>
          <a:prstGeom prst="rect">
            <a:avLst/>
          </a:prstGeom>
          <a:noFill/>
          <a:ln/>
        </p:spPr>
        <p:txBody>
          <a:bodyPr wrap="square" lIns="0" tIns="0" rIns="0" bIns="0" rtlCol="0" anchor="t"/>
          <a:lstStyle/>
          <a:p>
            <a:pPr indent="0" marL="0">
              <a:lnSpc>
                <a:spcPct val="103000"/>
              </a:lnSpc>
              <a:buNone/>
            </a:pPr>
            <a:r>
              <a:rPr lang="en-US" sz="1100" b="1" dirty="0">
                <a:solidFill>
                  <a:srgbClr val="12151B"/>
                </a:solidFill>
                <a:latin typeface="Arial" pitchFamily="34" charset="0"/>
                <a:ea typeface="Arial" pitchFamily="34" charset="-122"/>
                <a:cs typeface="Arial" pitchFamily="34" charset="-120"/>
              </a:rPr>
              <a:t>RSS assumes others follow RSS.
</a:t>
            </a:r>
            <a:pPr indent="0" marL="0">
              <a:lnSpc>
                <a:spcPct val="103000"/>
              </a:lnSpc>
              <a:buNone/>
            </a:pPr>
            <a:r>
              <a:rPr lang="en-US" sz="1050" dirty="0">
                <a:solidFill>
                  <a:srgbClr val="1A1D23"/>
                </a:solidFill>
                <a:latin typeface="Arial" pitchFamily="34" charset="0"/>
                <a:ea typeface="Arial" pitchFamily="34" charset="-122"/>
                <a:cs typeface="Arial" pitchFamily="34" charset="-120"/>
              </a:rPr>
              <a:t>We use it as a bound on our own behaviour; theirs is handled by worst-plausible-case prediction.</a:t>
            </a:r>
            <a:endParaRPr lang="en-US" sz="1100" dirty="0"/>
          </a:p>
        </p:txBody>
      </p:sp>
      <p:sp>
        <p:nvSpPr>
          <p:cNvPr id="11" name="Text 9"/>
          <p:cNvSpPr txBox="1"/>
          <p:nvPr/>
        </p:nvSpPr>
        <p:spPr>
          <a:xfrm>
            <a:off x="6263640" y="3072384"/>
            <a:ext cx="5440680" cy="804672"/>
          </a:xfrm>
          <a:prstGeom prst="rect">
            <a:avLst/>
          </a:prstGeom>
          <a:noFill/>
          <a:ln/>
        </p:spPr>
        <p:txBody>
          <a:bodyPr wrap="square" lIns="0" tIns="0" rIns="0" bIns="0" rtlCol="0" anchor="t"/>
          <a:lstStyle/>
          <a:p>
            <a:pPr indent="0" marL="0">
              <a:lnSpc>
                <a:spcPct val="103000"/>
              </a:lnSpc>
              <a:buNone/>
            </a:pPr>
            <a:r>
              <a:rPr lang="en-US" sz="1100" b="1" dirty="0">
                <a:solidFill>
                  <a:srgbClr val="12151B"/>
                </a:solidFill>
                <a:latin typeface="Arial" pitchFamily="34" charset="0"/>
                <a:ea typeface="Arial" pitchFamily="34" charset="-122"/>
                <a:cs typeface="Arial" pitchFamily="34" charset="-120"/>
              </a:rPr>
              <a:t>Why does it stop so often?
</a:t>
            </a:r>
            <a:pPr indent="0" marL="0">
              <a:lnSpc>
                <a:spcPct val="103000"/>
              </a:lnSpc>
              <a:buNone/>
            </a:pPr>
            <a:r>
              <a:rPr lang="en-US" sz="1050" dirty="0">
                <a:solidFill>
                  <a:srgbClr val="1A1D23"/>
                </a:solidFill>
                <a:latin typeface="Arial" pitchFamily="34" charset="0"/>
                <a:ea typeface="Arial" pitchFamily="34" charset="-122"/>
                <a:cs typeface="Arial" pitchFamily="34" charset="-120"/>
              </a:rPr>
              <a:t>It was, badly; we found the sampling cause by counting rejected candidates — slide 12.</a:t>
            </a:r>
            <a:endParaRPr lang="en-US" sz="1100" dirty="0"/>
          </a:p>
        </p:txBody>
      </p:sp>
      <p:sp>
        <p:nvSpPr>
          <p:cNvPr id="12" name="Text 10"/>
          <p:cNvSpPr txBox="1"/>
          <p:nvPr/>
        </p:nvSpPr>
        <p:spPr>
          <a:xfrm>
            <a:off x="502920" y="3922776"/>
            <a:ext cx="5440680" cy="804672"/>
          </a:xfrm>
          <a:prstGeom prst="rect">
            <a:avLst/>
          </a:prstGeom>
          <a:noFill/>
          <a:ln/>
        </p:spPr>
        <p:txBody>
          <a:bodyPr wrap="square" lIns="0" tIns="0" rIns="0" bIns="0" rtlCol="0" anchor="t"/>
          <a:lstStyle/>
          <a:p>
            <a:pPr indent="0" marL="0">
              <a:lnSpc>
                <a:spcPct val="103000"/>
              </a:lnSpc>
              <a:buNone/>
            </a:pPr>
            <a:r>
              <a:rPr lang="en-US" sz="1100" b="1" dirty="0">
                <a:solidFill>
                  <a:srgbClr val="12151B"/>
                </a:solidFill>
                <a:latin typeface="Arial" pitchFamily="34" charset="0"/>
                <a:ea typeface="Arial" pitchFamily="34" charset="-122"/>
                <a:cs typeface="Arial" pitchFamily="34" charset="-120"/>
              </a:rPr>
              <a:t>Would this run on a real vehicle?
</a:t>
            </a:r>
            <a:pPr indent="0" marL="0">
              <a:lnSpc>
                <a:spcPct val="103000"/>
              </a:lnSpc>
              <a:buNone/>
            </a:pPr>
            <a:r>
              <a:rPr lang="en-US" sz="1050" dirty="0">
                <a:solidFill>
                  <a:srgbClr val="1A1D23"/>
                </a:solidFill>
                <a:latin typeface="Arial" pitchFamily="34" charset="0"/>
                <a:ea typeface="Arial" pitchFamily="34" charset="-122"/>
                <a:cs typeface="Arial" pitchFamily="34" charset="-120"/>
              </a:rPr>
              <a:t>20 Hz on a laptop CPU with no GPU; the gap to a vehicle is sensors and integration, not compute.</a:t>
            </a:r>
            <a:endParaRPr lang="en-US" sz="1100" dirty="0"/>
          </a:p>
        </p:txBody>
      </p:sp>
      <p:sp>
        <p:nvSpPr>
          <p:cNvPr id="13" name="Text 11"/>
          <p:cNvSpPr txBox="1"/>
          <p:nvPr/>
        </p:nvSpPr>
        <p:spPr>
          <a:xfrm>
            <a:off x="6263640" y="3922776"/>
            <a:ext cx="5440680" cy="804672"/>
          </a:xfrm>
          <a:prstGeom prst="rect">
            <a:avLst/>
          </a:prstGeom>
          <a:noFill/>
          <a:ln/>
        </p:spPr>
        <p:txBody>
          <a:bodyPr wrap="square" lIns="0" tIns="0" rIns="0" bIns="0" rtlCol="0" anchor="t"/>
          <a:lstStyle/>
          <a:p>
            <a:pPr indent="0" marL="0">
              <a:lnSpc>
                <a:spcPct val="103000"/>
              </a:lnSpc>
              <a:buNone/>
            </a:pPr>
            <a:r>
              <a:rPr lang="en-US" sz="1100" b="1" dirty="0">
                <a:solidFill>
                  <a:srgbClr val="12151B"/>
                </a:solidFill>
                <a:latin typeface="Arial" pitchFamily="34" charset="0"/>
                <a:ea typeface="Arial" pitchFamily="34" charset="-122"/>
                <a:cs typeface="Arial" pitchFamily="34" charset="-120"/>
              </a:rPr>
              <a:t>What is Indian about it, specifically?
</a:t>
            </a:r>
            <a:pPr indent="0" marL="0">
              <a:lnSpc>
                <a:spcPct val="103000"/>
              </a:lnSpc>
              <a:buNone/>
            </a:pPr>
            <a:r>
              <a:rPr lang="en-US" sz="1050" dirty="0">
                <a:solidFill>
                  <a:srgbClr val="1A1D23"/>
                </a:solidFill>
                <a:latin typeface="Arial" pitchFamily="34" charset="0"/>
                <a:ea typeface="Arial" pitchFamily="34" charset="-122"/>
                <a:cs typeface="Arial" pitchFamily="34" charset="-120"/>
              </a:rPr>
              <a:t>Twelve road-user classes, non-lane-based following, wrong-way riders, cattle, and gap acceptance recalibrated.</a:t>
            </a:r>
            <a:endParaRPr lang="en-US" sz="1100" dirty="0"/>
          </a:p>
        </p:txBody>
      </p:sp>
      <p:sp>
        <p:nvSpPr>
          <p:cNvPr id="14" name="Text 12"/>
          <p:cNvSpPr txBox="1"/>
          <p:nvPr/>
        </p:nvSpPr>
        <p:spPr>
          <a:xfrm>
            <a:off x="502920" y="4773168"/>
            <a:ext cx="5440680" cy="804672"/>
          </a:xfrm>
          <a:prstGeom prst="rect">
            <a:avLst/>
          </a:prstGeom>
          <a:noFill/>
          <a:ln/>
        </p:spPr>
        <p:txBody>
          <a:bodyPr wrap="square" lIns="0" tIns="0" rIns="0" bIns="0" rtlCol="0" anchor="t"/>
          <a:lstStyle/>
          <a:p>
            <a:pPr indent="0" marL="0">
              <a:lnSpc>
                <a:spcPct val="103000"/>
              </a:lnSpc>
              <a:buNone/>
            </a:pPr>
            <a:r>
              <a:rPr lang="en-US" sz="1100" b="1" dirty="0">
                <a:solidFill>
                  <a:srgbClr val="12151B"/>
                </a:solidFill>
                <a:latin typeface="Arial" pitchFamily="34" charset="0"/>
                <a:ea typeface="Arial" pitchFamily="34" charset="-122"/>
                <a:cs typeface="Arial" pitchFamily="34" charset="-120"/>
              </a:rPr>
              <a:t>Where is the MATLAB?
</a:t>
            </a:r>
            <a:pPr indent="0" marL="0">
              <a:lnSpc>
                <a:spcPct val="103000"/>
              </a:lnSpc>
              <a:buNone/>
            </a:pPr>
            <a:r>
              <a:rPr lang="en-US" sz="1050" dirty="0">
                <a:solidFill>
                  <a:srgbClr val="1A1D23"/>
                </a:solidFill>
                <a:latin typeface="Arial" pitchFamily="34" charset="0"/>
                <a:ea typeface="Arial" pitchFamily="34" charset="-122"/>
                <a:cs typeface="Arial" pitchFamily="34" charset="-120"/>
              </a:rPr>
              <a:t>The behaviour machine is Stateflow-shaped by design and the same scenario files drive both runtimes.</a:t>
            </a:r>
            <a:endParaRPr lang="en-US" sz="1100" dirty="0"/>
          </a:p>
        </p:txBody>
      </p:sp>
      <p:sp>
        <p:nvSpPr>
          <p:cNvPr id="15" name="Text 13"/>
          <p:cNvSpPr txBox="1"/>
          <p:nvPr/>
        </p:nvSpPr>
        <p:spPr>
          <a:xfrm>
            <a:off x="6263640" y="4773168"/>
            <a:ext cx="5440680" cy="804672"/>
          </a:xfrm>
          <a:prstGeom prst="rect">
            <a:avLst/>
          </a:prstGeom>
          <a:noFill/>
          <a:ln/>
        </p:spPr>
        <p:txBody>
          <a:bodyPr wrap="square" lIns="0" tIns="0" rIns="0" bIns="0" rtlCol="0" anchor="t"/>
          <a:lstStyle/>
          <a:p>
            <a:pPr indent="0" marL="0">
              <a:lnSpc>
                <a:spcPct val="103000"/>
              </a:lnSpc>
              <a:buNone/>
            </a:pPr>
            <a:r>
              <a:rPr lang="en-US" sz="1100" b="1" dirty="0">
                <a:solidFill>
                  <a:srgbClr val="12151B"/>
                </a:solidFill>
                <a:latin typeface="Arial" pitchFamily="34" charset="0"/>
                <a:ea typeface="Arial" pitchFamily="34" charset="-122"/>
                <a:cs typeface="Arial" pitchFamily="34" charset="-120"/>
              </a:rPr>
              <a:t>How do we know your numbers?
</a:t>
            </a:r>
            <a:pPr indent="0" marL="0">
              <a:lnSpc>
                <a:spcPct val="103000"/>
              </a:lnSpc>
              <a:buNone/>
            </a:pPr>
            <a:r>
              <a:rPr lang="en-US" sz="1050" dirty="0">
                <a:solidFill>
                  <a:srgbClr val="1A1D23"/>
                </a:solidFill>
                <a:latin typeface="Arial" pitchFamily="34" charset="0"/>
                <a:ea typeface="Arial" pitchFamily="34" charset="-122"/>
                <a:cs typeface="Arial" pitchFamily="34" charset="-120"/>
              </a:rPr>
              <a:t>One committed script produces them; both controllers see identical seeds and identical sensor noise.</a:t>
            </a:r>
            <a:endParaRPr lang="en-US" sz="1100" dirty="0"/>
          </a:p>
        </p:txBody>
      </p:sp>
      <p:sp>
        <p:nvSpPr>
          <p:cNvPr id="16" name="Text 14"/>
          <p:cNvSpPr txBox="1"/>
          <p:nvPr/>
        </p:nvSpPr>
        <p:spPr>
          <a:xfrm>
            <a:off x="502920" y="5623560"/>
            <a:ext cx="5440680" cy="804672"/>
          </a:xfrm>
          <a:prstGeom prst="rect">
            <a:avLst/>
          </a:prstGeom>
          <a:noFill/>
          <a:ln/>
        </p:spPr>
        <p:txBody>
          <a:bodyPr wrap="square" lIns="0" tIns="0" rIns="0" bIns="0" rtlCol="0" anchor="t"/>
          <a:lstStyle/>
          <a:p>
            <a:pPr indent="0" marL="0">
              <a:lnSpc>
                <a:spcPct val="103000"/>
              </a:lnSpc>
              <a:buNone/>
            </a:pPr>
            <a:r>
              <a:rPr lang="en-US" sz="1100" b="1" dirty="0">
                <a:solidFill>
                  <a:srgbClr val="12151B"/>
                </a:solidFill>
                <a:latin typeface="Arial" pitchFamily="34" charset="0"/>
                <a:ea typeface="Arial" pitchFamily="34" charset="-122"/>
                <a:cs typeface="Arial" pitchFamily="34" charset="-120"/>
              </a:rPr>
              <a:t>What broke, and how did you find it?
</a:t>
            </a:r>
            <a:pPr indent="0" marL="0">
              <a:lnSpc>
                <a:spcPct val="103000"/>
              </a:lnSpc>
              <a:buNone/>
            </a:pPr>
            <a:r>
              <a:rPr lang="en-US" sz="1050" dirty="0">
                <a:solidFill>
                  <a:srgbClr val="1A1D23"/>
                </a:solidFill>
                <a:latin typeface="Arial" pitchFamily="34" charset="0"/>
                <a:ea typeface="Arial" pitchFamily="34" charset="-122"/>
                <a:cs typeface="Arial" pitchFamily="34" charset="-120"/>
              </a:rPr>
              <a:t>The rotating-kernel bug — found by measuring predicted heading against actual, not by staring at it.</a:t>
            </a:r>
            <a:endParaRPr lang="en-US" sz="1100" dirty="0"/>
          </a:p>
        </p:txBody>
      </p:sp>
      <p:sp>
        <p:nvSpPr>
          <p:cNvPr id="17" name="Text 15"/>
          <p:cNvSpPr txBox="1"/>
          <p:nvPr/>
        </p:nvSpPr>
        <p:spPr>
          <a:xfrm>
            <a:off x="6263640" y="5623560"/>
            <a:ext cx="5440680" cy="804672"/>
          </a:xfrm>
          <a:prstGeom prst="rect">
            <a:avLst/>
          </a:prstGeom>
          <a:noFill/>
          <a:ln/>
        </p:spPr>
        <p:txBody>
          <a:bodyPr wrap="square" lIns="0" tIns="0" rIns="0" bIns="0" rtlCol="0" anchor="t"/>
          <a:lstStyle/>
          <a:p>
            <a:pPr indent="0" marL="0">
              <a:lnSpc>
                <a:spcPct val="103000"/>
              </a:lnSpc>
              <a:buNone/>
            </a:pPr>
            <a:r>
              <a:rPr lang="en-US" sz="1100" b="1" dirty="0">
                <a:solidFill>
                  <a:srgbClr val="12151B"/>
                </a:solidFill>
                <a:latin typeface="Arial" pitchFamily="34" charset="0"/>
                <a:ea typeface="Arial" pitchFamily="34" charset="-122"/>
                <a:cs typeface="Arial" pitchFamily="34" charset="-120"/>
              </a:rPr>
              <a:t>What would you do with three more months?
</a:t>
            </a:r>
            <a:pPr indent="0" marL="0">
              <a:lnSpc>
                <a:spcPct val="103000"/>
              </a:lnSpc>
              <a:buNone/>
            </a:pPr>
            <a:r>
              <a:rPr lang="en-US" sz="1050" dirty="0">
                <a:solidFill>
                  <a:srgbClr val="1A1D23"/>
                </a:solidFill>
                <a:latin typeface="Arial" pitchFamily="34" charset="0"/>
                <a:ea typeface="Arial" pitchFamily="34" charset="-122"/>
                <a:cs typeface="Arial" pitchFamily="34" charset="-120"/>
              </a:rPr>
              <a:t>Fit prediction priors to IDD, fix the standstill sampling, and put the whole loop in Simulink.</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20</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Who owns what — and what they hand in</a:t>
            </a:r>
            <a:endParaRPr lang="en-US" sz="2700" dirty="0"/>
          </a:p>
        </p:txBody>
      </p:sp>
      <p:sp>
        <p:nvSpPr>
          <p:cNvPr id="5" name="Text 3"/>
          <p:cNvSpPr txBox="1"/>
          <p:nvPr/>
        </p:nvSpPr>
        <p:spPr>
          <a:xfrm>
            <a:off x="1069848" y="868680"/>
            <a:ext cx="10616184" cy="329184"/>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There are no fillers. Roughly half the marked deliverable is not planning code.</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7406640" cy="914400"/>
        </p:xfrm>
        <a:graphic>
          <a:graphicData uri="http://schemas.openxmlformats.org/drawingml/2006/table">
            <a:tbl>
              <a:tblPr/>
              <a:tblGrid>
                <a:gridCol w="640080"/>
                <a:gridCol w="1737360"/>
                <a:gridCol w="4023360"/>
                <a:gridCol w="1005840"/>
              </a:tblGrid>
              <a:tr h="457200">
                <a:tc>
                  <a:txBody>
                    <a:bodyPr/>
                    <a:lstStyle/>
                    <a:p>
                      <a:pPr indent="0" marL="0">
                        <a:buNone/>
                      </a:pPr>
                      <a:r>
                        <a:rPr lang="en-US" sz="1050" b="1" dirty="0">
                          <a:solidFill>
                            <a:srgbClr val="FFFFFF"/>
                          </a:solidFill>
                          <a:latin typeface="Arial" pitchFamily="34" charset="0"/>
                          <a:ea typeface="Arial" pitchFamily="34" charset="-122"/>
                          <a:cs typeface="Arial" pitchFamily="34" charset="-120"/>
                        </a:rPr>
                        <a:t>Who</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12151B"/>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Role</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12151B"/>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Owns</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12151B"/>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Codes?</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12151B"/>
                    </a:solidFill>
                  </a:tcPr>
                </a:tc>
              </a:tr>
              <a:tr h="457200">
                <a:tc>
                  <a:txBody>
                    <a:bodyPr/>
                    <a:lstStyle/>
                    <a:p>
                      <a:pPr indent="0" marL="0">
                        <a:buNone/>
                      </a:pPr>
                      <a:r>
                        <a:rPr lang="en-US" sz="1050" b="1" dirty="0">
                          <a:solidFill>
                            <a:srgbClr val="12151B"/>
                          </a:solidFill>
                          <a:latin typeface="Arial" pitchFamily="34" charset="0"/>
                          <a:ea typeface="Arial" pitchFamily="34" charset="-122"/>
                          <a:cs typeface="Arial" pitchFamily="34" charset="-120"/>
                        </a:rPr>
                        <a:t>B1</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Planning lead</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planning/, safety/, the lattice and the supervisor</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2151B"/>
                          </a:solidFill>
                          <a:latin typeface="Arial" pitchFamily="34" charset="0"/>
                          <a:ea typeface="Arial" pitchFamily="34" charset="-122"/>
                          <a:cs typeface="Arial" pitchFamily="34" charset="-120"/>
                        </a:rPr>
                        <a:t>B2</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Perception + platform</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perception/, prediction/, Mission Control, MATLAB port</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r>
              <a:tr h="457200">
                <a:tc>
                  <a:txBody>
                    <a:bodyPr/>
                    <a:lstStyle/>
                    <a:p>
                      <a:pPr indent="0" marL="0">
                        <a:buNone/>
                      </a:pPr>
                      <a:r>
                        <a:rPr lang="en-US" sz="1050" b="1" dirty="0">
                          <a:solidFill>
                            <a:srgbClr val="12151B"/>
                          </a:solidFill>
                          <a:latin typeface="Arial" pitchFamily="34" charset="0"/>
                          <a:ea typeface="Arial" pitchFamily="34" charset="-122"/>
                          <a:cs typeface="Arial" pitchFamily="34" charset="-120"/>
                        </a:rPr>
                        <a:t>O1</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Licence + RoadRunner</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MathWorks liaison, then the two RoadRunner scenes</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2151B"/>
                          </a:solidFill>
                          <a:latin typeface="Arial" pitchFamily="34" charset="0"/>
                          <a:ea typeface="Arial" pitchFamily="34" charset="-122"/>
                          <a:cs typeface="Arial" pitchFamily="34" charset="-120"/>
                        </a:rPr>
                        <a:t>O2</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Scenario director</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Every scenario spec — geometry, agents, realism</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YAML</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r>
              <a:tr h="457200">
                <a:tc>
                  <a:txBody>
                    <a:bodyPr/>
                    <a:lstStyle/>
                    <a:p>
                      <a:pPr indent="0" marL="0">
                        <a:buNone/>
                      </a:pPr>
                      <a:r>
                        <a:rPr lang="en-US" sz="1050" b="1" dirty="0">
                          <a:solidFill>
                            <a:srgbClr val="12151B"/>
                          </a:solidFill>
                          <a:latin typeface="Arial" pitchFamily="34" charset="0"/>
                          <a:ea typeface="Arial" pitchFamily="34" charset="-122"/>
                          <a:cs typeface="Arial" pitchFamily="34" charset="-120"/>
                        </a:rPr>
                        <a:t>O3</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Data + evidence</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IDD taxonomy, the benchmark campaign, every table and plot</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Scripts</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2151B"/>
                          </a:solidFill>
                          <a:latin typeface="Arial" pitchFamily="34" charset="0"/>
                          <a:ea typeface="Arial" pitchFamily="34" charset="-122"/>
                          <a:cs typeface="Arial" pitchFamily="34" charset="-120"/>
                        </a:rPr>
                        <a:t>O4</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Narrative</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Report, decks, video, and the pitch itself</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c>
                  <a:txBody>
                    <a:bodyPr/>
                    <a:lstStyle/>
                    <a:p>
                      <a:pPr indent="0" marL="0">
                        <a:buNone/>
                      </a:pPr>
                      <a:r>
                        <a:rPr lang="en-US" sz="1050" dirty="0">
                          <a:solidFill>
                            <a:srgbClr val="1A1D23"/>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76200" marR="76200" marT="38100" marB="38100"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2F4F7"/>
                    </a:solidFill>
                  </a:tcPr>
                </a:tc>
              </a:tr>
            </a:tbl>
          </a:graphicData>
        </a:graphic>
      </p:graphicFrame>
      <p:sp>
        <p:nvSpPr>
          <p:cNvPr id="7" name="Shape 4"/>
          <p:cNvSpPr/>
          <p:nvPr/>
        </p:nvSpPr>
        <p:spPr>
          <a:xfrm>
            <a:off x="502920" y="4617720"/>
            <a:ext cx="7406640" cy="1552702"/>
          </a:xfrm>
          <a:prstGeom prst="roundRect">
            <a:avLst>
              <a:gd name="adj" fmla="val 3533"/>
            </a:avLst>
          </a:prstGeom>
          <a:solidFill>
            <a:srgbClr val="F2F4F7"/>
          </a:solidFill>
          <a:ln w="12700">
            <a:solidFill>
              <a:srgbClr val="F2F4F7"/>
            </a:solidFill>
            <a:prstDash val="solid"/>
          </a:ln>
        </p:spPr>
      </p:sp>
      <p:sp>
        <p:nvSpPr>
          <p:cNvPr id="8" name="Text 5"/>
          <p:cNvSpPr txBox="1"/>
          <p:nvPr/>
        </p:nvSpPr>
        <p:spPr>
          <a:xfrm>
            <a:off x="667512" y="4736592"/>
            <a:ext cx="7077456" cy="1314958"/>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12151B"/>
                </a:solidFill>
                <a:latin typeface="Arial" pitchFamily="34" charset="0"/>
                <a:ea typeface="Arial" pitchFamily="34" charset="-122"/>
                <a:cs typeface="Arial" pitchFamily="34" charset="-120"/>
              </a:rPr>
              <a:t>The hand-ins, not the job titles</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O1 — two RoadRunner scenes, exported and committed, plus a licence-status note.</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O2 — ten scenario specs, and the stress variants of each.</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O3 — the benchmark campaign, and every table and plot in the report.</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O4 — the report, both decks, the video, and the three-minute pitch.</a:t>
            </a:r>
            <a:endParaRPr lang="en-US" sz="1300" dirty="0"/>
          </a:p>
        </p:txBody>
      </p:sp>
      <p:sp>
        <p:nvSpPr>
          <p:cNvPr id="9" name="Shape 6"/>
          <p:cNvSpPr/>
          <p:nvPr/>
        </p:nvSpPr>
        <p:spPr>
          <a:xfrm>
            <a:off x="8138160" y="1417320"/>
            <a:ext cx="3547872" cy="2286000"/>
          </a:xfrm>
          <a:prstGeom prst="roundRect">
            <a:avLst>
              <a:gd name="adj" fmla="val 2400"/>
            </a:avLst>
          </a:prstGeom>
          <a:solidFill>
            <a:srgbClr val="F2F4F7"/>
          </a:solidFill>
          <a:ln w="12700">
            <a:solidFill>
              <a:srgbClr val="F2F4F7"/>
            </a:solidFill>
            <a:prstDash val="solid"/>
          </a:ln>
        </p:spPr>
      </p:sp>
      <p:sp>
        <p:nvSpPr>
          <p:cNvPr id="10" name="Text 7"/>
          <p:cNvSpPr txBox="1"/>
          <p:nvPr/>
        </p:nvSpPr>
        <p:spPr>
          <a:xfrm>
            <a:off x="8302752" y="1536192"/>
            <a:ext cx="3218688" cy="204825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12151B"/>
                </a:solidFill>
                <a:latin typeface="Arial" pitchFamily="34" charset="0"/>
                <a:ea typeface="Arial" pitchFamily="34" charset="-122"/>
                <a:cs typeface="Arial" pitchFamily="34" charset="-120"/>
              </a:rPr>
              <a:t>Critical path</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O2's scenarios unblock B1, O1 and O3 — they come first.</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O1 starts the licence request today, and a 30-day trial in parallel.</a:t>
            </a:r>
            <a:endParaRPr lang="en-US" sz="1300" dirty="0"/>
          </a:p>
          <a:p>
            <a:pPr marL="342900" indent="-342900">
              <a:lnSpc>
                <a:spcPct val="106000"/>
              </a:lnSpc>
              <a:spcAft>
                <a:spcPts val="400"/>
              </a:spcAft>
              <a:buSzPct val="100000"/>
              <a:buChar char="•"/>
            </a:pPr>
            <a:r>
              <a:rPr lang="en-US" sz="1150" dirty="0">
                <a:solidFill>
                  <a:srgbClr val="1A1D23"/>
                </a:solidFill>
                <a:latin typeface="Arial" pitchFamily="34" charset="0"/>
                <a:ea typeface="Arial" pitchFamily="34" charset="-122"/>
                <a:cs typeface="Arial" pitchFamily="34" charset="-120"/>
              </a:rPr>
              <a:t>Nobody waits on anybody else to start.</a:t>
            </a:r>
            <a:endParaRPr lang="en-US" sz="1300" dirty="0"/>
          </a:p>
        </p:txBody>
      </p:sp>
      <p:sp>
        <p:nvSpPr>
          <p:cNvPr id="11" name="Shape 8"/>
          <p:cNvSpPr/>
          <p:nvPr/>
        </p:nvSpPr>
        <p:spPr>
          <a:xfrm>
            <a:off x="8138160" y="3886200"/>
            <a:ext cx="3547872" cy="2194560"/>
          </a:xfrm>
          <a:prstGeom prst="roundRect">
            <a:avLst>
              <a:gd name="adj" fmla="val 2500"/>
            </a:avLst>
          </a:prstGeom>
          <a:solidFill>
            <a:srgbClr val="12151B"/>
          </a:solidFill>
          <a:ln w="12700">
            <a:solidFill>
              <a:srgbClr val="12151B"/>
            </a:solidFill>
            <a:prstDash val="solid"/>
          </a:ln>
        </p:spPr>
      </p:sp>
      <p:sp>
        <p:nvSpPr>
          <p:cNvPr id="12" name="Text 9"/>
          <p:cNvSpPr txBox="1"/>
          <p:nvPr/>
        </p:nvSpPr>
        <p:spPr>
          <a:xfrm>
            <a:off x="8302752" y="4005072"/>
            <a:ext cx="3218688" cy="1956816"/>
          </a:xfrm>
          <a:prstGeom prst="rect">
            <a:avLst/>
          </a:prstGeom>
          <a:noFill/>
          <a:ln/>
        </p:spPr>
        <p:txBody>
          <a:bodyPr wrap="square" lIns="0" tIns="0" rIns="0" bIns="0" rtlCol="0" anchor="t"/>
          <a:lstStyle/>
          <a:p>
            <a:pPr indent="0" marL="0">
              <a:lnSpc>
                <a:spcPct val="106000"/>
              </a:lnSpc>
              <a:spcAft>
                <a:spcPts val="400"/>
              </a:spcAft>
              <a:buNone/>
            </a:pPr>
            <a:r>
              <a:rPr lang="en-US" sz="1300" b="1" dirty="0">
                <a:solidFill>
                  <a:srgbClr val="E8A33D"/>
                </a:solidFill>
                <a:latin typeface="Arial" pitchFamily="34" charset="0"/>
                <a:ea typeface="Arial" pitchFamily="34" charset="-122"/>
                <a:cs typeface="Arial" pitchFamily="34" charset="-120"/>
              </a:rPr>
              <a:t>Rehearsal, non-negotiable</a:t>
            </a:r>
            <a:endParaRPr lang="en-US" sz="1300" dirty="0"/>
          </a:p>
          <a:p>
            <a:pPr marL="342900" indent="-342900">
              <a:lnSpc>
                <a:spcPct val="106000"/>
              </a:lnSpc>
              <a:spcAft>
                <a:spcPts val="400"/>
              </a:spcAft>
              <a:buSzPct val="100000"/>
              <a:buChar char="•"/>
            </a:pPr>
            <a:r>
              <a:rPr lang="en-US" sz="1150" dirty="0">
                <a:solidFill>
                  <a:srgbClr val="E6E8EC"/>
                </a:solidFill>
                <a:latin typeface="Arial" pitchFamily="34" charset="0"/>
                <a:ea typeface="Arial" pitchFamily="34" charset="-122"/>
                <a:cs typeface="Arial" pitchFamily="34" charset="-120"/>
              </a:rPr>
              <a:t>Two full run-throughs with the timer, out loud.</a:t>
            </a:r>
            <a:endParaRPr lang="en-US" sz="1300" dirty="0"/>
          </a:p>
          <a:p>
            <a:pPr marL="342900" indent="-342900">
              <a:lnSpc>
                <a:spcPct val="106000"/>
              </a:lnSpc>
              <a:spcAft>
                <a:spcPts val="400"/>
              </a:spcAft>
              <a:buSzPct val="100000"/>
              <a:buChar char="•"/>
            </a:pPr>
            <a:r>
              <a:rPr lang="en-US" sz="1150" dirty="0">
                <a:solidFill>
                  <a:srgbClr val="E6E8EC"/>
                </a:solidFill>
                <a:latin typeface="Arial" pitchFamily="34" charset="0"/>
                <a:ea typeface="Arial" pitchFamily="34" charset="-122"/>
                <a:cs typeface="Arial" pitchFamily="34" charset="-120"/>
              </a:rPr>
              <a:t>One where someone deliberately breaks the demo.</a:t>
            </a:r>
            <a:endParaRPr lang="en-US" sz="1300" dirty="0"/>
          </a:p>
          <a:p>
            <a:pPr marL="342900" indent="-342900">
              <a:lnSpc>
                <a:spcPct val="106000"/>
              </a:lnSpc>
              <a:spcAft>
                <a:spcPts val="400"/>
              </a:spcAft>
              <a:buSzPct val="100000"/>
              <a:buChar char="•"/>
            </a:pPr>
            <a:r>
              <a:rPr lang="en-US" sz="1150" dirty="0">
                <a:solidFill>
                  <a:srgbClr val="E6E8EC"/>
                </a:solidFill>
                <a:latin typeface="Arial" pitchFamily="34" charset="0"/>
                <a:ea typeface="Arial" pitchFamily="34" charset="-122"/>
                <a:cs typeface="Arial" pitchFamily="34" charset="-120"/>
              </a:rPr>
              <a:t>One Q&amp;A round where nobody is allowed to say “um, so basically”.</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ellipse">
            <a:avLst/>
          </a:prstGeom>
          <a:solidFill>
            <a:srgbClr val="E8A33D"/>
          </a:solidFill>
          <a:ln/>
        </p:spPr>
      </p:sp>
      <p:sp>
        <p:nvSpPr>
          <p:cNvPr id="3" name="Text 1"/>
          <p:cNvSpPr txBox="1"/>
          <p:nvPr/>
        </p:nvSpPr>
        <p:spPr>
          <a:xfrm>
            <a:off x="502920" y="384048"/>
            <a:ext cx="420624" cy="420624"/>
          </a:xfrm>
          <a:prstGeom prst="rect">
            <a:avLst/>
          </a:prstGeom>
          <a:noFill/>
          <a:ln/>
        </p:spPr>
        <p:txBody>
          <a:bodyPr wrap="square" lIns="0" tIns="0" rIns="0" bIns="0" rtlCol="0" anchor="ctr"/>
          <a:lstStyle/>
          <a:p>
            <a:pPr algn="ctr" indent="0" marL="0">
              <a:buNone/>
            </a:pPr>
            <a:r>
              <a:rPr lang="en-US" sz="1500" b="1" dirty="0">
                <a:solidFill>
                  <a:srgbClr val="12151B"/>
                </a:solidFill>
                <a:latin typeface="Arial" pitchFamily="34" charset="0"/>
                <a:ea typeface="Arial" pitchFamily="34" charset="-122"/>
                <a:cs typeface="Arial" pitchFamily="34" charset="-120"/>
              </a:rPr>
              <a:t>21</a:t>
            </a:r>
            <a:endParaRPr lang="en-US" sz="1500" dirty="0"/>
          </a:p>
        </p:txBody>
      </p:sp>
      <p:sp>
        <p:nvSpPr>
          <p:cNvPr id="4" name="Text 2"/>
          <p:cNvSpPr txBox="1"/>
          <p:nvPr/>
        </p:nvSpPr>
        <p:spPr>
          <a:xfrm>
            <a:off x="1069848" y="347472"/>
            <a:ext cx="10616184" cy="502920"/>
          </a:xfrm>
          <a:prstGeom prst="rect">
            <a:avLst/>
          </a:prstGeom>
          <a:noFill/>
          <a:ln/>
        </p:spPr>
        <p:txBody>
          <a:bodyPr wrap="square" lIns="0" tIns="0" rIns="0" bIns="0" rtlCol="0" anchor="ctr"/>
          <a:lstStyle/>
          <a:p>
            <a:pPr indent="0" marL="0">
              <a:buNone/>
            </a:pPr>
            <a:r>
              <a:rPr lang="en-US" sz="2700" b="1" dirty="0">
                <a:solidFill>
                  <a:srgbClr val="1A1D23"/>
                </a:solidFill>
                <a:latin typeface="Arial" pitchFamily="34" charset="0"/>
                <a:ea typeface="Arial" pitchFamily="34" charset="-122"/>
                <a:cs typeface="Arial" pitchFamily="34" charset="-120"/>
              </a:rPr>
              <a:t>Glossary — so nobody freezes mid-sentence</a:t>
            </a:r>
            <a:endParaRPr lang="en-US" sz="2700" dirty="0"/>
          </a:p>
        </p:txBody>
      </p:sp>
      <p:sp>
        <p:nvSpPr>
          <p:cNvPr id="5" name="Text 3"/>
          <p:cNvSpPr txBox="1"/>
          <p:nvPr/>
        </p:nvSpPr>
        <p:spPr>
          <a:xfrm>
            <a:off x="502920" y="1234440"/>
            <a:ext cx="5440680" cy="694944"/>
          </a:xfrm>
          <a:prstGeom prst="rect">
            <a:avLst/>
          </a:prstGeom>
          <a:noFill/>
          <a:ln/>
        </p:spPr>
        <p:txBody>
          <a:bodyPr wrap="square" lIns="0" tIns="0" rIns="0" bIns="0" rtlCol="0" anchor="t"/>
          <a:lstStyle/>
          <a:p>
            <a:pPr indent="0" marL="0">
              <a:lnSpc>
                <a:spcPct val="103000"/>
              </a:lnSpc>
              <a:buNone/>
            </a:pPr>
            <a:r>
              <a:rPr lang="en-US" sz="1150" b="1" dirty="0">
                <a:solidFill>
                  <a:srgbClr val="12151B"/>
                </a:solidFill>
                <a:latin typeface="Arial" pitchFamily="34" charset="0"/>
                <a:ea typeface="Arial" pitchFamily="34" charset="-122"/>
                <a:cs typeface="Arial" pitchFamily="34" charset="-120"/>
              </a:rPr>
              <a:t>Frenet frame  </a:t>
            </a:r>
            <a:pPr indent="0" marL="0">
              <a:lnSpc>
                <a:spcPct val="103000"/>
              </a:lnSpc>
              <a:buNone/>
            </a:pPr>
            <a:r>
              <a:rPr lang="en-US" sz="1100" dirty="0">
                <a:solidFill>
                  <a:srgbClr val="1A1D23"/>
                </a:solidFill>
                <a:latin typeface="Arial" pitchFamily="34" charset="0"/>
                <a:ea typeface="Arial" pitchFamily="34" charset="-122"/>
                <a:cs typeface="Arial" pitchFamily="34" charset="-120"/>
              </a:rPr>
              <a:t>Coordinates along a reference line: s is distance along, d is offset sideways.</a:t>
            </a:r>
            <a:endParaRPr lang="en-US" sz="1150" dirty="0"/>
          </a:p>
        </p:txBody>
      </p:sp>
      <p:sp>
        <p:nvSpPr>
          <p:cNvPr id="6" name="Text 4"/>
          <p:cNvSpPr txBox="1"/>
          <p:nvPr/>
        </p:nvSpPr>
        <p:spPr>
          <a:xfrm>
            <a:off x="6263640" y="1234440"/>
            <a:ext cx="5440680" cy="694944"/>
          </a:xfrm>
          <a:prstGeom prst="rect">
            <a:avLst/>
          </a:prstGeom>
          <a:noFill/>
          <a:ln/>
        </p:spPr>
        <p:txBody>
          <a:bodyPr wrap="square" lIns="0" tIns="0" rIns="0" bIns="0" rtlCol="0" anchor="t"/>
          <a:lstStyle/>
          <a:p>
            <a:pPr indent="0" marL="0">
              <a:lnSpc>
                <a:spcPct val="103000"/>
              </a:lnSpc>
              <a:buNone/>
            </a:pPr>
            <a:r>
              <a:rPr lang="en-US" sz="1150" b="1" dirty="0">
                <a:solidFill>
                  <a:srgbClr val="12151B"/>
                </a:solidFill>
                <a:latin typeface="Arial" pitchFamily="34" charset="0"/>
                <a:ea typeface="Arial" pitchFamily="34" charset="-122"/>
                <a:cs typeface="Arial" pitchFamily="34" charset="-120"/>
              </a:rPr>
              <a:t>Jerk-minimal  </a:t>
            </a:r>
            <a:pPr indent="0" marL="0">
              <a:lnSpc>
                <a:spcPct val="103000"/>
              </a:lnSpc>
              <a:buNone/>
            </a:pPr>
            <a:r>
              <a:rPr lang="en-US" sz="1100" dirty="0">
                <a:solidFill>
                  <a:srgbClr val="1A1D23"/>
                </a:solidFill>
                <a:latin typeface="Arial" pitchFamily="34" charset="0"/>
                <a:ea typeface="Arial" pitchFamily="34" charset="-122"/>
                <a:cs typeface="Arial" pitchFamily="34" charset="-120"/>
              </a:rPr>
              <a:t>The polynomial that gets from one state to another with the least rate-of-change of acceleration. Comfort, mathematically.</a:t>
            </a:r>
            <a:endParaRPr lang="en-US" sz="1150" dirty="0"/>
          </a:p>
        </p:txBody>
      </p:sp>
      <p:sp>
        <p:nvSpPr>
          <p:cNvPr id="7" name="Text 5"/>
          <p:cNvSpPr txBox="1"/>
          <p:nvPr/>
        </p:nvSpPr>
        <p:spPr>
          <a:xfrm>
            <a:off x="502920" y="1956816"/>
            <a:ext cx="5440680" cy="694944"/>
          </a:xfrm>
          <a:prstGeom prst="rect">
            <a:avLst/>
          </a:prstGeom>
          <a:noFill/>
          <a:ln/>
        </p:spPr>
        <p:txBody>
          <a:bodyPr wrap="square" lIns="0" tIns="0" rIns="0" bIns="0" rtlCol="0" anchor="t"/>
          <a:lstStyle/>
          <a:p>
            <a:pPr indent="0" marL="0">
              <a:lnSpc>
                <a:spcPct val="103000"/>
              </a:lnSpc>
              <a:buNone/>
            </a:pPr>
            <a:r>
              <a:rPr lang="en-US" sz="1150" b="1" dirty="0">
                <a:solidFill>
                  <a:srgbClr val="12151B"/>
                </a:solidFill>
                <a:latin typeface="Arial" pitchFamily="34" charset="0"/>
                <a:ea typeface="Arial" pitchFamily="34" charset="-122"/>
                <a:cs typeface="Arial" pitchFamily="34" charset="-120"/>
              </a:rPr>
              <a:t>Lattice  </a:t>
            </a:r>
            <a:pPr indent="0" marL="0">
              <a:lnSpc>
                <a:spcPct val="103000"/>
              </a:lnSpc>
              <a:buNone/>
            </a:pPr>
            <a:r>
              <a:rPr lang="en-US" sz="1100" dirty="0">
                <a:solidFill>
                  <a:srgbClr val="1A1D23"/>
                </a:solidFill>
                <a:latin typeface="Arial" pitchFamily="34" charset="0"/>
                <a:ea typeface="Arial" pitchFamily="34" charset="-122"/>
                <a:cs typeface="Arial" pitchFamily="34" charset="-120"/>
              </a:rPr>
              <a:t>The fan of candidate trajectories we generate and score each tick.</a:t>
            </a:r>
            <a:endParaRPr lang="en-US" sz="1150" dirty="0"/>
          </a:p>
        </p:txBody>
      </p:sp>
      <p:sp>
        <p:nvSpPr>
          <p:cNvPr id="8" name="Text 6"/>
          <p:cNvSpPr txBox="1"/>
          <p:nvPr/>
        </p:nvSpPr>
        <p:spPr>
          <a:xfrm>
            <a:off x="6263640" y="1956816"/>
            <a:ext cx="5440680" cy="694944"/>
          </a:xfrm>
          <a:prstGeom prst="rect">
            <a:avLst/>
          </a:prstGeom>
          <a:noFill/>
          <a:ln/>
        </p:spPr>
        <p:txBody>
          <a:bodyPr wrap="square" lIns="0" tIns="0" rIns="0" bIns="0" rtlCol="0" anchor="t"/>
          <a:lstStyle/>
          <a:p>
            <a:pPr indent="0" marL="0">
              <a:lnSpc>
                <a:spcPct val="103000"/>
              </a:lnSpc>
              <a:buNone/>
            </a:pPr>
            <a:r>
              <a:rPr lang="en-US" sz="1150" b="1" dirty="0">
                <a:solidFill>
                  <a:srgbClr val="12151B"/>
                </a:solidFill>
                <a:latin typeface="Arial" pitchFamily="34" charset="0"/>
                <a:ea typeface="Arial" pitchFamily="34" charset="-122"/>
                <a:cs typeface="Arial" pitchFamily="34" charset="-120"/>
              </a:rPr>
              <a:t>Corridor  </a:t>
            </a:r>
            <a:pPr indent="0" marL="0">
              <a:lnSpc>
                <a:spcPct val="103000"/>
              </a:lnSpc>
              <a:buNone/>
            </a:pPr>
            <a:r>
              <a:rPr lang="en-US" sz="1100" dirty="0">
                <a:solidFill>
                  <a:srgbClr val="1A1D23"/>
                </a:solidFill>
                <a:latin typeface="Arial" pitchFamily="34" charset="0"/>
                <a:ea typeface="Arial" pitchFamily="34" charset="-122"/>
                <a:cs typeface="Arial" pitchFamily="34" charset="-120"/>
              </a:rPr>
              <a:t>The ribbon of drivable free space our dynamic program finds. Our replacement for the lane.</a:t>
            </a:r>
            <a:endParaRPr lang="en-US" sz="1150" dirty="0"/>
          </a:p>
        </p:txBody>
      </p:sp>
      <p:sp>
        <p:nvSpPr>
          <p:cNvPr id="9" name="Text 7"/>
          <p:cNvSpPr txBox="1"/>
          <p:nvPr/>
        </p:nvSpPr>
        <p:spPr>
          <a:xfrm>
            <a:off x="502920" y="2679192"/>
            <a:ext cx="5440680" cy="694944"/>
          </a:xfrm>
          <a:prstGeom prst="rect">
            <a:avLst/>
          </a:prstGeom>
          <a:noFill/>
          <a:ln/>
        </p:spPr>
        <p:txBody>
          <a:bodyPr wrap="square" lIns="0" tIns="0" rIns="0" bIns="0" rtlCol="0" anchor="t"/>
          <a:lstStyle/>
          <a:p>
            <a:pPr indent="0" marL="0">
              <a:lnSpc>
                <a:spcPct val="103000"/>
              </a:lnSpc>
              <a:buNone/>
            </a:pPr>
            <a:r>
              <a:rPr lang="en-US" sz="1150" b="1" dirty="0">
                <a:solidFill>
                  <a:srgbClr val="12151B"/>
                </a:solidFill>
                <a:latin typeface="Arial" pitchFamily="34" charset="0"/>
                <a:ea typeface="Arial" pitchFamily="34" charset="-122"/>
                <a:cs typeface="Arial" pitchFamily="34" charset="-120"/>
              </a:rPr>
              <a:t>Risk field  </a:t>
            </a:r>
            <a:pPr indent="0" marL="0">
              <a:lnSpc>
                <a:spcPct val="103000"/>
              </a:lnSpc>
              <a:buNone/>
            </a:pPr>
            <a:r>
              <a:rPr lang="en-US" sz="1100" dirty="0">
                <a:solidFill>
                  <a:srgbClr val="1A1D23"/>
                </a:solidFill>
                <a:latin typeface="Arial" pitchFamily="34" charset="0"/>
                <a:ea typeface="Arial" pitchFamily="34" charset="-122"/>
                <a:cs typeface="Arial" pitchFamily="34" charset="-120"/>
              </a:rPr>
              <a:t>Continuous cost over space and time; class-conditioned and harm-weighted.</a:t>
            </a:r>
            <a:endParaRPr lang="en-US" sz="1150" dirty="0"/>
          </a:p>
        </p:txBody>
      </p:sp>
      <p:sp>
        <p:nvSpPr>
          <p:cNvPr id="10" name="Text 8"/>
          <p:cNvSpPr txBox="1"/>
          <p:nvPr/>
        </p:nvSpPr>
        <p:spPr>
          <a:xfrm>
            <a:off x="6263640" y="2679192"/>
            <a:ext cx="5440680" cy="694944"/>
          </a:xfrm>
          <a:prstGeom prst="rect">
            <a:avLst/>
          </a:prstGeom>
          <a:noFill/>
          <a:ln/>
        </p:spPr>
        <p:txBody>
          <a:bodyPr wrap="square" lIns="0" tIns="0" rIns="0" bIns="0" rtlCol="0" anchor="t"/>
          <a:lstStyle/>
          <a:p>
            <a:pPr indent="0" marL="0">
              <a:lnSpc>
                <a:spcPct val="103000"/>
              </a:lnSpc>
              <a:buNone/>
            </a:pPr>
            <a:r>
              <a:rPr lang="en-US" sz="1150" b="1" dirty="0">
                <a:solidFill>
                  <a:srgbClr val="12151B"/>
                </a:solidFill>
                <a:latin typeface="Arial" pitchFamily="34" charset="0"/>
                <a:ea typeface="Arial" pitchFamily="34" charset="-122"/>
                <a:cs typeface="Arial" pitchFamily="34" charset="-120"/>
              </a:rPr>
              <a:t>Anisotropic kernel  </a:t>
            </a:r>
            <a:pPr indent="0" marL="0">
              <a:lnSpc>
                <a:spcPct val="103000"/>
              </a:lnSpc>
              <a:buNone/>
            </a:pPr>
            <a:r>
              <a:rPr lang="en-US" sz="1100" dirty="0">
                <a:solidFill>
                  <a:srgbClr val="1A1D23"/>
                </a:solidFill>
                <a:latin typeface="Arial" pitchFamily="34" charset="0"/>
                <a:ea typeface="Arial" pitchFamily="34" charset="-122"/>
                <a:cs typeface="Arial" pitchFamily="34" charset="-120"/>
              </a:rPr>
              <a:t>A risk blob that is not a circle — longer along the direction of travel than across it.</a:t>
            </a:r>
            <a:endParaRPr lang="en-US" sz="1150" dirty="0"/>
          </a:p>
        </p:txBody>
      </p:sp>
      <p:sp>
        <p:nvSpPr>
          <p:cNvPr id="11" name="Text 9"/>
          <p:cNvSpPr txBox="1"/>
          <p:nvPr/>
        </p:nvSpPr>
        <p:spPr>
          <a:xfrm>
            <a:off x="502920" y="3401568"/>
            <a:ext cx="5440680" cy="694944"/>
          </a:xfrm>
          <a:prstGeom prst="rect">
            <a:avLst/>
          </a:prstGeom>
          <a:noFill/>
          <a:ln/>
        </p:spPr>
        <p:txBody>
          <a:bodyPr wrap="square" lIns="0" tIns="0" rIns="0" bIns="0" rtlCol="0" anchor="t"/>
          <a:lstStyle/>
          <a:p>
            <a:pPr indent="0" marL="0">
              <a:lnSpc>
                <a:spcPct val="103000"/>
              </a:lnSpc>
              <a:buNone/>
            </a:pPr>
            <a:r>
              <a:rPr lang="en-US" sz="1150" b="1" dirty="0">
                <a:solidFill>
                  <a:srgbClr val="12151B"/>
                </a:solidFill>
                <a:latin typeface="Arial" pitchFamily="34" charset="0"/>
                <a:ea typeface="Arial" pitchFamily="34" charset="-122"/>
                <a:cs typeface="Arial" pitchFamily="34" charset="-120"/>
              </a:rPr>
              <a:t>RSS  </a:t>
            </a:r>
            <a:pPr indent="0" marL="0">
              <a:lnSpc>
                <a:spcPct val="103000"/>
              </a:lnSpc>
              <a:buNone/>
            </a:pPr>
            <a:r>
              <a:rPr lang="en-US" sz="1100" dirty="0">
                <a:solidFill>
                  <a:srgbClr val="1A1D23"/>
                </a:solidFill>
                <a:latin typeface="Arial" pitchFamily="34" charset="0"/>
                <a:ea typeface="Arial" pitchFamily="34" charset="-122"/>
                <a:cs typeface="Arial" pitchFamily="34" charset="-120"/>
              </a:rPr>
              <a:t>Responsibility-Sensitive Safety: a formal minimum-gap condition. We invert it to a safe speed.</a:t>
            </a:r>
            <a:endParaRPr lang="en-US" sz="1150" dirty="0"/>
          </a:p>
        </p:txBody>
      </p:sp>
      <p:sp>
        <p:nvSpPr>
          <p:cNvPr id="12" name="Text 10"/>
          <p:cNvSpPr txBox="1"/>
          <p:nvPr/>
        </p:nvSpPr>
        <p:spPr>
          <a:xfrm>
            <a:off x="6263640" y="3401568"/>
            <a:ext cx="5440680" cy="694944"/>
          </a:xfrm>
          <a:prstGeom prst="rect">
            <a:avLst/>
          </a:prstGeom>
          <a:noFill/>
          <a:ln/>
        </p:spPr>
        <p:txBody>
          <a:bodyPr wrap="square" lIns="0" tIns="0" rIns="0" bIns="0" rtlCol="0" anchor="t"/>
          <a:lstStyle/>
          <a:p>
            <a:pPr indent="0" marL="0">
              <a:lnSpc>
                <a:spcPct val="103000"/>
              </a:lnSpc>
              <a:buNone/>
            </a:pPr>
            <a:r>
              <a:rPr lang="en-US" sz="1150" b="1" dirty="0">
                <a:solidFill>
                  <a:srgbClr val="12151B"/>
                </a:solidFill>
                <a:latin typeface="Arial" pitchFamily="34" charset="0"/>
                <a:ea typeface="Arial" pitchFamily="34" charset="-122"/>
                <a:cs typeface="Arial" pitchFamily="34" charset="-120"/>
              </a:rPr>
              <a:t>CBF  </a:t>
            </a:r>
            <a:pPr indent="0" marL="0">
              <a:lnSpc>
                <a:spcPct val="103000"/>
              </a:lnSpc>
              <a:buNone/>
            </a:pPr>
            <a:r>
              <a:rPr lang="en-US" sz="1100" dirty="0">
                <a:solidFill>
                  <a:srgbClr val="1A1D23"/>
                </a:solidFill>
                <a:latin typeface="Arial" pitchFamily="34" charset="0"/>
                <a:ea typeface="Arial" pitchFamily="34" charset="-122"/>
                <a:cs typeface="Arial" pitchFamily="34" charset="-120"/>
              </a:rPr>
              <a:t>Control barrier function: a filter that guarantees we stay inside a safe set.</a:t>
            </a:r>
            <a:endParaRPr lang="en-US" sz="1150" dirty="0"/>
          </a:p>
        </p:txBody>
      </p:sp>
      <p:sp>
        <p:nvSpPr>
          <p:cNvPr id="13" name="Text 11"/>
          <p:cNvSpPr txBox="1"/>
          <p:nvPr/>
        </p:nvSpPr>
        <p:spPr>
          <a:xfrm>
            <a:off x="502920" y="4123944"/>
            <a:ext cx="5440680" cy="694944"/>
          </a:xfrm>
          <a:prstGeom prst="rect">
            <a:avLst/>
          </a:prstGeom>
          <a:noFill/>
          <a:ln/>
        </p:spPr>
        <p:txBody>
          <a:bodyPr wrap="square" lIns="0" tIns="0" rIns="0" bIns="0" rtlCol="0" anchor="t"/>
          <a:lstStyle/>
          <a:p>
            <a:pPr indent="0" marL="0">
              <a:lnSpc>
                <a:spcPct val="103000"/>
              </a:lnSpc>
              <a:buNone/>
            </a:pPr>
            <a:r>
              <a:rPr lang="en-US" sz="1150" b="1" dirty="0">
                <a:solidFill>
                  <a:srgbClr val="12151B"/>
                </a:solidFill>
                <a:latin typeface="Arial" pitchFamily="34" charset="0"/>
                <a:ea typeface="Arial" pitchFamily="34" charset="-122"/>
                <a:cs typeface="Arial" pitchFamily="34" charset="-120"/>
              </a:rPr>
              <a:t>NLB-IDM  </a:t>
            </a:r>
            <a:pPr indent="0" marL="0">
              <a:lnSpc>
                <a:spcPct val="103000"/>
              </a:lnSpc>
              <a:buNone/>
            </a:pPr>
            <a:r>
              <a:rPr lang="en-US" sz="1100" dirty="0">
                <a:solidFill>
                  <a:srgbClr val="1A1D23"/>
                </a:solidFill>
                <a:latin typeface="Arial" pitchFamily="34" charset="0"/>
                <a:ea typeface="Arial" pitchFamily="34" charset="-122"/>
                <a:cs typeface="Arial" pitchFamily="34" charset="-120"/>
              </a:rPr>
              <a:t>Non-lane-based intelligent driver model — car following without lanes.</a:t>
            </a:r>
            <a:endParaRPr lang="en-US" sz="1150" dirty="0"/>
          </a:p>
        </p:txBody>
      </p:sp>
      <p:sp>
        <p:nvSpPr>
          <p:cNvPr id="14" name="Text 12"/>
          <p:cNvSpPr txBox="1"/>
          <p:nvPr/>
        </p:nvSpPr>
        <p:spPr>
          <a:xfrm>
            <a:off x="6263640" y="4123944"/>
            <a:ext cx="5440680" cy="694944"/>
          </a:xfrm>
          <a:prstGeom prst="rect">
            <a:avLst/>
          </a:prstGeom>
          <a:noFill/>
          <a:ln/>
        </p:spPr>
        <p:txBody>
          <a:bodyPr wrap="square" lIns="0" tIns="0" rIns="0" bIns="0" rtlCol="0" anchor="t"/>
          <a:lstStyle/>
          <a:p>
            <a:pPr indent="0" marL="0">
              <a:lnSpc>
                <a:spcPct val="103000"/>
              </a:lnSpc>
              <a:buNone/>
            </a:pPr>
            <a:r>
              <a:rPr lang="en-US" sz="1150" b="1" dirty="0">
                <a:solidFill>
                  <a:srgbClr val="12151B"/>
                </a:solidFill>
                <a:latin typeface="Arial" pitchFamily="34" charset="0"/>
                <a:ea typeface="Arial" pitchFamily="34" charset="-122"/>
                <a:cs typeface="Arial" pitchFamily="34" charset="-120"/>
              </a:rPr>
              <a:t>Ablation  </a:t>
            </a:r>
            <a:pPr indent="0" marL="0">
              <a:lnSpc>
                <a:spcPct val="103000"/>
              </a:lnSpc>
              <a:buNone/>
            </a:pPr>
            <a:r>
              <a:rPr lang="en-US" sz="1100" dirty="0">
                <a:solidFill>
                  <a:srgbClr val="1A1D23"/>
                </a:solidFill>
                <a:latin typeface="Arial" pitchFamily="34" charset="0"/>
                <a:ea typeface="Arial" pitchFamily="34" charset="-122"/>
                <a:cs typeface="Arial" pitchFamily="34" charset="-120"/>
              </a:rPr>
              <a:t>Switching a component off to show what it was contributing.</a:t>
            </a:r>
            <a:endParaRPr lang="en-US" sz="1150" dirty="0"/>
          </a:p>
        </p:txBody>
      </p:sp>
      <p:sp>
        <p:nvSpPr>
          <p:cNvPr id="15" name="Text 13"/>
          <p:cNvSpPr txBox="1"/>
          <p:nvPr/>
        </p:nvSpPr>
        <p:spPr>
          <a:xfrm>
            <a:off x="502920" y="4846320"/>
            <a:ext cx="5440680" cy="694944"/>
          </a:xfrm>
          <a:prstGeom prst="rect">
            <a:avLst/>
          </a:prstGeom>
          <a:noFill/>
          <a:ln/>
        </p:spPr>
        <p:txBody>
          <a:bodyPr wrap="square" lIns="0" tIns="0" rIns="0" bIns="0" rtlCol="0" anchor="t"/>
          <a:lstStyle/>
          <a:p>
            <a:pPr indent="0" marL="0">
              <a:lnSpc>
                <a:spcPct val="103000"/>
              </a:lnSpc>
              <a:buNone/>
            </a:pPr>
            <a:r>
              <a:rPr lang="en-US" sz="1150" b="1" dirty="0">
                <a:solidFill>
                  <a:srgbClr val="12151B"/>
                </a:solidFill>
                <a:latin typeface="Arial" pitchFamily="34" charset="0"/>
                <a:ea typeface="Arial" pitchFamily="34" charset="-122"/>
                <a:cs typeface="Arial" pitchFamily="34" charset="-120"/>
              </a:rPr>
              <a:t>TTC  </a:t>
            </a:r>
            <a:pPr indent="0" marL="0">
              <a:lnSpc>
                <a:spcPct val="103000"/>
              </a:lnSpc>
              <a:buNone/>
            </a:pPr>
            <a:r>
              <a:rPr lang="en-US" sz="1100" dirty="0">
                <a:solidFill>
                  <a:srgbClr val="1A1D23"/>
                </a:solidFill>
                <a:latin typeface="Arial" pitchFamily="34" charset="0"/>
                <a:ea typeface="Arial" pitchFamily="34" charset="-122"/>
                <a:cs typeface="Arial" pitchFamily="34" charset="-120"/>
              </a:rPr>
              <a:t>Time to collision, on current relative motion.</a:t>
            </a:r>
            <a:endParaRPr lang="en-US" sz="1150" dirty="0"/>
          </a:p>
        </p:txBody>
      </p:sp>
      <p:sp>
        <p:nvSpPr>
          <p:cNvPr id="16" name="Text 14"/>
          <p:cNvSpPr txBox="1"/>
          <p:nvPr/>
        </p:nvSpPr>
        <p:spPr>
          <a:xfrm>
            <a:off x="6263640" y="4846320"/>
            <a:ext cx="5440680" cy="694944"/>
          </a:xfrm>
          <a:prstGeom prst="rect">
            <a:avLst/>
          </a:prstGeom>
          <a:noFill/>
          <a:ln/>
        </p:spPr>
        <p:txBody>
          <a:bodyPr wrap="square" lIns="0" tIns="0" rIns="0" bIns="0" rtlCol="0" anchor="t"/>
          <a:lstStyle/>
          <a:p>
            <a:pPr indent="0" marL="0">
              <a:lnSpc>
                <a:spcPct val="103000"/>
              </a:lnSpc>
              <a:buNone/>
            </a:pPr>
            <a:r>
              <a:rPr lang="en-US" sz="1150" b="1" dirty="0">
                <a:solidFill>
                  <a:srgbClr val="12151B"/>
                </a:solidFill>
                <a:latin typeface="Arial" pitchFamily="34" charset="0"/>
                <a:ea typeface="Arial" pitchFamily="34" charset="-122"/>
                <a:cs typeface="Arial" pitchFamily="34" charset="-120"/>
              </a:rPr>
              <a:t>Chaos  </a:t>
            </a:r>
            <a:pPr indent="0" marL="0">
              <a:lnSpc>
                <a:spcPct val="103000"/>
              </a:lnSpc>
              <a:buNone/>
            </a:pPr>
            <a:r>
              <a:rPr lang="en-US" sz="1100" dirty="0">
                <a:solidFill>
                  <a:srgbClr val="1A1D23"/>
                </a:solidFill>
                <a:latin typeface="Arial" pitchFamily="34" charset="0"/>
                <a:ea typeface="Arial" pitchFamily="34" charset="-122"/>
                <a:cs typeface="Arial" pitchFamily="34" charset="-120"/>
              </a:rPr>
              <a:t>Our scenario dial: how aggressive and disorderly the surrounding traffic is.</a:t>
            </a:r>
            <a:endParaRPr lang="en-US" sz="1150" dirty="0"/>
          </a:p>
        </p:txBody>
      </p:sp>
      <p:sp>
        <p:nvSpPr>
          <p:cNvPr id="17" name="Text 15"/>
          <p:cNvSpPr txBox="1"/>
          <p:nvPr/>
        </p:nvSpPr>
        <p:spPr>
          <a:xfrm>
            <a:off x="502920" y="5568696"/>
            <a:ext cx="5440680" cy="694944"/>
          </a:xfrm>
          <a:prstGeom prst="rect">
            <a:avLst/>
          </a:prstGeom>
          <a:noFill/>
          <a:ln/>
        </p:spPr>
        <p:txBody>
          <a:bodyPr wrap="square" lIns="0" tIns="0" rIns="0" bIns="0" rtlCol="0" anchor="t"/>
          <a:lstStyle/>
          <a:p>
            <a:pPr indent="0" marL="0">
              <a:lnSpc>
                <a:spcPct val="103000"/>
              </a:lnSpc>
              <a:buNone/>
            </a:pPr>
            <a:r>
              <a:rPr lang="en-US" sz="1150" b="1" dirty="0">
                <a:solidFill>
                  <a:srgbClr val="12151B"/>
                </a:solidFill>
                <a:latin typeface="Arial" pitchFamily="34" charset="0"/>
                <a:ea typeface="Arial" pitchFamily="34" charset="-122"/>
                <a:cs typeface="Arial" pitchFamily="34" charset="-120"/>
              </a:rPr>
              <a:t>Log-odds  </a:t>
            </a:r>
            <a:pPr indent="0" marL="0">
              <a:lnSpc>
                <a:spcPct val="103000"/>
              </a:lnSpc>
              <a:buNone/>
            </a:pPr>
            <a:r>
              <a:rPr lang="en-US" sz="1100" dirty="0">
                <a:solidFill>
                  <a:srgbClr val="1A1D23"/>
                </a:solidFill>
                <a:latin typeface="Arial" pitchFamily="34" charset="0"/>
                <a:ea typeface="Arial" pitchFamily="34" charset="-122"/>
                <a:cs typeface="Arial" pitchFamily="34" charset="-120"/>
              </a:rPr>
              <a:t>Adding evidence in log space, so two confident observations can disagree without averaging to nothing.</a:t>
            </a:r>
            <a:endParaRPr lang="en-US" sz="1150" dirty="0"/>
          </a:p>
        </p:txBody>
      </p:sp>
      <p:sp>
        <p:nvSpPr>
          <p:cNvPr id="18" name="Text 16"/>
          <p:cNvSpPr txBox="1"/>
          <p:nvPr/>
        </p:nvSpPr>
        <p:spPr>
          <a:xfrm>
            <a:off x="6263640" y="5568696"/>
            <a:ext cx="5440680" cy="694944"/>
          </a:xfrm>
          <a:prstGeom prst="rect">
            <a:avLst/>
          </a:prstGeom>
          <a:noFill/>
          <a:ln/>
        </p:spPr>
        <p:txBody>
          <a:bodyPr wrap="square" lIns="0" tIns="0" rIns="0" bIns="0" rtlCol="0" anchor="t"/>
          <a:lstStyle/>
          <a:p>
            <a:pPr indent="0" marL="0">
              <a:lnSpc>
                <a:spcPct val="103000"/>
              </a:lnSpc>
              <a:buNone/>
            </a:pPr>
            <a:r>
              <a:rPr lang="en-US" sz="1150" b="1" dirty="0">
                <a:solidFill>
                  <a:srgbClr val="12151B"/>
                </a:solidFill>
                <a:latin typeface="Arial" pitchFamily="34" charset="0"/>
                <a:ea typeface="Arial" pitchFamily="34" charset="-122"/>
                <a:cs typeface="Arial" pitchFamily="34" charset="-120"/>
              </a:rPr>
              <a:t>Configuration space  </a:t>
            </a:r>
            <a:pPr indent="0" marL="0">
              <a:lnSpc>
                <a:spcPct val="103000"/>
              </a:lnSpc>
              <a:buNone/>
            </a:pPr>
            <a:r>
              <a:rPr lang="en-US" sz="1100" dirty="0">
                <a:solidFill>
                  <a:srgbClr val="1A1D23"/>
                </a:solidFill>
                <a:latin typeface="Arial" pitchFamily="34" charset="0"/>
                <a:ea typeface="Arial" pitchFamily="34" charset="-122"/>
                <a:cs typeface="Arial" pitchFamily="34" charset="-120"/>
              </a:rPr>
              <a:t>The obstacle grown by our own footprint, so the vehicle can be planned for as a point.</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502920" y="2011680"/>
            <a:ext cx="10058400" cy="457200"/>
          </a:xfrm>
          <a:prstGeom prst="rect">
            <a:avLst/>
          </a:prstGeom>
          <a:noFill/>
          <a:ln/>
        </p:spPr>
        <p:txBody>
          <a:bodyPr wrap="square" lIns="0" tIns="0" rIns="0" bIns="0" rtlCol="0" anchor="ctr"/>
          <a:lstStyle/>
          <a:p>
            <a:pPr indent="0" marL="0">
              <a:buNone/>
            </a:pPr>
            <a:r>
              <a:rPr lang="en-US" sz="1500" spc="300" kern="0" dirty="0">
                <a:solidFill>
                  <a:srgbClr val="E8A33D"/>
                </a:solidFill>
                <a:latin typeface="Arial" pitchFamily="34" charset="0"/>
                <a:ea typeface="Arial" pitchFamily="34" charset="-122"/>
                <a:cs typeface="Arial" pitchFamily="34" charset="-120"/>
              </a:rPr>
              <a:t>The one thing to remember</a:t>
            </a:r>
            <a:endParaRPr lang="en-US" sz="1500" dirty="0"/>
          </a:p>
        </p:txBody>
      </p:sp>
      <p:sp>
        <p:nvSpPr>
          <p:cNvPr id="3" name="Text 1"/>
          <p:cNvSpPr txBox="1"/>
          <p:nvPr/>
        </p:nvSpPr>
        <p:spPr>
          <a:xfrm>
            <a:off x="502920" y="2606040"/>
            <a:ext cx="10515600" cy="1463040"/>
          </a:xfrm>
          <a:prstGeom prst="rect">
            <a:avLst/>
          </a:prstGeom>
          <a:noFill/>
          <a:ln/>
        </p:spPr>
        <p:txBody>
          <a:bodyPr wrap="square" lIns="0" tIns="0" rIns="0" bIns="0" rtlCol="0" anchor="ctr"/>
          <a:lstStyle/>
          <a:p>
            <a:pPr indent="0" marL="0">
              <a:lnSpc>
                <a:spcPct val="115000"/>
              </a:lnSpc>
              <a:buNone/>
            </a:pPr>
            <a:r>
              <a:rPr lang="en-US" sz="3200" b="1" dirty="0">
                <a:solidFill>
                  <a:srgbClr val="FFFFFF"/>
                </a:solidFill>
                <a:latin typeface="Arial" pitchFamily="34" charset="0"/>
                <a:ea typeface="Arial" pitchFamily="34" charset="-122"/>
                <a:cs typeface="Arial" pitchFamily="34" charset="-120"/>
              </a:rPr>
              <a:t>We are not showing a car that avoids obstacles.</a:t>
            </a:r>
            <a:endParaRPr lang="en-US" sz="3200" dirty="0"/>
          </a:p>
          <a:p>
            <a:pPr indent="0" marL="0">
              <a:lnSpc>
                <a:spcPct val="115000"/>
              </a:lnSpc>
              <a:buNone/>
            </a:pPr>
            <a:r>
              <a:rPr lang="en-US" sz="3200" b="1" dirty="0">
                <a:solidFill>
                  <a:srgbClr val="FFFFFF"/>
                </a:solidFill>
                <a:latin typeface="Arial" pitchFamily="34" charset="0"/>
                <a:ea typeface="Arial" pitchFamily="34" charset="-122"/>
                <a:cs typeface="Arial" pitchFamily="34" charset="-120"/>
              </a:rPr>
              <a:t>We are showing a planner that does not need a lane.</a:t>
            </a:r>
            <a:endParaRPr lang="en-US" sz="3200" dirty="0"/>
          </a:p>
        </p:txBody>
      </p:sp>
      <p:sp>
        <p:nvSpPr>
          <p:cNvPr id="4" name="Text 2"/>
          <p:cNvSpPr txBox="1"/>
          <p:nvPr/>
        </p:nvSpPr>
        <p:spPr>
          <a:xfrm>
            <a:off x="502920" y="4206240"/>
            <a:ext cx="8961120" cy="731520"/>
          </a:xfrm>
          <a:prstGeom prst="rect">
            <a:avLst/>
          </a:prstGeom>
          <a:noFill/>
          <a:ln/>
        </p:spPr>
        <p:txBody>
          <a:bodyPr wrap="square" lIns="0" tIns="0" rIns="0" bIns="0" rtlCol="0" anchor="ctr"/>
          <a:lstStyle/>
          <a:p>
            <a:pPr indent="0" marL="0">
              <a:lnSpc>
                <a:spcPct val="120000"/>
              </a:lnSpc>
              <a:buNone/>
            </a:pPr>
            <a:r>
              <a:rPr lang="en-US" sz="1300" dirty="0">
                <a:solidFill>
                  <a:srgbClr val="AEB4BF"/>
                </a:solidFill>
                <a:latin typeface="Arial" pitchFamily="34" charset="0"/>
                <a:ea typeface="Arial" pitchFamily="34" charset="-122"/>
                <a:cs typeface="Arial" pitchFamily="34" charset="-120"/>
              </a:rPr>
              <a:t>Everything else — the risk field, the eight behaviours, RSS, the scenarios — exists to make that one claim survive contact with a judge.</a:t>
            </a:r>
            <a:endParaRPr lang="en-US" sz="1300" dirty="0"/>
          </a:p>
        </p:txBody>
      </p:sp>
      <p:sp>
        <p:nvSpPr>
          <p:cNvPr id="5" name="Text 3"/>
          <p:cNvSpPr txBox="1"/>
          <p:nvPr/>
        </p:nvSpPr>
        <p:spPr>
          <a:xfrm>
            <a:off x="502920" y="5852160"/>
            <a:ext cx="10058400" cy="365760"/>
          </a:xfrm>
          <a:prstGeom prst="rect">
            <a:avLst/>
          </a:prstGeom>
          <a:noFill/>
          <a:ln/>
        </p:spPr>
        <p:txBody>
          <a:bodyPr wrap="square" lIns="0" tIns="0" rIns="0" bIns="0" rtlCol="0" anchor="ctr"/>
          <a:lstStyle/>
          <a:p>
            <a:pPr indent="0" marL="0">
              <a:buNone/>
            </a:pPr>
            <a:r>
              <a:rPr lang="en-US" sz="1200" dirty="0">
                <a:solidFill>
                  <a:srgbClr val="E8A33D"/>
                </a:solidFill>
                <a:latin typeface="Arial" pitchFamily="34" charset="0"/>
                <a:ea typeface="Arial" pitchFamily="34" charset="-122"/>
                <a:cs typeface="Arial" pitchFamily="34" charset="-120"/>
              </a:rPr>
              <a:t>github.com/Paragraph1148/automated-driving   ·   uv run sarathi serve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SARATHI internal briefing</dc:title>
  <dc:subject>PptxGenJS Presentation</dc:subject>
  <dc:creator>SARATHI team</dc:creator>
  <cp:lastModifiedBy>SARATHI team</cp:lastModifiedBy>
  <cp:revision>1</cp:revision>
  <dcterms:created xsi:type="dcterms:W3CDTF">2026-08-31T07:08:05Z</dcterms:created>
  <dcterms:modified xsi:type="dcterms:W3CDTF">2026-08-31T07:08:05Z</dcterms:modified>
</cp:coreProperties>
</file>